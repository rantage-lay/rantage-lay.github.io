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xlsx" ContentType="application/vnd.openxmlformats-officedocument.spreadsheetml.sheet"/>
  <Default Extension="xlsb" ContentType="application/vnd.ms-excel.sheet.binary.macroEnabled.12"/>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style1.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Override PartName="/ppt/webExtensions/webExtension1.xml" ContentType="application/vnd.wps-officedocument.webExtension+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85" r:id="rId4"/>
    <p:sldMasterId id="2147483710" r:id="rId5"/>
  </p:sldMasterIdLst>
  <p:notesMasterIdLst>
    <p:notesMasterId r:id="rId8"/>
  </p:notesMasterIdLst>
  <p:handoutMasterIdLst>
    <p:handoutMasterId r:id="rId12"/>
  </p:handoutMasterIdLst>
  <p:sldIdLst>
    <p:sldId id="16766609" r:id="rId6"/>
    <p:sldId id="16766613" r:id="rId7"/>
    <p:sldId id="16766611" r:id="rId9"/>
    <p:sldId id="16766608" r:id="rId10"/>
    <p:sldId id="16766604" r:id="rId11"/>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1"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29F627B-AA91-5A4A-426C-E55E3F44CD3F}" name="1312064195@qq.com" initials="" userId="9be50d010d68bc0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1EEE8"/>
    <a:srgbClr val="FDBE7A"/>
    <a:srgbClr val="F9DF82"/>
    <a:srgbClr val="FDE984"/>
    <a:srgbClr val="FDE489"/>
    <a:srgbClr val="F76E6E"/>
    <a:srgbClr val="FACF7F"/>
    <a:srgbClr val="D4DD82"/>
    <a:srgbClr val="94CC83"/>
    <a:srgbClr val="82C5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52" autoAdjust="0"/>
    <p:restoredTop sz="94680" autoAdjust="0"/>
  </p:normalViewPr>
  <p:slideViewPr>
    <p:cSldViewPr snapToGrid="0" showGuides="1">
      <p:cViewPr varScale="1">
        <p:scale>
          <a:sx n="110" d="100"/>
          <a:sy n="110" d="100"/>
        </p:scale>
        <p:origin x="92" y="228"/>
      </p:cViewPr>
      <p:guideLst>
        <p:guide orient="horz" pos="2081"/>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25" d="100"/>
        <a:sy n="125" d="100"/>
      </p:scale>
      <p:origin x="0" y="-2901"/>
    </p:cViewPr>
  </p:sorterViewPr>
  <p:notesViewPr>
    <p:cSldViewPr snapToGrid="0">
      <p:cViewPr varScale="1">
        <p:scale>
          <a:sx n="67" d="100"/>
          <a:sy n="67" d="100"/>
        </p:scale>
        <p:origin x="2829" y="27"/>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notesMaster" Target="notesMasters/notesMaster1.xml"/><Relationship Id="rId7" Type="http://schemas.openxmlformats.org/officeDocument/2006/relationships/slide" Target="slides/slide2.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gs" Target="tags/tag51.xml"/><Relationship Id="rId16" Type="http://schemas.microsoft.com/office/2018/10/relationships/authors" Target="authors.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handoutMaster" Target="handoutMasters/handoutMaster1.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E:\CFA&#22823;&#36187;\&#36182;&#20426;&#29066;-&#31532;&#19968;&#31456;-&#25968;&#25454;&#34920;.xlsx" TargetMode="External"/></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b"/></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'[赖俊熊-第一章-数据表.xlsx]Sheet1'!$A$4</c:f>
              <c:strCache>
                <c:ptCount val="1"/>
                <c:pt idx="0">
                  <c:v>新型储能装机功率（万千瓦）</c:v>
                </c:pt>
              </c:strCache>
            </c:strRef>
          </c:tx>
          <c:spPr>
            <a:solidFill>
              <a:srgbClr val="A2D69C"/>
            </a:solidFill>
            <a:ln w="25400">
              <a:noFill/>
            </a:ln>
            <a:effectLst/>
          </c:spPr>
          <c:invertIfNegative val="0"/>
          <c:dLbls>
            <c:delete val="1"/>
          </c:dLbls>
          <c:cat>
            <c:strRef>
              <c:f>'[赖俊熊-第一章-数据表.xlsx]Sheet1'!$B$3:$K$3</c:f>
              <c:strCache>
                <c:ptCount val="10"/>
                <c:pt idx="0">
                  <c:v>2021</c:v>
                </c:pt>
                <c:pt idx="1">
                  <c:v>2022</c:v>
                </c:pt>
                <c:pt idx="2">
                  <c:v>2023</c:v>
                </c:pt>
                <c:pt idx="3">
                  <c:v>2024</c:v>
                </c:pt>
                <c:pt idx="4">
                  <c:v>2025E</c:v>
                </c:pt>
                <c:pt idx="5">
                  <c:v>2026E</c:v>
                </c:pt>
                <c:pt idx="6">
                  <c:v>2027E</c:v>
                </c:pt>
                <c:pt idx="7">
                  <c:v>2028E</c:v>
                </c:pt>
                <c:pt idx="8">
                  <c:v>2029E</c:v>
                </c:pt>
                <c:pt idx="9">
                  <c:v>2030E</c:v>
                </c:pt>
              </c:strCache>
            </c:strRef>
          </c:cat>
          <c:val>
            <c:numRef>
              <c:f>'[赖俊熊-第一章-数据表.xlsx]Sheet1'!$B$4:$K$4</c:f>
              <c:numCache>
                <c:formatCode>General</c:formatCode>
                <c:ptCount val="10"/>
                <c:pt idx="0">
                  <c:v>400</c:v>
                </c:pt>
                <c:pt idx="1">
                  <c:v>870</c:v>
                </c:pt>
                <c:pt idx="2">
                  <c:v>3139</c:v>
                </c:pt>
                <c:pt idx="3">
                  <c:v>7376</c:v>
                </c:pt>
                <c:pt idx="4">
                  <c:v>8745.5</c:v>
                </c:pt>
                <c:pt idx="5">
                  <c:v>11065.2</c:v>
                </c:pt>
                <c:pt idx="6">
                  <c:v>13384.9</c:v>
                </c:pt>
                <c:pt idx="7">
                  <c:v>15704.6</c:v>
                </c:pt>
                <c:pt idx="8">
                  <c:v>18024.3</c:v>
                </c:pt>
                <c:pt idx="9">
                  <c:v>20344</c:v>
                </c:pt>
              </c:numCache>
            </c:numRef>
          </c:val>
        </c:ser>
        <c:ser>
          <c:idx val="1"/>
          <c:order val="1"/>
          <c:tx>
            <c:strRef>
              <c:f>'[赖俊熊-第一章-数据表.xlsx]Sheet1'!$A$5</c:f>
              <c:strCache>
                <c:ptCount val="1"/>
                <c:pt idx="0">
                  <c:v>新型储能装机规模（万千瓦时）</c:v>
                </c:pt>
              </c:strCache>
            </c:strRef>
          </c:tx>
          <c:spPr>
            <a:solidFill>
              <a:srgbClr val="467B22"/>
            </a:solidFill>
            <a:ln w="25400">
              <a:noFill/>
            </a:ln>
            <a:effectLst/>
          </c:spPr>
          <c:invertIfNegative val="0"/>
          <c:dLbls>
            <c:delete val="1"/>
          </c:dLbls>
          <c:cat>
            <c:strRef>
              <c:f>'[赖俊熊-第一章-数据表.xlsx]Sheet1'!$B$3:$K$3</c:f>
              <c:strCache>
                <c:ptCount val="10"/>
                <c:pt idx="0">
                  <c:v>2021</c:v>
                </c:pt>
                <c:pt idx="1">
                  <c:v>2022</c:v>
                </c:pt>
                <c:pt idx="2">
                  <c:v>2023</c:v>
                </c:pt>
                <c:pt idx="3">
                  <c:v>2024</c:v>
                </c:pt>
                <c:pt idx="4">
                  <c:v>2025E</c:v>
                </c:pt>
                <c:pt idx="5">
                  <c:v>2026E</c:v>
                </c:pt>
                <c:pt idx="6">
                  <c:v>2027E</c:v>
                </c:pt>
                <c:pt idx="7">
                  <c:v>2028E</c:v>
                </c:pt>
                <c:pt idx="8">
                  <c:v>2029E</c:v>
                </c:pt>
                <c:pt idx="9">
                  <c:v>2030E</c:v>
                </c:pt>
              </c:strCache>
            </c:strRef>
          </c:cat>
          <c:val>
            <c:numRef>
              <c:f>'[赖俊熊-第一章-数据表.xlsx]Sheet1'!$B$5:$K$5</c:f>
              <c:numCache>
                <c:formatCode>General</c:formatCode>
                <c:ptCount val="10"/>
                <c:pt idx="0">
                  <c:v>800</c:v>
                </c:pt>
                <c:pt idx="1">
                  <c:v>1805</c:v>
                </c:pt>
                <c:pt idx="2">
                  <c:v>6687</c:v>
                </c:pt>
                <c:pt idx="3">
                  <c:v>16820</c:v>
                </c:pt>
                <c:pt idx="4">
                  <c:v>19763.5</c:v>
                </c:pt>
                <c:pt idx="5">
                  <c:v>23057.7</c:v>
                </c:pt>
                <c:pt idx="6">
                  <c:v>27351.9</c:v>
                </c:pt>
                <c:pt idx="7">
                  <c:v>30146.1</c:v>
                </c:pt>
                <c:pt idx="8">
                  <c:v>32440.3</c:v>
                </c:pt>
                <c:pt idx="9">
                  <c:v>34234.5</c:v>
                </c:pt>
              </c:numCache>
            </c:numRef>
          </c:val>
        </c:ser>
        <c:dLbls>
          <c:showLegendKey val="0"/>
          <c:showVal val="0"/>
          <c:showCatName val="0"/>
          <c:showSerName val="0"/>
          <c:showPercent val="0"/>
          <c:showBubbleSize val="0"/>
        </c:dLbls>
        <c:gapWidth val="219"/>
        <c:overlap val="-27"/>
        <c:axId val="977178304"/>
        <c:axId val="977175424"/>
      </c:barChart>
      <c:lineChart>
        <c:grouping val="standard"/>
        <c:varyColors val="0"/>
        <c:ser>
          <c:idx val="2"/>
          <c:order val="2"/>
          <c:tx>
            <c:strRef>
              <c:f>'[赖俊熊-第一章-数据表.xlsx]Sheet1'!$A$6</c:f>
              <c:strCache>
                <c:ptCount val="1"/>
                <c:pt idx="0">
                  <c:v>平均储能时长（小时）</c:v>
                </c:pt>
              </c:strCache>
            </c:strRef>
          </c:tx>
          <c:spPr>
            <a:ln w="19050" cap="rnd">
              <a:solidFill>
                <a:srgbClr val="9FCEB4"/>
              </a:solidFill>
              <a:round/>
            </a:ln>
            <a:effectLst/>
          </c:spPr>
          <c:marker>
            <c:symbol val="none"/>
          </c:marker>
          <c:dLbls>
            <c:delete val="1"/>
          </c:dLbls>
          <c:cat>
            <c:strRef>
              <c:f>'[赖俊熊-第一章-数据表.xlsx]Sheet1'!$B$3:$K$3</c:f>
              <c:strCache>
                <c:ptCount val="10"/>
                <c:pt idx="0">
                  <c:v>2021</c:v>
                </c:pt>
                <c:pt idx="1">
                  <c:v>2022</c:v>
                </c:pt>
                <c:pt idx="2">
                  <c:v>2023</c:v>
                </c:pt>
                <c:pt idx="3">
                  <c:v>2024</c:v>
                </c:pt>
                <c:pt idx="4">
                  <c:v>2025E</c:v>
                </c:pt>
                <c:pt idx="5">
                  <c:v>2026E</c:v>
                </c:pt>
                <c:pt idx="6">
                  <c:v>2027E</c:v>
                </c:pt>
                <c:pt idx="7">
                  <c:v>2028E</c:v>
                </c:pt>
                <c:pt idx="8">
                  <c:v>2029E</c:v>
                </c:pt>
                <c:pt idx="9">
                  <c:v>2030E</c:v>
                </c:pt>
              </c:strCache>
            </c:strRef>
          </c:cat>
          <c:val>
            <c:numRef>
              <c:f>'[赖俊熊-第一章-数据表.xlsx]Sheet1'!$B$6:$K$6</c:f>
              <c:numCache>
                <c:formatCode>General</c:formatCode>
                <c:ptCount val="10"/>
                <c:pt idx="0">
                  <c:v>2</c:v>
                </c:pt>
                <c:pt idx="1">
                  <c:v>2.1</c:v>
                </c:pt>
                <c:pt idx="2">
                  <c:v>2.1</c:v>
                </c:pt>
                <c:pt idx="3">
                  <c:v>2.2</c:v>
                </c:pt>
                <c:pt idx="4">
                  <c:v>2.25</c:v>
                </c:pt>
                <c:pt idx="5">
                  <c:v>2.31</c:v>
                </c:pt>
                <c:pt idx="6">
                  <c:v>2.37</c:v>
                </c:pt>
                <c:pt idx="7">
                  <c:v>2.43</c:v>
                </c:pt>
                <c:pt idx="8">
                  <c:v>2.49</c:v>
                </c:pt>
                <c:pt idx="9">
                  <c:v>2.55</c:v>
                </c:pt>
              </c:numCache>
            </c:numRef>
          </c:val>
          <c:smooth val="0"/>
        </c:ser>
        <c:dLbls>
          <c:showLegendKey val="0"/>
          <c:showVal val="0"/>
          <c:showCatName val="0"/>
          <c:showSerName val="0"/>
          <c:showPercent val="0"/>
          <c:showBubbleSize val="0"/>
        </c:dLbls>
        <c:marker val="0"/>
        <c:smooth val="0"/>
        <c:axId val="977186944"/>
        <c:axId val="977184064"/>
      </c:lineChart>
      <c:catAx>
        <c:axId val="977178304"/>
        <c:scaling>
          <c:orientation val="minMax"/>
        </c:scaling>
        <c:delete val="0"/>
        <c:axPos val="b"/>
        <c:numFmt formatCode="General" sourceLinked="1"/>
        <c:majorTickMark val="out"/>
        <c:minorTickMark val="none"/>
        <c:tickLblPos val="nextTo"/>
        <c:spPr>
          <a:noFill/>
          <a:ln w="9525" cap="flat" cmpd="sng" algn="ctr">
            <a:solidFill>
              <a:sysClr val="windowText" lastClr="000000">
                <a:lumMod val="50000"/>
                <a:lumOff val="50000"/>
              </a:sys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Arial" panose="020B0604020202020204"/>
                <a:ea typeface="Arial" panose="020B0604020202020204"/>
                <a:cs typeface="Arial" panose="020B0604020202020204"/>
              </a:defRPr>
            </a:pPr>
          </a:p>
        </c:txPr>
        <c:crossAx val="977175424"/>
        <c:crosses val="autoZero"/>
        <c:auto val="1"/>
        <c:lblAlgn val="ctr"/>
        <c:lblOffset val="100"/>
        <c:noMultiLvlLbl val="0"/>
      </c:catAx>
      <c:valAx>
        <c:axId val="977175424"/>
        <c:scaling>
          <c:orientation val="minMax"/>
        </c:scaling>
        <c:delete val="0"/>
        <c:axPos val="l"/>
        <c:numFmt formatCode="0_ " sourceLinked="0"/>
        <c:majorTickMark val="out"/>
        <c:minorTickMark val="none"/>
        <c:tickLblPos val="nextTo"/>
        <c:spPr>
          <a:noFill/>
          <a:ln>
            <a:solidFill>
              <a:sysClr val="windowText" lastClr="000000">
                <a:lumMod val="50000"/>
                <a:lumOff val="50000"/>
              </a:sysClr>
            </a:solid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Arial" panose="020B0604020202020204"/>
                <a:ea typeface="Arial" panose="020B0604020202020204"/>
                <a:cs typeface="Arial" panose="020B0604020202020204"/>
              </a:defRPr>
            </a:pPr>
          </a:p>
        </c:txPr>
        <c:crossAx val="977178304"/>
        <c:crosses val="autoZero"/>
        <c:crossBetween val="between"/>
      </c:valAx>
      <c:catAx>
        <c:axId val="977186944"/>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Arial" panose="020B0604020202020204"/>
                <a:ea typeface="Arial" panose="020B0604020202020204"/>
                <a:cs typeface="Arial" panose="020B0604020202020204"/>
              </a:defRPr>
            </a:pPr>
          </a:p>
        </c:txPr>
        <c:crossAx val="977184064"/>
        <c:crosses val="autoZero"/>
        <c:auto val="1"/>
        <c:lblAlgn val="ctr"/>
        <c:lblOffset val="100"/>
        <c:noMultiLvlLbl val="0"/>
      </c:catAx>
      <c:valAx>
        <c:axId val="977184064"/>
        <c:scaling>
          <c:orientation val="minMax"/>
        </c:scaling>
        <c:delete val="0"/>
        <c:axPos val="r"/>
        <c:numFmt formatCode="0_ " sourceLinked="0"/>
        <c:majorTickMark val="out"/>
        <c:minorTickMark val="none"/>
        <c:tickLblPos val="nextTo"/>
        <c:spPr>
          <a:noFill/>
          <a:ln>
            <a:solidFill>
              <a:sysClr val="windowText" lastClr="000000">
                <a:lumMod val="50000"/>
                <a:lumOff val="50000"/>
              </a:sysClr>
            </a:solid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Arial" panose="020B0604020202020204"/>
                <a:ea typeface="Arial" panose="020B0604020202020204"/>
                <a:cs typeface="Arial" panose="020B0604020202020204"/>
              </a:defRPr>
            </a:pPr>
          </a:p>
        </c:txPr>
        <c:crossAx val="977186944"/>
        <c:crosses val="max"/>
        <c:crossBetween val="between"/>
      </c:valAx>
      <c:spPr>
        <a:noFill/>
        <a:ln w="25400">
          <a:noFill/>
        </a:ln>
        <a:effectLst/>
      </c:spPr>
    </c:plotArea>
    <c:legend>
      <c:legendPos val="t"/>
      <c:legendEntry>
        <c:idx val="0"/>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Arial" panose="020B0604020202020204"/>
                <a:ea typeface="Arial" panose="020B0604020202020204"/>
                <a:cs typeface="Arial" panose="020B0604020202020204"/>
              </a:defRPr>
            </a:pPr>
          </a:p>
        </c:txPr>
      </c:legendEntry>
      <c:legendEntry>
        <c:idx val="1"/>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Arial" panose="020B0604020202020204"/>
                <a:ea typeface="Arial" panose="020B0604020202020204"/>
                <a:cs typeface="Arial" panose="020B0604020202020204"/>
              </a:defRPr>
            </a:pPr>
          </a:p>
        </c:txPr>
      </c:legendEntry>
      <c:legendEntry>
        <c:idx val="2"/>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Arial" panose="020B0604020202020204"/>
                <a:ea typeface="Arial" panose="020B0604020202020204"/>
                <a:cs typeface="Arial" panose="020B0604020202020204"/>
              </a:defRPr>
            </a:pPr>
          </a:p>
        </c:txPr>
      </c:legendEntry>
      <c:layout>
        <c:manualLayout>
          <c:xMode val="edge"/>
          <c:yMode val="edge"/>
          <c:x val="0.00880674770528405"/>
          <c:y val="0.0378787878787879"/>
          <c:w val="0.982510543289506"/>
          <c:h val="0.191919191919192"/>
        </c:manualLayout>
      </c:layout>
      <c:overlay val="0"/>
      <c:spPr>
        <a:noFill/>
        <a:ln w="25400">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Tahoma" panose="020B0604030504040204" pitchFamily="34" charset="0"/>
              <a:ea typeface="华文楷体" panose="02010600040101010101" pitchFamily="2" charset="-122"/>
              <a:cs typeface="Arial" panose="020B0604020202020204"/>
            </a:defRPr>
          </a:pPr>
        </a:p>
      </c:txPr>
    </c:legend>
    <c:plotVisOnly val="1"/>
    <c:dispBlanksAs val="gap"/>
    <c:showDLblsOverMax val="0"/>
    <c:extLst>
      <c:ext uri="{0b15fc19-7d7d-44ad-8c2d-2c3a37ce22c3}">
        <chartProps xmlns="https://web.wps.cn/et/2018/main" chartId="{b54a0821-9d9a-4f8f-868e-36654a1b4592}"/>
      </c:ext>
    </c:extLst>
  </c:chart>
  <c:spPr>
    <a:solidFill>
      <a:schemeClr val="bg1"/>
    </a:solidFill>
    <a:ln w="25400" cap="flat" cmpd="sng" algn="ctr">
      <a:noFill/>
      <a:round/>
    </a:ln>
    <a:effectLst/>
  </c:spPr>
  <c:txPr>
    <a:bodyPr/>
    <a:lstStyle/>
    <a:p>
      <a:pPr>
        <a:defRPr lang="zh-CN" sz="900">
          <a:latin typeface="Arial" panose="020B0604020202020204"/>
          <a:ea typeface="Arial" panose="020B0604020202020204"/>
          <a:cs typeface="Arial" panose="020B0604020202020204"/>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274117026884555"/>
          <c:y val="0.0490566037735849"/>
          <c:w val="0.945176594623089"/>
          <c:h val="0.90188679245283"/>
        </c:manualLayout>
      </c:layout>
      <c:barChart>
        <c:barDir val="col"/>
        <c:grouping val="stacked"/>
        <c:varyColors val="0"/>
        <c:ser>
          <c:idx val="0"/>
          <c:order val="0"/>
          <c:spPr>
            <a:solidFill>
              <a:srgbClr val="559F3A"/>
            </a:solidFill>
            <a:ln w="9525" cmpd="sng" algn="ctr">
              <a:solidFill>
                <a:schemeClr val="tx1"/>
              </a:solidFill>
              <a:prstDash val="solid"/>
            </a:ln>
          </c:spPr>
          <c:invertIfNegative val="0"/>
          <c:dPt>
            <c:idx val="2"/>
            <c:invertIfNegative val="0"/>
            <c:bubble3D val="0"/>
            <c:spPr>
              <a:solidFill>
                <a:srgbClr val="559F3A"/>
              </a:solidFill>
              <a:ln w="9525" cmpd="sng" algn="ctr">
                <a:solidFill>
                  <a:srgbClr val="559F3A"/>
                </a:solidFill>
                <a:prstDash val="solid"/>
              </a:ln>
            </c:spPr>
          </c:dPt>
          <c:dLbls>
            <c:delete val="1"/>
          </c:dLbls>
          <c:val>
            <c:numRef>
              <c:f>Sheet1!$A$1:$D$1</c:f>
              <c:numCache>
                <c:formatCode>General</c:formatCode>
                <c:ptCount val="4"/>
                <c:pt idx="0">
                  <c:v>62</c:v>
                </c:pt>
                <c:pt idx="1">
                  <c:v>72.4</c:v>
                </c:pt>
                <c:pt idx="2">
                  <c:v>73.6</c:v>
                </c:pt>
                <c:pt idx="3">
                  <c:v>39.5</c:v>
                </c:pt>
              </c:numCache>
            </c:numRef>
          </c:val>
        </c:ser>
        <c:ser>
          <c:idx val="1"/>
          <c:order val="1"/>
          <c:spPr>
            <a:pattFill prst="pct10">
              <a:fgClr>
                <a:schemeClr val="tx1"/>
              </a:fgClr>
              <a:bgClr>
                <a:schemeClr val="bg1"/>
              </a:bgClr>
            </a:pattFill>
            <a:ln w="9525" cmpd="sng" algn="ctr">
              <a:solidFill>
                <a:schemeClr val="tx1"/>
              </a:solidFill>
              <a:prstDash val="solid"/>
            </a:ln>
          </c:spPr>
          <c:invertIfNegative val="0"/>
          <c:dLbls>
            <c:delete val="1"/>
          </c:dLbls>
          <c:val>
            <c:numRef>
              <c:f>Sheet1!$A$2:$D$2</c:f>
              <c:numCache>
                <c:formatCode>General</c:formatCode>
                <c:ptCount val="4"/>
                <c:pt idx="0">
                  <c:v>38</c:v>
                </c:pt>
                <c:pt idx="1">
                  <c:v>27.6</c:v>
                </c:pt>
                <c:pt idx="2">
                  <c:v>26.4</c:v>
                </c:pt>
                <c:pt idx="3">
                  <c:v>60.5</c:v>
                </c:pt>
              </c:numCache>
            </c:numRef>
          </c:val>
        </c:ser>
        <c:dLbls>
          <c:showLegendKey val="0"/>
          <c:showVal val="0"/>
          <c:showCatName val="0"/>
          <c:showSerName val="0"/>
          <c:showPercent val="0"/>
          <c:showBubbleSize val="0"/>
        </c:dLbls>
        <c:gapWidth val="80"/>
        <c:overlap val="100"/>
        <c:axId val="1162278479"/>
        <c:axId val="1"/>
      </c:barChart>
      <c:catAx>
        <c:axId val="1162278479"/>
        <c:scaling>
          <c:orientation val="minMax"/>
        </c:scaling>
        <c:delete val="0"/>
        <c:axPos val="b"/>
        <c:majorGridlines>
          <c:spPr>
            <a:ln w="6350" cap="flat" cmpd="sng" algn="ctr">
              <a:noFill/>
              <a:prstDash val="solid"/>
              <a:round/>
            </a:ln>
          </c:spPr>
        </c:majorGridlines>
        <c:majorTickMark val="none"/>
        <c:minorTickMark val="none"/>
        <c:tickLblPos val="none"/>
        <c:spPr>
          <a:ln w="9525" cap="flat" cmpd="sng" algn="ctr">
            <a:solidFill>
              <a:schemeClr val="tx1"/>
            </a:solidFill>
            <a:prstDash val="solid"/>
            <a:round/>
          </a:ln>
        </c:spPr>
        <c:txPr>
          <a:bodyPr rot="-60000000" spcFirstLastPara="0" vertOverflow="ellipsis" vert="horz" wrap="square" anchor="ctr" anchorCtr="1"/>
          <a:lstStyle/>
          <a:p>
            <a:pPr>
              <a:defRPr lang="zh-CN" sz="1000" b="0" i="0" u="none" strike="noStrike" kern="1200" baseline="0">
                <a:solidFill>
                  <a:schemeClr val="tx1"/>
                </a:solidFill>
                <a:latin typeface="+mn-lt"/>
                <a:ea typeface="+mn-ea"/>
                <a:cs typeface="+mn-cs"/>
              </a:defRPr>
            </a:pPr>
          </a:p>
        </c:txPr>
        <c:crossAx val="1"/>
        <c:crosses val="min"/>
        <c:auto val="0"/>
        <c:lblAlgn val="ctr"/>
        <c:lblOffset val="100"/>
        <c:noMultiLvlLbl val="0"/>
      </c:catAx>
      <c:valAx>
        <c:axId val="1"/>
        <c:scaling>
          <c:orientation val="minMax"/>
          <c:max val="100"/>
          <c:min val="0"/>
        </c:scaling>
        <c:delete val="0"/>
        <c:axPos val="l"/>
        <c:majorGridlines>
          <c:spPr>
            <a:ln w="6350" cap="flat" cmpd="sng" algn="ctr">
              <a:noFill/>
              <a:prstDash val="solid"/>
              <a:round/>
            </a:ln>
          </c:spPr>
        </c:majorGridlines>
        <c:numFmt formatCode="General" sourceLinked="1"/>
        <c:majorTickMark val="none"/>
        <c:minorTickMark val="none"/>
        <c:tickLblPos val="none"/>
        <c:spPr>
          <a:ln w="6350" cap="flat" cmpd="sng" algn="ctr">
            <a:noFill/>
            <a:prstDash val="solid"/>
            <a:round/>
          </a:ln>
        </c:spPr>
        <c:txPr>
          <a:bodyPr rot="-60000000" spcFirstLastPara="0" vertOverflow="ellipsis" vert="horz" wrap="square" anchor="ctr" anchorCtr="1"/>
          <a:lstStyle/>
          <a:p>
            <a:pPr>
              <a:defRPr lang="zh-CN" sz="1000" b="0" i="0" u="none" strike="noStrike" kern="1200" baseline="0">
                <a:solidFill>
                  <a:schemeClr val="tx1"/>
                </a:solidFill>
                <a:latin typeface="+mn-lt"/>
                <a:ea typeface="+mn-ea"/>
                <a:cs typeface="+mn-cs"/>
              </a:defRPr>
            </a:pPr>
          </a:p>
        </c:txPr>
        <c:crossAx val="1162278479"/>
        <c:crosses val="min"/>
        <c:crossBetween val="between"/>
      </c:valAx>
    </c:plotArea>
    <c:plotVisOnly val="0"/>
    <c:dispBlanksAs val="gap"/>
    <c:showDLblsOverMax val="1"/>
    <c:extLst>
      <c:ext uri="{0b15fc19-7d7d-44ad-8c2d-2c3a37ce22c3}">
        <chartProps xmlns="https://web.wps.cn/et/2018/main" chartId="{883961bc-47f5-44bb-8ed3-57c1d6f60aa2}"/>
      </c:ext>
    </c:extLst>
  </c:chart>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0BA5172-8D07-40AA-998A-D3C1E6FE0906}"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CFAF1CD-1D24-44C2-BE32-50386CC7A6E9}"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7F5467-256F-4BB0-9737-E536AADB4AC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B3A125-73AF-40DA-9E10-E5D24BB055E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B3A125-73AF-40DA-9E10-E5D24BB055E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B3A125-73AF-40DA-9E10-E5D24BB055E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B3A125-73AF-40DA-9E10-E5D24BB055E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E32F1C1D-C787-47B3-A660-29634432BD7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4B974C-6928-4145-AF2A-8D2B4FACF35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32F1C1D-C787-47B3-A660-29634432BD7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4B974C-6928-4145-AF2A-8D2B4FACF35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E32F1C1D-C787-47B3-A660-29634432BD7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4B974C-6928-4145-AF2A-8D2B4FACF35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E32F1C1D-C787-47B3-A660-29634432BD7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4B974C-6928-4145-AF2A-8D2B4FACF35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E32F1C1D-C787-47B3-A660-29634432BD77}"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14B974C-6928-4145-AF2A-8D2B4FACF35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32F1C1D-C787-47B3-A660-29634432BD7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14B974C-6928-4145-AF2A-8D2B4FACF35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2F1C1D-C787-47B3-A660-29634432BD77}"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14B974C-6928-4145-AF2A-8D2B4FACF35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32F1C1D-C787-47B3-A660-29634432BD7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4B974C-6928-4145-AF2A-8D2B4FACF35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32F1C1D-C787-47B3-A660-29634432BD7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4B974C-6928-4145-AF2A-8D2B4FACF35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32F1C1D-C787-47B3-A660-29634432BD7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4B974C-6928-4145-AF2A-8D2B4FACF35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32F1C1D-C787-47B3-A660-29634432BD7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4B974C-6928-4145-AF2A-8D2B4FACF353}"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Blank slide">
    <p:spTree>
      <p:nvGrpSpPr>
        <p:cNvPr id="1" name=""/>
        <p:cNvGrpSpPr/>
        <p:nvPr/>
      </p:nvGrpSpPr>
      <p:grpSpPr>
        <a:xfrm>
          <a:off x="0" y="0"/>
          <a:ext cx="0" cy="0"/>
          <a:chOff x="0" y="0"/>
          <a:chExt cx="0" cy="0"/>
        </a:xfrm>
      </p:grpSpPr>
    </p:spTree>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ide + Photo">
    <p:spTree>
      <p:nvGrpSpPr>
        <p:cNvPr id="1" name=""/>
        <p:cNvGrpSpPr/>
        <p:nvPr/>
      </p:nvGrpSpPr>
      <p:grpSpPr>
        <a:xfrm>
          <a:off x="0" y="0"/>
          <a:ext cx="0" cy="0"/>
          <a:chOff x="0" y="0"/>
          <a:chExt cx="0" cy="0"/>
        </a:xfrm>
      </p:grpSpPr>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ide with logo &amp; Photo">
    <p:spTree>
      <p:nvGrpSpPr>
        <p:cNvPr id="1" name=""/>
        <p:cNvGrpSpPr/>
        <p:nvPr/>
      </p:nvGrpSpPr>
      <p:grpSpPr>
        <a:xfrm>
          <a:off x="0" y="0"/>
          <a:ext cx="0" cy="0"/>
          <a:chOff x="0" y="0"/>
          <a:chExt cx="0" cy="0"/>
        </a:xfrm>
      </p:grpSpPr>
    </p:spTree>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ide with logo + photo">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9">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lean Slide">
    <p:spTree>
      <p:nvGrpSpPr>
        <p:cNvPr id="1" name=""/>
        <p:cNvGrpSpPr/>
        <p:nvPr/>
      </p:nvGrpSpPr>
      <p:grpSpPr>
        <a:xfrm>
          <a:off x="0" y="0"/>
          <a:ext cx="0" cy="0"/>
          <a:chOff x="0" y="0"/>
          <a:chExt cx="0" cy="0"/>
        </a:xfrm>
      </p:grpSpPr>
    </p:spTree>
  </p:cSld>
  <p:clrMapOvr>
    <a:masterClrMapping/>
  </p:clrMapOvr>
  <p:transition spd="med">
    <p:push dir="u"/>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amp; Subtitle">
    <p:bg>
      <p:bgPr>
        <a:solidFill>
          <a:schemeClr val="bg2"/>
        </a:solidFill>
        <a:effectLst/>
      </p:bgPr>
    </p:bg>
    <p:spTree>
      <p:nvGrpSpPr>
        <p:cNvPr id="1" name=""/>
        <p:cNvGrpSpPr/>
        <p:nvPr/>
      </p:nvGrpSpPr>
      <p:grpSpPr>
        <a:xfrm>
          <a:off x="0" y="0"/>
          <a:ext cx="0" cy="0"/>
          <a:chOff x="0" y="0"/>
          <a:chExt cx="0" cy="0"/>
        </a:xfrm>
      </p:grpSpPr>
      <p:sp>
        <p:nvSpPr>
          <p:cNvPr id="13" name="Slide Number"/>
          <p:cNvSpPr txBox="1">
            <a:spLocks noGrp="1"/>
          </p:cNvSpPr>
          <p:nvPr>
            <p:ph type="sldNum" sz="quarter" idx="2"/>
          </p:nvPr>
        </p:nvSpPr>
        <p:spPr>
          <a:xfrm>
            <a:off x="10995223" y="6200485"/>
            <a:ext cx="456804" cy="241301"/>
          </a:xfrm>
          <a:prstGeom prst="rect">
            <a:avLst/>
          </a:prstGeom>
        </p:spPr>
        <p:txBody>
          <a:bodyPr wrap="square"/>
          <a:lstStyle>
            <a:lvl1pPr>
              <a:defRPr>
                <a:solidFill>
                  <a:schemeClr val="tx1"/>
                </a:solidFill>
              </a:defRPr>
            </a:lvl1pPr>
          </a:lstStyle>
          <a:p>
            <a:fld id="{86CB4B4D-7CA3-9044-876B-883B54F8677D}" type="slidenum">
              <a:rPr lang="en-US" smtClean="0"/>
            </a:fld>
            <a:endParaRPr lang="en-US"/>
          </a:p>
        </p:txBody>
      </p:sp>
    </p:spTree>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ck Title &amp; Subtitle + Photo">
    <p:bg>
      <p:bgPr>
        <a:solidFill>
          <a:schemeClr val="tx1"/>
        </a:solidFill>
        <a:effectLst/>
      </p:bgPr>
    </p:bg>
    <p:spTree>
      <p:nvGrpSpPr>
        <p:cNvPr id="1" name=""/>
        <p:cNvGrpSpPr/>
        <p:nvPr/>
      </p:nvGrpSpPr>
      <p:grpSpPr>
        <a:xfrm>
          <a:off x="0" y="0"/>
          <a:ext cx="0" cy="0"/>
          <a:chOff x="0" y="0"/>
          <a:chExt cx="0" cy="0"/>
        </a:xfrm>
      </p:grpSpPr>
    </p:spTree>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matchingName="1_Main Title &amp; Subtitle">
  <p:cSld name="1_Main Title &amp; Subtitle">
    <p:bg>
      <p:bgPr>
        <a:solidFill>
          <a:schemeClr val="bg1"/>
        </a:solidFill>
        <a:effectLst/>
      </p:bgPr>
    </p:bg>
    <p:spTree>
      <p:nvGrpSpPr>
        <p:cNvPr id="1" name="Shape 13"/>
        <p:cNvGrpSpPr/>
        <p:nvPr/>
      </p:nvGrpSpPr>
      <p:grpSpPr>
        <a:xfrm>
          <a:off x="0" y="0"/>
          <a:ext cx="0" cy="0"/>
          <a:chOff x="0" y="0"/>
          <a:chExt cx="0" cy="0"/>
        </a:xfrm>
      </p:grpSpPr>
      <p:sp>
        <p:nvSpPr>
          <p:cNvPr id="11" name="Text Placeholder 3"/>
          <p:cNvSpPr>
            <a:spLocks noGrp="1"/>
          </p:cNvSpPr>
          <p:nvPr>
            <p:ph type="body" sz="half" idx="2" hasCustomPrompt="1"/>
          </p:nvPr>
        </p:nvSpPr>
        <p:spPr>
          <a:xfrm>
            <a:off x="517093" y="885781"/>
            <a:ext cx="11157817" cy="231007"/>
          </a:xfrm>
          <a:prstGeom prst="rect">
            <a:avLst/>
          </a:prstGeom>
        </p:spPr>
        <p:txBody>
          <a:bodyPr wrap="none" lIns="0" tIns="0" rIns="0" bIns="0" anchor="ctr">
            <a:noAutofit/>
          </a:bodyPr>
          <a:lstStyle>
            <a:lvl1pPr marL="0" indent="0" algn="ctr">
              <a:buNone/>
              <a:defRPr sz="1335" b="0" baseline="0">
                <a:solidFill>
                  <a:schemeClr val="tx1">
                    <a:lumMod val="90000"/>
                    <a:lumOff val="10000"/>
                  </a:schemeClr>
                </a:solidFill>
                <a:latin typeface="+mn-lt"/>
                <a:ea typeface="Roboto" panose="02000000000000000000" pitchFamily="2" charset="0"/>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6565" indent="0">
              <a:buNone/>
              <a:defRPr sz="1200"/>
            </a:lvl8pPr>
            <a:lvl9pPr marL="4876165" indent="0">
              <a:buNone/>
              <a:defRPr sz="1200"/>
            </a:lvl9pPr>
          </a:lstStyle>
          <a:p>
            <a:pPr lvl="0"/>
            <a:r>
              <a:rPr lang="en-US" dirty="0"/>
              <a:t>CLICK TO EDITE SUBTITLE</a:t>
            </a:r>
            <a:endParaRPr lang="en-US" dirty="0"/>
          </a:p>
        </p:txBody>
      </p:sp>
      <p:sp>
        <p:nvSpPr>
          <p:cNvPr id="12" name="Title 2"/>
          <p:cNvSpPr>
            <a:spLocks noGrp="1"/>
          </p:cNvSpPr>
          <p:nvPr>
            <p:ph type="title"/>
          </p:nvPr>
        </p:nvSpPr>
        <p:spPr>
          <a:xfrm>
            <a:off x="517093" y="208855"/>
            <a:ext cx="11157817" cy="660511"/>
          </a:xfrm>
          <a:prstGeom prst="rect">
            <a:avLst/>
          </a:prstGeom>
        </p:spPr>
        <p:txBody>
          <a:bodyPr lIns="0" tIns="0" rIns="0" bIns="0" anchor="ctr"/>
          <a:lstStyle>
            <a:lvl1pPr algn="ctr">
              <a:defRPr sz="3465">
                <a:solidFill>
                  <a:schemeClr val="tx1">
                    <a:lumMod val="90000"/>
                    <a:lumOff val="10000"/>
                  </a:schemeClr>
                </a:solidFill>
                <a:latin typeface="+mj-lt"/>
              </a:defRPr>
            </a:lvl1pPr>
          </a:lstStyle>
          <a:p>
            <a:r>
              <a:rPr lang="en-US"/>
              <a:t>Click to edit Master title style</a:t>
            </a:r>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VC">
    <p:spTree>
      <p:nvGrpSpPr>
        <p:cNvPr id="1" name=""/>
        <p:cNvGrpSpPr/>
        <p:nvPr/>
      </p:nvGrpSpPr>
      <p:grpSpPr>
        <a:xfrm>
          <a:off x="0" y="0"/>
          <a:ext cx="0" cy="0"/>
          <a:chOff x="0" y="0"/>
          <a:chExt cx="0" cy="0"/>
        </a:xfrm>
      </p:grpSpPr>
      <p:sp>
        <p:nvSpPr>
          <p:cNvPr id="4" name="Text Placeholder 3"/>
          <p:cNvSpPr>
            <a:spLocks noGrp="1"/>
          </p:cNvSpPr>
          <p:nvPr>
            <p:ph type="body" sz="half" idx="2" hasCustomPrompt="1"/>
          </p:nvPr>
        </p:nvSpPr>
        <p:spPr>
          <a:xfrm>
            <a:off x="517092" y="884975"/>
            <a:ext cx="11157817" cy="199546"/>
          </a:xfrm>
          <a:prstGeom prst="rect">
            <a:avLst/>
          </a:prstGeom>
        </p:spPr>
        <p:txBody>
          <a:bodyPr wrap="none" lIns="0" tIns="0" rIns="0" bIns="0" anchor="ctr">
            <a:noAutofit/>
          </a:bodyPr>
          <a:lstStyle>
            <a:lvl1pPr marL="0" indent="0" algn="l">
              <a:buNone/>
              <a:defRPr sz="1400" b="0" baseline="0">
                <a:solidFill>
                  <a:schemeClr val="tx1">
                    <a:lumMod val="50000"/>
                    <a:lumOff val="50000"/>
                  </a:schemeClr>
                </a:solidFill>
                <a:latin typeface="+mn-lt"/>
                <a:ea typeface="Roboto" panose="02000000000000000000" pitchFamily="2" charset="0"/>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dirty="0"/>
              <a:t>CLICK TO EDITE SUBTITLE</a:t>
            </a:r>
            <a:endParaRPr lang="en-US" dirty="0"/>
          </a:p>
        </p:txBody>
      </p:sp>
      <p:sp>
        <p:nvSpPr>
          <p:cNvPr id="5" name="Title 2"/>
          <p:cNvSpPr>
            <a:spLocks noGrp="1"/>
          </p:cNvSpPr>
          <p:nvPr>
            <p:ph type="title"/>
          </p:nvPr>
        </p:nvSpPr>
        <p:spPr>
          <a:xfrm>
            <a:off x="517092" y="382773"/>
            <a:ext cx="11157817" cy="445500"/>
          </a:xfrm>
          <a:prstGeom prst="rect">
            <a:avLst/>
          </a:prstGeom>
        </p:spPr>
        <p:txBody>
          <a:bodyPr lIns="0" tIns="0" rIns="0" bIns="0" anchor="ctr"/>
          <a:lstStyle>
            <a:lvl1pPr algn="l">
              <a:defRPr sz="2800" b="1">
                <a:solidFill>
                  <a:schemeClr val="tx1">
                    <a:lumMod val="75000"/>
                    <a:lumOff val="25000"/>
                  </a:schemeClr>
                </a:solidFill>
                <a:latin typeface="+mn-lt"/>
              </a:defRPr>
            </a:lvl1pPr>
          </a:lstStyle>
          <a:p>
            <a:r>
              <a:rPr lang="en-US" dirty="0"/>
              <a:t>Click to edit Master title style</a:t>
            </a:r>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Picture Placeholder 8"/>
          <p:cNvSpPr>
            <a:spLocks noGrp="1"/>
          </p:cNvSpPr>
          <p:nvPr>
            <p:ph type="pic" sz="quarter" idx="10"/>
          </p:nvPr>
        </p:nvSpPr>
        <p:spPr>
          <a:xfrm>
            <a:off x="572158" y="2347307"/>
            <a:ext cx="2743201" cy="1759550"/>
          </a:xfrm>
          <a:prstGeom prst="rect">
            <a:avLst/>
          </a:prstGeom>
          <a:pattFill prst="dotGrid">
            <a:fgClr>
              <a:srgbClr val="C00000"/>
            </a:fgClr>
            <a:bgClr>
              <a:schemeClr val="bg1"/>
            </a:bgClr>
          </a:pattFill>
        </p:spPr>
        <p:txBody>
          <a:bodyPr/>
          <a:lstStyle/>
          <a:p>
            <a:endParaRPr lang="en-US" dirty="0"/>
          </a:p>
        </p:txBody>
      </p:sp>
      <p:sp>
        <p:nvSpPr>
          <p:cNvPr id="5" name="Picture Placeholder 8"/>
          <p:cNvSpPr>
            <a:spLocks noGrp="1"/>
          </p:cNvSpPr>
          <p:nvPr>
            <p:ph type="pic" sz="quarter" idx="11"/>
          </p:nvPr>
        </p:nvSpPr>
        <p:spPr>
          <a:xfrm>
            <a:off x="3643533" y="2347307"/>
            <a:ext cx="7976308" cy="1759550"/>
          </a:xfrm>
          <a:prstGeom prst="rect">
            <a:avLst/>
          </a:prstGeom>
          <a:pattFill prst="dotGrid">
            <a:fgClr>
              <a:srgbClr val="C00000"/>
            </a:fgClr>
            <a:bgClr>
              <a:schemeClr val="bg1"/>
            </a:bgClr>
          </a:pattFill>
        </p:spPr>
        <p:txBody>
          <a:bodyPr/>
          <a:lstStyle/>
          <a:p>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x" preserve="1">
  <p:cSld name="Blank slide">
    <p:spTree>
      <p:nvGrpSpPr>
        <p:cNvPr id="1" name=""/>
        <p:cNvGrpSpPr/>
        <p:nvPr/>
      </p:nvGrpSpPr>
      <p:grpSpPr>
        <a:xfrm>
          <a:off x="0" y="0"/>
          <a:ext cx="0" cy="0"/>
          <a:chOff x="0" y="0"/>
          <a:chExt cx="0" cy="0"/>
        </a:xfrm>
      </p:grpSpPr>
    </p:spTree>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ide + Photo">
    <p:spTree>
      <p:nvGrpSpPr>
        <p:cNvPr id="1" name=""/>
        <p:cNvGrpSpPr/>
        <p:nvPr/>
      </p:nvGrpSpPr>
      <p:grpSpPr>
        <a:xfrm>
          <a:off x="0" y="0"/>
          <a:ext cx="0" cy="0"/>
          <a:chOff x="0" y="0"/>
          <a:chExt cx="0" cy="0"/>
        </a:xfrm>
      </p:grpSpPr>
    </p:spTree>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ide with logo &amp; Photo">
    <p:spTree>
      <p:nvGrpSpPr>
        <p:cNvPr id="1" name=""/>
        <p:cNvGrpSpPr/>
        <p:nvPr/>
      </p:nvGrpSpPr>
      <p:grpSpPr>
        <a:xfrm>
          <a:off x="0" y="0"/>
          <a:ext cx="0" cy="0"/>
          <a:chOff x="0" y="0"/>
          <a:chExt cx="0" cy="0"/>
        </a:xfrm>
      </p:grpSpPr>
    </p:spTree>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ide with logo + photo">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9">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lean Slide">
    <p:spTree>
      <p:nvGrpSpPr>
        <p:cNvPr id="1" name=""/>
        <p:cNvGrpSpPr/>
        <p:nvPr/>
      </p:nvGrpSpPr>
      <p:grpSpPr>
        <a:xfrm>
          <a:off x="0" y="0"/>
          <a:ext cx="0" cy="0"/>
          <a:chOff x="0" y="0"/>
          <a:chExt cx="0" cy="0"/>
        </a:xfrm>
      </p:grpSpPr>
    </p:spTree>
  </p:cSld>
  <p:clrMapOvr>
    <a:masterClrMapping/>
  </p:clrMapOvr>
  <p:transition spd="med">
    <p:push dir="u"/>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Title &amp; Subtitle">
    <p:bg>
      <p:bgPr>
        <a:solidFill>
          <a:schemeClr val="bg2"/>
        </a:solidFill>
        <a:effectLst/>
      </p:bgPr>
    </p:bg>
    <p:spTree>
      <p:nvGrpSpPr>
        <p:cNvPr id="1" name=""/>
        <p:cNvGrpSpPr/>
        <p:nvPr/>
      </p:nvGrpSpPr>
      <p:grpSpPr>
        <a:xfrm>
          <a:off x="0" y="0"/>
          <a:ext cx="0" cy="0"/>
          <a:chOff x="0" y="0"/>
          <a:chExt cx="0" cy="0"/>
        </a:xfrm>
      </p:grpSpPr>
      <p:sp>
        <p:nvSpPr>
          <p:cNvPr id="13" name="Slide Number"/>
          <p:cNvSpPr txBox="1">
            <a:spLocks noGrp="1"/>
          </p:cNvSpPr>
          <p:nvPr>
            <p:ph type="sldNum" sz="quarter" idx="2"/>
          </p:nvPr>
        </p:nvSpPr>
        <p:spPr>
          <a:xfrm>
            <a:off x="10995223" y="6200485"/>
            <a:ext cx="456804" cy="241301"/>
          </a:xfrm>
          <a:prstGeom prst="rect">
            <a:avLst/>
          </a:prstGeom>
        </p:spPr>
        <p:txBody>
          <a:bodyPr wrap="square"/>
          <a:lstStyle>
            <a:lvl1pPr>
              <a:defRPr>
                <a:solidFill>
                  <a:schemeClr val="tx1"/>
                </a:solidFill>
              </a:defRPr>
            </a:lvl1pPr>
          </a:lstStyle>
          <a:p>
            <a:fld id="{86CB4B4D-7CA3-9044-876B-883B54F8677D}" type="slidenum">
              <a:rPr lang="en-US" smtClean="0"/>
            </a:fld>
            <a:endParaRPr lang="en-US"/>
          </a:p>
        </p:txBody>
      </p:sp>
    </p:spTree>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ck Title &amp; Subtitle + Photo">
    <p:bg>
      <p:bgPr>
        <a:solidFill>
          <a:schemeClr val="tx1"/>
        </a:solidFill>
        <a:effectLst/>
      </p:bgPr>
    </p:bg>
    <p:spTree>
      <p:nvGrpSpPr>
        <p:cNvPr id="1" name=""/>
        <p:cNvGrpSpPr/>
        <p:nvPr/>
      </p:nvGrpSpPr>
      <p:grpSpPr>
        <a:xfrm>
          <a:off x="0" y="0"/>
          <a:ext cx="0" cy="0"/>
          <a:chOff x="0" y="0"/>
          <a:chExt cx="0" cy="0"/>
        </a:xfrm>
      </p:grpSpPr>
    </p:spTree>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matchingName="1_Main Title &amp; Subtitle">
  <p:cSld name="1_Main Title &amp; Subtitle">
    <p:bg>
      <p:bgPr>
        <a:solidFill>
          <a:schemeClr val="bg1"/>
        </a:solidFill>
        <a:effectLst/>
      </p:bgPr>
    </p:bg>
    <p:spTree>
      <p:nvGrpSpPr>
        <p:cNvPr id="1" name="Shape 13"/>
        <p:cNvGrpSpPr/>
        <p:nvPr/>
      </p:nvGrpSpPr>
      <p:grpSpPr>
        <a:xfrm>
          <a:off x="0" y="0"/>
          <a:ext cx="0" cy="0"/>
          <a:chOff x="0" y="0"/>
          <a:chExt cx="0" cy="0"/>
        </a:xfrm>
      </p:grpSpPr>
      <p:sp>
        <p:nvSpPr>
          <p:cNvPr id="11" name="Text Placeholder 3"/>
          <p:cNvSpPr>
            <a:spLocks noGrp="1"/>
          </p:cNvSpPr>
          <p:nvPr>
            <p:ph type="body" sz="half" idx="2" hasCustomPrompt="1"/>
          </p:nvPr>
        </p:nvSpPr>
        <p:spPr>
          <a:xfrm>
            <a:off x="517093" y="885781"/>
            <a:ext cx="11157817" cy="231007"/>
          </a:xfrm>
          <a:prstGeom prst="rect">
            <a:avLst/>
          </a:prstGeom>
        </p:spPr>
        <p:txBody>
          <a:bodyPr wrap="none" lIns="0" tIns="0" rIns="0" bIns="0" anchor="ctr">
            <a:noAutofit/>
          </a:bodyPr>
          <a:lstStyle>
            <a:lvl1pPr marL="0" indent="0" algn="ctr">
              <a:buNone/>
              <a:defRPr sz="1335" b="0" baseline="0">
                <a:solidFill>
                  <a:schemeClr val="tx1">
                    <a:lumMod val="90000"/>
                    <a:lumOff val="10000"/>
                  </a:schemeClr>
                </a:solidFill>
                <a:latin typeface="+mn-lt"/>
                <a:ea typeface="Roboto" panose="02000000000000000000" pitchFamily="2" charset="0"/>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6565" indent="0">
              <a:buNone/>
              <a:defRPr sz="1200"/>
            </a:lvl8pPr>
            <a:lvl9pPr marL="4876165" indent="0">
              <a:buNone/>
              <a:defRPr sz="1200"/>
            </a:lvl9pPr>
          </a:lstStyle>
          <a:p>
            <a:pPr lvl="0"/>
            <a:r>
              <a:rPr lang="en-US" dirty="0"/>
              <a:t>CLICK TO EDITE SUBTITLE</a:t>
            </a:r>
            <a:endParaRPr lang="en-US" dirty="0"/>
          </a:p>
        </p:txBody>
      </p:sp>
      <p:sp>
        <p:nvSpPr>
          <p:cNvPr id="12" name="Title 2"/>
          <p:cNvSpPr>
            <a:spLocks noGrp="1"/>
          </p:cNvSpPr>
          <p:nvPr>
            <p:ph type="title"/>
          </p:nvPr>
        </p:nvSpPr>
        <p:spPr>
          <a:xfrm>
            <a:off x="517093" y="208855"/>
            <a:ext cx="11157817" cy="660511"/>
          </a:xfrm>
          <a:prstGeom prst="rect">
            <a:avLst/>
          </a:prstGeom>
        </p:spPr>
        <p:txBody>
          <a:bodyPr lIns="0" tIns="0" rIns="0" bIns="0" anchor="ctr"/>
          <a:lstStyle>
            <a:lvl1pPr algn="ctr">
              <a:defRPr sz="3465">
                <a:solidFill>
                  <a:schemeClr val="tx1">
                    <a:lumMod val="90000"/>
                    <a:lumOff val="10000"/>
                  </a:schemeClr>
                </a:solidFill>
                <a:latin typeface="+mj-lt"/>
              </a:defRPr>
            </a:lvl1pPr>
          </a:lstStyle>
          <a:p>
            <a:r>
              <a:rPr lang="en-US"/>
              <a:t>Click to edit Master title style</a:t>
            </a:r>
            <a:endParaRPr 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VC">
    <p:spTree>
      <p:nvGrpSpPr>
        <p:cNvPr id="1" name=""/>
        <p:cNvGrpSpPr/>
        <p:nvPr/>
      </p:nvGrpSpPr>
      <p:grpSpPr>
        <a:xfrm>
          <a:off x="0" y="0"/>
          <a:ext cx="0" cy="0"/>
          <a:chOff x="0" y="0"/>
          <a:chExt cx="0" cy="0"/>
        </a:xfrm>
      </p:grpSpPr>
      <p:sp>
        <p:nvSpPr>
          <p:cNvPr id="4" name="Text Placeholder 3"/>
          <p:cNvSpPr>
            <a:spLocks noGrp="1"/>
          </p:cNvSpPr>
          <p:nvPr>
            <p:ph type="body" sz="half" idx="2" hasCustomPrompt="1"/>
          </p:nvPr>
        </p:nvSpPr>
        <p:spPr>
          <a:xfrm>
            <a:off x="517092" y="884975"/>
            <a:ext cx="11157817" cy="199546"/>
          </a:xfrm>
          <a:prstGeom prst="rect">
            <a:avLst/>
          </a:prstGeom>
        </p:spPr>
        <p:txBody>
          <a:bodyPr wrap="none" lIns="0" tIns="0" rIns="0" bIns="0" anchor="ctr">
            <a:noAutofit/>
          </a:bodyPr>
          <a:lstStyle>
            <a:lvl1pPr marL="0" indent="0" algn="l">
              <a:buNone/>
              <a:defRPr sz="1400" b="0" baseline="0">
                <a:solidFill>
                  <a:schemeClr val="tx1">
                    <a:lumMod val="50000"/>
                    <a:lumOff val="50000"/>
                  </a:schemeClr>
                </a:solidFill>
                <a:latin typeface="+mn-lt"/>
                <a:ea typeface="Roboto" panose="02000000000000000000" pitchFamily="2" charset="0"/>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dirty="0"/>
              <a:t>CLICK TO EDITE SUBTITLE</a:t>
            </a:r>
            <a:endParaRPr lang="en-US" dirty="0"/>
          </a:p>
        </p:txBody>
      </p:sp>
      <p:sp>
        <p:nvSpPr>
          <p:cNvPr id="5" name="Title 2"/>
          <p:cNvSpPr>
            <a:spLocks noGrp="1"/>
          </p:cNvSpPr>
          <p:nvPr>
            <p:ph type="title"/>
          </p:nvPr>
        </p:nvSpPr>
        <p:spPr>
          <a:xfrm>
            <a:off x="517092" y="382773"/>
            <a:ext cx="11157817" cy="445500"/>
          </a:xfrm>
          <a:prstGeom prst="rect">
            <a:avLst/>
          </a:prstGeom>
        </p:spPr>
        <p:txBody>
          <a:bodyPr lIns="0" tIns="0" rIns="0" bIns="0" anchor="ctr"/>
          <a:lstStyle>
            <a:lvl1pPr algn="l">
              <a:defRPr sz="2800" b="1">
                <a:solidFill>
                  <a:schemeClr val="tx1">
                    <a:lumMod val="75000"/>
                    <a:lumOff val="25000"/>
                  </a:schemeClr>
                </a:solidFill>
                <a:latin typeface="+mn-lt"/>
              </a:defRPr>
            </a:lvl1pPr>
          </a:lstStyle>
          <a:p>
            <a:r>
              <a:rPr lang="en-US" dirty="0"/>
              <a:t>Click to edit Master title style</a:t>
            </a:r>
            <a:endParaRPr lang="en-US"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Picture Placeholder 8"/>
          <p:cNvSpPr>
            <a:spLocks noGrp="1"/>
          </p:cNvSpPr>
          <p:nvPr>
            <p:ph type="pic" sz="quarter" idx="10"/>
          </p:nvPr>
        </p:nvSpPr>
        <p:spPr>
          <a:xfrm>
            <a:off x="572158" y="2347307"/>
            <a:ext cx="2743201" cy="1759550"/>
          </a:xfrm>
          <a:prstGeom prst="rect">
            <a:avLst/>
          </a:prstGeom>
          <a:pattFill prst="dotGrid">
            <a:fgClr>
              <a:srgbClr val="C00000"/>
            </a:fgClr>
            <a:bgClr>
              <a:schemeClr val="bg1"/>
            </a:bgClr>
          </a:pattFill>
        </p:spPr>
        <p:txBody>
          <a:bodyPr/>
          <a:lstStyle/>
          <a:p>
            <a:endParaRPr lang="en-US" dirty="0"/>
          </a:p>
        </p:txBody>
      </p:sp>
      <p:sp>
        <p:nvSpPr>
          <p:cNvPr id="5" name="Picture Placeholder 8"/>
          <p:cNvSpPr>
            <a:spLocks noGrp="1"/>
          </p:cNvSpPr>
          <p:nvPr>
            <p:ph type="pic" sz="quarter" idx="11"/>
          </p:nvPr>
        </p:nvSpPr>
        <p:spPr>
          <a:xfrm>
            <a:off x="3643533" y="2347307"/>
            <a:ext cx="7976308" cy="1759550"/>
          </a:xfrm>
          <a:prstGeom prst="rect">
            <a:avLst/>
          </a:prstGeom>
          <a:pattFill prst="dotGrid">
            <a:fgClr>
              <a:srgbClr val="C00000"/>
            </a:fgClr>
            <a:bgClr>
              <a:schemeClr val="bg1"/>
            </a:bgClr>
          </a:pattFill>
        </p:spPr>
        <p:txBody>
          <a:bodyPr/>
          <a:lstStyle/>
          <a:p>
            <a:endParaRPr lang="en-US"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7CA0FA5A-AF16-4892-90C9-FA8908090689}"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AED6AA6-0AA8-4E22-9DE9-C85229159722}" type="slidenum">
              <a:rPr lang="zh-CN" altLang="en-US" smtClean="0"/>
            </a:fld>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x" preserve="1">
  <p:cSld name="Blank slide">
    <p:spTree>
      <p:nvGrpSpPr>
        <p:cNvPr id="1" name=""/>
        <p:cNvGrpSpPr/>
        <p:nvPr/>
      </p:nvGrpSpPr>
      <p:grpSpPr>
        <a:xfrm>
          <a:off x="0" y="0"/>
          <a:ext cx="0" cy="0"/>
          <a:chOff x="0" y="0"/>
          <a:chExt cx="0" cy="0"/>
        </a:xfrm>
      </p:grpSpPr>
    </p:spTree>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ide + Photo">
    <p:spTree>
      <p:nvGrpSpPr>
        <p:cNvPr id="1" name=""/>
        <p:cNvGrpSpPr/>
        <p:nvPr/>
      </p:nvGrpSpPr>
      <p:grpSpPr>
        <a:xfrm>
          <a:off x="0" y="0"/>
          <a:ext cx="0" cy="0"/>
          <a:chOff x="0" y="0"/>
          <a:chExt cx="0" cy="0"/>
        </a:xfrm>
      </p:grpSpPr>
    </p:spTree>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ide with logo &amp; Photo">
    <p:spTree>
      <p:nvGrpSpPr>
        <p:cNvPr id="1" name=""/>
        <p:cNvGrpSpPr/>
        <p:nvPr/>
      </p:nvGrpSpPr>
      <p:grpSpPr>
        <a:xfrm>
          <a:off x="0" y="0"/>
          <a:ext cx="0" cy="0"/>
          <a:chOff x="0" y="0"/>
          <a:chExt cx="0" cy="0"/>
        </a:xfrm>
      </p:grpSpPr>
    </p:spTree>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ide with logo + photo">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9">
    <p:spTree>
      <p:nvGrpSpPr>
        <p:cNvPr id="1" name=""/>
        <p:cNvGrpSpPr/>
        <p:nvPr/>
      </p:nvGrpSpPr>
      <p:grpSpPr>
        <a:xfrm>
          <a:off x="0" y="0"/>
          <a:ext cx="0" cy="0"/>
          <a:chOff x="0" y="0"/>
          <a:chExt cx="0" cy="0"/>
        </a:xfrm>
      </p:grpSpPr>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lean Slide">
    <p:spTree>
      <p:nvGrpSpPr>
        <p:cNvPr id="1" name=""/>
        <p:cNvGrpSpPr/>
        <p:nvPr/>
      </p:nvGrpSpPr>
      <p:grpSpPr>
        <a:xfrm>
          <a:off x="0" y="0"/>
          <a:ext cx="0" cy="0"/>
          <a:chOff x="0" y="0"/>
          <a:chExt cx="0" cy="0"/>
        </a:xfrm>
      </p:grpSpPr>
    </p:spTree>
  </p:cSld>
  <p:clrMapOvr>
    <a:masterClrMapping/>
  </p:clrMapOvr>
  <p:transition spd="med">
    <p:push dir="u"/>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title" preserve="1">
  <p:cSld name="Title &amp; Subtitle">
    <p:bg>
      <p:bgPr>
        <a:solidFill>
          <a:schemeClr val="bg2"/>
        </a:solidFill>
        <a:effectLst/>
      </p:bgPr>
    </p:bg>
    <p:spTree>
      <p:nvGrpSpPr>
        <p:cNvPr id="1" name=""/>
        <p:cNvGrpSpPr/>
        <p:nvPr/>
      </p:nvGrpSpPr>
      <p:grpSpPr>
        <a:xfrm>
          <a:off x="0" y="0"/>
          <a:ext cx="0" cy="0"/>
          <a:chOff x="0" y="0"/>
          <a:chExt cx="0" cy="0"/>
        </a:xfrm>
      </p:grpSpPr>
      <p:sp>
        <p:nvSpPr>
          <p:cNvPr id="13" name="Slide Number"/>
          <p:cNvSpPr txBox="1">
            <a:spLocks noGrp="1"/>
          </p:cNvSpPr>
          <p:nvPr>
            <p:ph type="sldNum" sz="quarter" idx="2"/>
          </p:nvPr>
        </p:nvSpPr>
        <p:spPr>
          <a:xfrm>
            <a:off x="10995223" y="6200485"/>
            <a:ext cx="456804" cy="241301"/>
          </a:xfrm>
          <a:prstGeom prst="rect">
            <a:avLst/>
          </a:prstGeom>
        </p:spPr>
        <p:txBody>
          <a:bodyPr wrap="square"/>
          <a:lstStyle>
            <a:lvl1pPr>
              <a:defRPr>
                <a:solidFill>
                  <a:schemeClr val="tx1"/>
                </a:solidFill>
              </a:defRPr>
            </a:lvl1pPr>
          </a:lstStyle>
          <a:p>
            <a:fld id="{86CB4B4D-7CA3-9044-876B-883B54F8677D}" type="slidenum">
              <a:rPr lang="en-US" smtClean="0"/>
            </a:fld>
            <a:endParaRPr lang="en-US"/>
          </a:p>
        </p:txBody>
      </p:sp>
    </p:spTree>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lack Title &amp; Subtitle + Photo">
    <p:bg>
      <p:bgPr>
        <a:solidFill>
          <a:schemeClr val="tx1"/>
        </a:solidFill>
        <a:effectLst/>
      </p:bgPr>
    </p:bg>
    <p:spTree>
      <p:nvGrpSpPr>
        <p:cNvPr id="1" name=""/>
        <p:cNvGrpSpPr/>
        <p:nvPr/>
      </p:nvGrpSpPr>
      <p:grpSpPr>
        <a:xfrm>
          <a:off x="0" y="0"/>
          <a:ext cx="0" cy="0"/>
          <a:chOff x="0" y="0"/>
          <a:chExt cx="0" cy="0"/>
        </a:xfrm>
      </p:grpSpPr>
    </p:spTree>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matchingName="1_Main Title &amp; Subtitle">
  <p:cSld name="1_Main Title &amp; Subtitle">
    <p:bg>
      <p:bgPr>
        <a:solidFill>
          <a:schemeClr val="bg1"/>
        </a:solidFill>
        <a:effectLst/>
      </p:bgPr>
    </p:bg>
    <p:spTree>
      <p:nvGrpSpPr>
        <p:cNvPr id="1" name="Shape 13"/>
        <p:cNvGrpSpPr/>
        <p:nvPr/>
      </p:nvGrpSpPr>
      <p:grpSpPr>
        <a:xfrm>
          <a:off x="0" y="0"/>
          <a:ext cx="0" cy="0"/>
          <a:chOff x="0" y="0"/>
          <a:chExt cx="0" cy="0"/>
        </a:xfrm>
      </p:grpSpPr>
      <p:sp>
        <p:nvSpPr>
          <p:cNvPr id="11" name="Text Placeholder 3"/>
          <p:cNvSpPr>
            <a:spLocks noGrp="1"/>
          </p:cNvSpPr>
          <p:nvPr>
            <p:ph type="body" sz="half" idx="2" hasCustomPrompt="1"/>
          </p:nvPr>
        </p:nvSpPr>
        <p:spPr>
          <a:xfrm>
            <a:off x="517093" y="885781"/>
            <a:ext cx="11157817" cy="231007"/>
          </a:xfrm>
          <a:prstGeom prst="rect">
            <a:avLst/>
          </a:prstGeom>
        </p:spPr>
        <p:txBody>
          <a:bodyPr wrap="none" lIns="0" tIns="0" rIns="0" bIns="0" anchor="ctr">
            <a:noAutofit/>
          </a:bodyPr>
          <a:lstStyle>
            <a:lvl1pPr marL="0" indent="0" algn="ctr">
              <a:buNone/>
              <a:defRPr sz="1335" b="0" baseline="0">
                <a:solidFill>
                  <a:schemeClr val="tx1">
                    <a:lumMod val="90000"/>
                    <a:lumOff val="10000"/>
                  </a:schemeClr>
                </a:solidFill>
                <a:latin typeface="+mn-lt"/>
                <a:ea typeface="Roboto" panose="02000000000000000000" pitchFamily="2" charset="0"/>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6565" indent="0">
              <a:buNone/>
              <a:defRPr sz="1200"/>
            </a:lvl8pPr>
            <a:lvl9pPr marL="4876165" indent="0">
              <a:buNone/>
              <a:defRPr sz="1200"/>
            </a:lvl9pPr>
          </a:lstStyle>
          <a:p>
            <a:pPr lvl="0"/>
            <a:r>
              <a:rPr lang="en-US" dirty="0"/>
              <a:t>CLICK TO EDITE SUBTITLE</a:t>
            </a:r>
            <a:endParaRPr lang="en-US" dirty="0"/>
          </a:p>
        </p:txBody>
      </p:sp>
      <p:sp>
        <p:nvSpPr>
          <p:cNvPr id="12" name="Title 2"/>
          <p:cNvSpPr>
            <a:spLocks noGrp="1"/>
          </p:cNvSpPr>
          <p:nvPr>
            <p:ph type="title"/>
          </p:nvPr>
        </p:nvSpPr>
        <p:spPr>
          <a:xfrm>
            <a:off x="517093" y="208855"/>
            <a:ext cx="11157817" cy="660511"/>
          </a:xfrm>
          <a:prstGeom prst="rect">
            <a:avLst/>
          </a:prstGeom>
        </p:spPr>
        <p:txBody>
          <a:bodyPr lIns="0" tIns="0" rIns="0" bIns="0" anchor="ctr"/>
          <a:lstStyle>
            <a:lvl1pPr algn="ctr">
              <a:defRPr sz="3465">
                <a:solidFill>
                  <a:schemeClr val="tx1">
                    <a:lumMod val="90000"/>
                    <a:lumOff val="10000"/>
                  </a:schemeClr>
                </a:solidFill>
                <a:latin typeface="+mj-lt"/>
              </a:defRPr>
            </a:lvl1pPr>
          </a:lstStyle>
          <a:p>
            <a:r>
              <a:rPr lang="en-US"/>
              <a:t>Click to edit Master title style</a:t>
            </a:r>
            <a:endParaRPr lang="en-US" dirty="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VC">
    <p:spTree>
      <p:nvGrpSpPr>
        <p:cNvPr id="1" name=""/>
        <p:cNvGrpSpPr/>
        <p:nvPr/>
      </p:nvGrpSpPr>
      <p:grpSpPr>
        <a:xfrm>
          <a:off x="0" y="0"/>
          <a:ext cx="0" cy="0"/>
          <a:chOff x="0" y="0"/>
          <a:chExt cx="0" cy="0"/>
        </a:xfrm>
      </p:grpSpPr>
      <p:sp>
        <p:nvSpPr>
          <p:cNvPr id="4" name="Text Placeholder 3"/>
          <p:cNvSpPr>
            <a:spLocks noGrp="1"/>
          </p:cNvSpPr>
          <p:nvPr>
            <p:ph type="body" sz="half" idx="2" hasCustomPrompt="1"/>
          </p:nvPr>
        </p:nvSpPr>
        <p:spPr>
          <a:xfrm>
            <a:off x="517092" y="884975"/>
            <a:ext cx="11157817" cy="199546"/>
          </a:xfrm>
          <a:prstGeom prst="rect">
            <a:avLst/>
          </a:prstGeom>
        </p:spPr>
        <p:txBody>
          <a:bodyPr wrap="none" lIns="0" tIns="0" rIns="0" bIns="0" anchor="ctr">
            <a:noAutofit/>
          </a:bodyPr>
          <a:lstStyle>
            <a:lvl1pPr marL="0" indent="0" algn="l">
              <a:buNone/>
              <a:defRPr sz="1400" b="0" baseline="0">
                <a:solidFill>
                  <a:schemeClr val="tx1">
                    <a:lumMod val="50000"/>
                    <a:lumOff val="50000"/>
                  </a:schemeClr>
                </a:solidFill>
                <a:latin typeface="+mn-lt"/>
                <a:ea typeface="Roboto" panose="02000000000000000000" pitchFamily="2" charset="0"/>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dirty="0"/>
              <a:t>CLICK TO EDITE SUBTITLE</a:t>
            </a:r>
            <a:endParaRPr lang="en-US" dirty="0"/>
          </a:p>
        </p:txBody>
      </p:sp>
      <p:sp>
        <p:nvSpPr>
          <p:cNvPr id="5" name="Title 2"/>
          <p:cNvSpPr>
            <a:spLocks noGrp="1"/>
          </p:cNvSpPr>
          <p:nvPr>
            <p:ph type="title"/>
          </p:nvPr>
        </p:nvSpPr>
        <p:spPr>
          <a:xfrm>
            <a:off x="517092" y="382773"/>
            <a:ext cx="11157817" cy="445500"/>
          </a:xfrm>
          <a:prstGeom prst="rect">
            <a:avLst/>
          </a:prstGeom>
        </p:spPr>
        <p:txBody>
          <a:bodyPr lIns="0" tIns="0" rIns="0" bIns="0" anchor="ctr"/>
          <a:lstStyle>
            <a:lvl1pPr algn="l">
              <a:defRPr sz="2800" b="1">
                <a:solidFill>
                  <a:schemeClr val="tx1">
                    <a:lumMod val="75000"/>
                    <a:lumOff val="25000"/>
                  </a:schemeClr>
                </a:solidFill>
                <a:latin typeface="+mn-lt"/>
              </a:defRPr>
            </a:lvl1pPr>
          </a:lstStyle>
          <a:p>
            <a:r>
              <a:rPr lang="en-US" dirty="0"/>
              <a:t>Click to edit Master title style</a:t>
            </a:r>
            <a:endParaRPr lang="en-US" dirty="0"/>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Picture Placeholder 8"/>
          <p:cNvSpPr>
            <a:spLocks noGrp="1"/>
          </p:cNvSpPr>
          <p:nvPr>
            <p:ph type="pic" sz="quarter" idx="10"/>
          </p:nvPr>
        </p:nvSpPr>
        <p:spPr>
          <a:xfrm>
            <a:off x="572158" y="2347307"/>
            <a:ext cx="2743201" cy="1759550"/>
          </a:xfrm>
          <a:prstGeom prst="rect">
            <a:avLst/>
          </a:prstGeom>
          <a:pattFill prst="dotGrid">
            <a:fgClr>
              <a:srgbClr val="C00000"/>
            </a:fgClr>
            <a:bgClr>
              <a:schemeClr val="bg1"/>
            </a:bgClr>
          </a:pattFill>
        </p:spPr>
        <p:txBody>
          <a:bodyPr/>
          <a:lstStyle/>
          <a:p>
            <a:endParaRPr lang="en-US" dirty="0"/>
          </a:p>
        </p:txBody>
      </p:sp>
      <p:sp>
        <p:nvSpPr>
          <p:cNvPr id="5" name="Picture Placeholder 8"/>
          <p:cNvSpPr>
            <a:spLocks noGrp="1"/>
          </p:cNvSpPr>
          <p:nvPr>
            <p:ph type="pic" sz="quarter" idx="11"/>
          </p:nvPr>
        </p:nvSpPr>
        <p:spPr>
          <a:xfrm>
            <a:off x="3643533" y="2347307"/>
            <a:ext cx="7976308" cy="1759550"/>
          </a:xfrm>
          <a:prstGeom prst="rect">
            <a:avLst/>
          </a:prstGeom>
          <a:pattFill prst="dotGrid">
            <a:fgClr>
              <a:srgbClr val="C00000"/>
            </a:fgClr>
            <a:bgClr>
              <a:schemeClr val="bg1"/>
            </a:bgClr>
          </a:pattFill>
        </p:spPr>
        <p:txBody>
          <a:bodyPr/>
          <a:lstStyle/>
          <a:p>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vmlDrawing" Target="../drawings/vmlDrawing1.vml"/><Relationship Id="rId14" Type="http://schemas.openxmlformats.org/officeDocument/2006/relationships/image" Target="../media/image1.emf"/><Relationship Id="rId13" Type="http://schemas.openxmlformats.org/officeDocument/2006/relationships/oleObject" Target="../embeddings/oleObject1.bin"/><Relationship Id="rId12" Type="http://schemas.openxmlformats.org/officeDocument/2006/relationships/tags" Target="../tags/tag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9" Type="http://schemas.openxmlformats.org/officeDocument/2006/relationships/theme" Target="../theme/theme2.xml"/><Relationship Id="rId28" Type="http://schemas.openxmlformats.org/officeDocument/2006/relationships/vmlDrawing" Target="../drawings/vmlDrawing2.vml"/><Relationship Id="rId27" Type="http://schemas.openxmlformats.org/officeDocument/2006/relationships/image" Target="../media/image1.emf"/><Relationship Id="rId26" Type="http://schemas.openxmlformats.org/officeDocument/2006/relationships/oleObject" Target="../embeddings/oleObject2.bin"/><Relationship Id="rId25" Type="http://schemas.openxmlformats.org/officeDocument/2006/relationships/tags" Target="../tags/tag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0" Type="http://schemas.openxmlformats.org/officeDocument/2006/relationships/slideLayout" Target="../slideLayouts/slideLayout31.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44.xml"/><Relationship Id="rId8" Type="http://schemas.openxmlformats.org/officeDocument/2006/relationships/slideLayout" Target="../slideLayouts/slideLayout43.xml"/><Relationship Id="rId7" Type="http://schemas.openxmlformats.org/officeDocument/2006/relationships/slideLayout" Target="../slideLayouts/slideLayout42.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 Id="rId3" Type="http://schemas.openxmlformats.org/officeDocument/2006/relationships/slideLayout" Target="../slideLayouts/slideLayout38.xml"/><Relationship Id="rId29" Type="http://schemas.openxmlformats.org/officeDocument/2006/relationships/theme" Target="../theme/theme3.xml"/><Relationship Id="rId28" Type="http://schemas.openxmlformats.org/officeDocument/2006/relationships/vmlDrawing" Target="../drawings/vmlDrawing3.vml"/><Relationship Id="rId27" Type="http://schemas.openxmlformats.org/officeDocument/2006/relationships/image" Target="../media/image1.emf"/><Relationship Id="rId26" Type="http://schemas.openxmlformats.org/officeDocument/2006/relationships/oleObject" Target="../embeddings/oleObject3.bin"/><Relationship Id="rId25" Type="http://schemas.openxmlformats.org/officeDocument/2006/relationships/tags" Target="../tags/tag3.xml"/><Relationship Id="rId24" Type="http://schemas.openxmlformats.org/officeDocument/2006/relationships/slideLayout" Target="../slideLayouts/slideLayout59.xml"/><Relationship Id="rId23" Type="http://schemas.openxmlformats.org/officeDocument/2006/relationships/slideLayout" Target="../slideLayouts/slideLayout58.xml"/><Relationship Id="rId22" Type="http://schemas.openxmlformats.org/officeDocument/2006/relationships/slideLayout" Target="../slideLayouts/slideLayout57.xml"/><Relationship Id="rId21" Type="http://schemas.openxmlformats.org/officeDocument/2006/relationships/slideLayout" Target="../slideLayouts/slideLayout56.xml"/><Relationship Id="rId20" Type="http://schemas.openxmlformats.org/officeDocument/2006/relationships/slideLayout" Target="../slideLayouts/slideLayout55.xml"/><Relationship Id="rId2" Type="http://schemas.openxmlformats.org/officeDocument/2006/relationships/slideLayout" Target="../slideLayouts/slideLayout37.xml"/><Relationship Id="rId19" Type="http://schemas.openxmlformats.org/officeDocument/2006/relationships/slideLayout" Target="../slideLayouts/slideLayout54.xml"/><Relationship Id="rId18" Type="http://schemas.openxmlformats.org/officeDocument/2006/relationships/slideLayout" Target="../slideLayouts/slideLayout53.xml"/><Relationship Id="rId17" Type="http://schemas.openxmlformats.org/officeDocument/2006/relationships/slideLayout" Target="../slideLayouts/slideLayout52.xml"/><Relationship Id="rId16" Type="http://schemas.openxmlformats.org/officeDocument/2006/relationships/slideLayout" Target="../slideLayouts/slideLayout51.xml"/><Relationship Id="rId15" Type="http://schemas.openxmlformats.org/officeDocument/2006/relationships/slideLayout" Target="../slideLayouts/slideLayout50.xml"/><Relationship Id="rId14" Type="http://schemas.openxmlformats.org/officeDocument/2006/relationships/slideLayout" Target="../slideLayouts/slideLayout49.xml"/><Relationship Id="rId13" Type="http://schemas.openxmlformats.org/officeDocument/2006/relationships/slideLayout" Target="../slideLayouts/slideLayout48.xml"/><Relationship Id="rId12" Type="http://schemas.openxmlformats.org/officeDocument/2006/relationships/slideLayout" Target="../slideLayouts/slideLayout47.xml"/><Relationship Id="rId11" Type="http://schemas.openxmlformats.org/officeDocument/2006/relationships/slideLayout" Target="../slideLayouts/slideLayout46.xml"/><Relationship Id="rId10" Type="http://schemas.openxmlformats.org/officeDocument/2006/relationships/slideLayout" Target="../slideLayouts/slideLayout45.xml"/><Relationship Id="rId1"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68.xml"/><Relationship Id="rId8" Type="http://schemas.openxmlformats.org/officeDocument/2006/relationships/slideLayout" Target="../slideLayouts/slideLayout67.xml"/><Relationship Id="rId7" Type="http://schemas.openxmlformats.org/officeDocument/2006/relationships/slideLayout" Target="../slideLayouts/slideLayout66.xml"/><Relationship Id="rId6" Type="http://schemas.openxmlformats.org/officeDocument/2006/relationships/slideLayout" Target="../slideLayouts/slideLayout65.xml"/><Relationship Id="rId5" Type="http://schemas.openxmlformats.org/officeDocument/2006/relationships/slideLayout" Target="../slideLayouts/slideLayout64.xml"/><Relationship Id="rId4" Type="http://schemas.openxmlformats.org/officeDocument/2006/relationships/slideLayout" Target="../slideLayouts/slideLayout63.xml"/><Relationship Id="rId3" Type="http://schemas.openxmlformats.org/officeDocument/2006/relationships/slideLayout" Target="../slideLayouts/slideLayout62.xml"/><Relationship Id="rId29" Type="http://schemas.openxmlformats.org/officeDocument/2006/relationships/theme" Target="../theme/theme4.xml"/><Relationship Id="rId28" Type="http://schemas.openxmlformats.org/officeDocument/2006/relationships/vmlDrawing" Target="../drawings/vmlDrawing4.vml"/><Relationship Id="rId27" Type="http://schemas.openxmlformats.org/officeDocument/2006/relationships/image" Target="../media/image1.emf"/><Relationship Id="rId26" Type="http://schemas.openxmlformats.org/officeDocument/2006/relationships/oleObject" Target="../embeddings/oleObject4.bin"/><Relationship Id="rId25" Type="http://schemas.openxmlformats.org/officeDocument/2006/relationships/tags" Target="../tags/tag4.xml"/><Relationship Id="rId24" Type="http://schemas.openxmlformats.org/officeDocument/2006/relationships/slideLayout" Target="../slideLayouts/slideLayout83.xml"/><Relationship Id="rId23" Type="http://schemas.openxmlformats.org/officeDocument/2006/relationships/slideLayout" Target="../slideLayouts/slideLayout82.xml"/><Relationship Id="rId22" Type="http://schemas.openxmlformats.org/officeDocument/2006/relationships/slideLayout" Target="../slideLayouts/slideLayout81.xml"/><Relationship Id="rId21" Type="http://schemas.openxmlformats.org/officeDocument/2006/relationships/slideLayout" Target="../slideLayouts/slideLayout80.xml"/><Relationship Id="rId20" Type="http://schemas.openxmlformats.org/officeDocument/2006/relationships/slideLayout" Target="../slideLayouts/slideLayout79.xml"/><Relationship Id="rId2" Type="http://schemas.openxmlformats.org/officeDocument/2006/relationships/slideLayout" Target="../slideLayouts/slideLayout61.xml"/><Relationship Id="rId19" Type="http://schemas.openxmlformats.org/officeDocument/2006/relationships/slideLayout" Target="../slideLayouts/slideLayout78.xml"/><Relationship Id="rId18" Type="http://schemas.openxmlformats.org/officeDocument/2006/relationships/slideLayout" Target="../slideLayouts/slideLayout77.xml"/><Relationship Id="rId17" Type="http://schemas.openxmlformats.org/officeDocument/2006/relationships/slideLayout" Target="../slideLayouts/slideLayout76.xml"/><Relationship Id="rId16" Type="http://schemas.openxmlformats.org/officeDocument/2006/relationships/slideLayout" Target="../slideLayouts/slideLayout75.xml"/><Relationship Id="rId15" Type="http://schemas.openxmlformats.org/officeDocument/2006/relationships/slideLayout" Target="../slideLayouts/slideLayout74.xml"/><Relationship Id="rId14" Type="http://schemas.openxmlformats.org/officeDocument/2006/relationships/slideLayout" Target="../slideLayouts/slideLayout73.xml"/><Relationship Id="rId13" Type="http://schemas.openxmlformats.org/officeDocument/2006/relationships/slideLayout" Target="../slideLayouts/slideLayout72.xml"/><Relationship Id="rId12" Type="http://schemas.openxmlformats.org/officeDocument/2006/relationships/slideLayout" Target="../slideLayouts/slideLayout71.xml"/><Relationship Id="rId11" Type="http://schemas.openxmlformats.org/officeDocument/2006/relationships/slideLayout" Target="../slideLayouts/slideLayout70.xml"/><Relationship Id="rId10" Type="http://schemas.openxmlformats.org/officeDocument/2006/relationships/slideLayout" Target="../slideLayouts/slideLayout69.xml"/><Relationship Id="rId1"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p:cNvGraphicFramePr/>
          <p:nvPr userDrawn="1">
            <p:custDataLst>
              <p:tags r:id="rId1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13" imgW="3810" imgH="3810" progId="TCLayout.ActiveDocument.1">
                  <p:embed/>
                </p:oleObj>
              </mc:Choice>
              <mc:Fallback>
                <p:oleObj name="think-cell 幻灯片" r:id="rId13" imgW="3810" imgH="3810" progId="TCLayout.ActiveDocument.1">
                  <p:embed/>
                  <p:pic>
                    <p:nvPicPr>
                      <p:cNvPr id="0" name="think-cell data - do not delete" hidden="1"/>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3"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4" name="文本占位符 3"/>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2F1C1D-C787-47B3-A660-29634432BD77}" type="datetimeFigureOut">
              <a:rPr lang="zh-CN" altLang="en-US" smtClean="0"/>
            </a:fld>
            <a:endParaRPr lang="zh-CN" altLang="en-US"/>
          </a:p>
        </p:txBody>
      </p:sp>
      <p:sp>
        <p:nvSpPr>
          <p:cNvPr id="6" name="页脚占位符 5"/>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8" name="灯片编号占位符 7"/>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4B974C-6928-4145-AF2A-8D2B4FACF35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graphicFrame>
        <p:nvGraphicFramePr>
          <p:cNvPr id="2" name="think-cell data - do not delete"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 name="think-cell 幻灯片" r:id="rId26" imgW="3810" imgH="3810" progId="TCLayout.ActiveDocument.1">
                  <p:embed/>
                </p:oleObj>
              </mc:Choice>
              <mc:Fallback>
                <p:oleObj name="think-cell 幻灯片" r:id="rId26" imgW="3810" imgH="3810" progId="TCLayout.ActiveDocument.1">
                  <p:embed/>
                  <p:pic>
                    <p:nvPicPr>
                      <p:cNvPr id="0" name="think-cell data - do not delete" hidden="1"/>
                      <p:cNvPicPr/>
                      <p:nvPr/>
                    </p:nvPicPr>
                    <p:blipFill>
                      <a:blip r:embed="rId27"/>
                      <a:stretch>
                        <a:fillRect/>
                      </a:stretch>
                    </p:blipFill>
                    <p:spPr>
                      <a:xfrm>
                        <a:off x="1588" y="1588"/>
                        <a:ext cx="1588" cy="1588"/>
                      </a:xfrm>
                      <a:prstGeom prst="rect">
                        <a:avLst/>
                      </a:prstGeom>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graphicFrame>
        <p:nvGraphicFramePr>
          <p:cNvPr id="3" name="think-cell data - do not delete"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26" imgW="3810" imgH="3810" progId="TCLayout.ActiveDocument.1">
                  <p:embed/>
                </p:oleObj>
              </mc:Choice>
              <mc:Fallback>
                <p:oleObj name="think-cell 幻灯片" r:id="rId26" imgW="3810" imgH="3810" progId="TCLayout.ActiveDocument.1">
                  <p:embed/>
                  <p:pic>
                    <p:nvPicPr>
                      <p:cNvPr id="0" name="图片 1"/>
                      <p:cNvPicPr/>
                      <p:nvPr/>
                    </p:nvPicPr>
                    <p:blipFill>
                      <a:blip r:embed="rId27"/>
                      <a:stretch>
                        <a:fillRect/>
                      </a:stretch>
                    </p:blipFill>
                    <p:spPr>
                      <a:xfrm>
                        <a:off x="1588" y="1588"/>
                        <a:ext cx="1588" cy="1588"/>
                      </a:xfrm>
                      <a:prstGeom prst="rect">
                        <a:avLst/>
                      </a:prstGeom>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graphicFrame>
        <p:nvGraphicFramePr>
          <p:cNvPr id="2" name="think-cell data - do not delete"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 name="think-cell 幻灯片" r:id="rId26" imgW="3810" imgH="3810" progId="TCLayout.ActiveDocument.1">
                  <p:embed/>
                </p:oleObj>
              </mc:Choice>
              <mc:Fallback>
                <p:oleObj name="think-cell 幻灯片" r:id="rId26" imgW="3810" imgH="3810" progId="TCLayout.ActiveDocument.1">
                  <p:embed/>
                  <p:pic>
                    <p:nvPicPr>
                      <p:cNvPr id="0" name="图片 2"/>
                      <p:cNvPicPr/>
                      <p:nvPr/>
                    </p:nvPicPr>
                    <p:blipFill>
                      <a:blip r:embed="rId27"/>
                      <a:stretch>
                        <a:fillRect/>
                      </a:stretch>
                    </p:blipFill>
                    <p:spPr>
                      <a:xfrm>
                        <a:off x="1588" y="1588"/>
                        <a:ext cx="1588" cy="1588"/>
                      </a:xfrm>
                      <a:prstGeom prst="rect">
                        <a:avLst/>
                      </a:prstGeom>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3" Type="http://schemas.openxmlformats.org/officeDocument/2006/relationships/slideLayout" Target="../slideLayouts/slideLayout7.xml"/><Relationship Id="rId22" Type="http://schemas.openxmlformats.org/officeDocument/2006/relationships/tags" Target="../tags/tag24.xml"/><Relationship Id="rId21" Type="http://schemas.openxmlformats.org/officeDocument/2006/relationships/tags" Target="../tags/tag23.xml"/><Relationship Id="rId20" Type="http://schemas.openxmlformats.org/officeDocument/2006/relationships/tags" Target="../tags/tag22.xml"/><Relationship Id="rId2" Type="http://schemas.openxmlformats.org/officeDocument/2006/relationships/image" Target="../media/image2.png"/><Relationship Id="rId19" Type="http://schemas.openxmlformats.org/officeDocument/2006/relationships/tags" Target="../tags/tag21.xml"/><Relationship Id="rId18" Type="http://schemas.openxmlformats.org/officeDocument/2006/relationships/tags" Target="../tags/tag20.xml"/><Relationship Id="rId17" Type="http://schemas.openxmlformats.org/officeDocument/2006/relationships/tags" Target="../tags/tag19.xml"/><Relationship Id="rId16" Type="http://schemas.openxmlformats.org/officeDocument/2006/relationships/tags" Target="../tags/tag18.xml"/><Relationship Id="rId15" Type="http://schemas.openxmlformats.org/officeDocument/2006/relationships/tags" Target="../tags/tag17.xml"/><Relationship Id="rId14" Type="http://schemas.openxmlformats.org/officeDocument/2006/relationships/tags" Target="../tags/tag16.xml"/><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chart" Target="../charts/chart1.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vmlDrawing" Target="../drawings/vmlDrawing5.vml"/><Relationship Id="rId5" Type="http://schemas.openxmlformats.org/officeDocument/2006/relationships/slideLayout" Target="../slideLayouts/slideLayout7.xml"/><Relationship Id="rId4" Type="http://schemas.openxmlformats.org/officeDocument/2006/relationships/image" Target="../media/image3.png"/><Relationship Id="rId3" Type="http://schemas.openxmlformats.org/officeDocument/2006/relationships/image" Target="../media/image1.emf"/><Relationship Id="rId2" Type="http://schemas.openxmlformats.org/officeDocument/2006/relationships/oleObject" Target="../embeddings/oleObject5.bin"/><Relationship Id="rId1" Type="http://schemas.openxmlformats.org/officeDocument/2006/relationships/tags" Target="../tags/tag25.xml"/></Relationships>
</file>

<file path=ppt/slides/_rels/slide3.xml.rels><?xml version="1.0" encoding="UTF-8" standalone="yes"?>
<Relationships xmlns="http://schemas.openxmlformats.org/package/2006/relationships"><Relationship Id="rId9" Type="http://schemas.openxmlformats.org/officeDocument/2006/relationships/image" Target="../media/image8.jpeg"/><Relationship Id="rId8" Type="http://schemas.openxmlformats.org/officeDocument/2006/relationships/image" Target="../media/image7.png"/><Relationship Id="rId7" Type="http://schemas.openxmlformats.org/officeDocument/2006/relationships/image" Target="../media/image6.jpeg"/><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image" Target="../media/image5.png"/><Relationship Id="rId3" Type="http://www.wps.cn/officeDocument/2018/webExtension" Target="../webExtensions/webExtension1.xml" TargetMode="External"/><Relationship Id="rId2" Type="http://www.wps.cn/officeDocument/2018/webExtension" Target="../webExtensions/webExtension1.xml"/><Relationship Id="rId15" Type="http://schemas.openxmlformats.org/officeDocument/2006/relationships/notesSlide" Target="../notesSlides/notesSlide2.xml"/><Relationship Id="rId14" Type="http://schemas.openxmlformats.org/officeDocument/2006/relationships/slideLayout" Target="../slideLayouts/slideLayout2.xml"/><Relationship Id="rId13" Type="http://schemas.openxmlformats.org/officeDocument/2006/relationships/tags" Target="../tags/tag28.xml"/><Relationship Id="rId12" Type="http://schemas.openxmlformats.org/officeDocument/2006/relationships/image" Target="../media/image11.png"/><Relationship Id="rId11" Type="http://schemas.openxmlformats.org/officeDocument/2006/relationships/image" Target="../media/image10.jpeg"/><Relationship Id="rId10" Type="http://schemas.openxmlformats.org/officeDocument/2006/relationships/image" Target="../media/image9.png"/><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image" Target="../media/image1.emf"/><Relationship Id="rId3" Type="http://schemas.openxmlformats.org/officeDocument/2006/relationships/oleObject" Target="../embeddings/oleObject6.bin"/><Relationship Id="rId27" Type="http://schemas.openxmlformats.org/officeDocument/2006/relationships/notesSlide" Target="../notesSlides/notesSlide3.xml"/><Relationship Id="rId26" Type="http://schemas.openxmlformats.org/officeDocument/2006/relationships/vmlDrawing" Target="../drawings/vmlDrawing6.vml"/><Relationship Id="rId25" Type="http://schemas.openxmlformats.org/officeDocument/2006/relationships/slideLayout" Target="../slideLayouts/slideLayout7.xml"/><Relationship Id="rId24" Type="http://schemas.openxmlformats.org/officeDocument/2006/relationships/image" Target="../media/image13.png"/><Relationship Id="rId23" Type="http://schemas.openxmlformats.org/officeDocument/2006/relationships/image" Target="../media/image12.png"/><Relationship Id="rId22" Type="http://schemas.openxmlformats.org/officeDocument/2006/relationships/tags" Target="../tags/tag47.xml"/><Relationship Id="rId21" Type="http://schemas.openxmlformats.org/officeDocument/2006/relationships/tags" Target="../tags/tag46.xml"/><Relationship Id="rId20" Type="http://schemas.openxmlformats.org/officeDocument/2006/relationships/tags" Target="../tags/tag45.xml"/><Relationship Id="rId2" Type="http://schemas.openxmlformats.org/officeDocument/2006/relationships/tags" Target="../tags/tag29.xml"/><Relationship Id="rId19" Type="http://schemas.openxmlformats.org/officeDocument/2006/relationships/tags" Target="../tags/tag44.xml"/><Relationship Id="rId18" Type="http://schemas.openxmlformats.org/officeDocument/2006/relationships/tags" Target="../tags/tag43.xml"/><Relationship Id="rId17" Type="http://schemas.openxmlformats.org/officeDocument/2006/relationships/tags" Target="../tags/tag42.xml"/><Relationship Id="rId16" Type="http://schemas.openxmlformats.org/officeDocument/2006/relationships/tags" Target="../tags/tag41.xml"/><Relationship Id="rId15" Type="http://schemas.openxmlformats.org/officeDocument/2006/relationships/tags" Target="../tags/tag40.xml"/><Relationship Id="rId14" Type="http://schemas.openxmlformats.org/officeDocument/2006/relationships/tags" Target="../tags/tag39.xml"/><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chart" Target="../charts/chart2.xml"/></Relationships>
</file>

<file path=ppt/slides/_rels/slide5.xml.rels><?xml version="1.0" encoding="UTF-8" standalone="yes"?>
<Relationships xmlns="http://schemas.openxmlformats.org/package/2006/relationships"><Relationship Id="rId9" Type="http://schemas.openxmlformats.org/officeDocument/2006/relationships/vmlDrawing" Target="../drawings/vmlDrawing7.vml"/><Relationship Id="rId8" Type="http://schemas.openxmlformats.org/officeDocument/2006/relationships/slideLayout" Target="../slideLayouts/slideLayout7.xml"/><Relationship Id="rId7" Type="http://schemas.openxmlformats.org/officeDocument/2006/relationships/image" Target="../media/image15.png"/><Relationship Id="rId6" Type="http://schemas.openxmlformats.org/officeDocument/2006/relationships/image" Target="../media/image14.png"/><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image" Target="../media/image1.emf"/><Relationship Id="rId2" Type="http://schemas.openxmlformats.org/officeDocument/2006/relationships/oleObject" Target="../embeddings/oleObject7.bin"/><Relationship Id="rId10" Type="http://schemas.openxmlformats.org/officeDocument/2006/relationships/notesSlide" Target="../notesSlides/notesSlide4.xml"/><Relationship Id="rId1" Type="http://schemas.openxmlformats.org/officeDocument/2006/relationships/tags" Target="../tags/tag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图表 25"/>
          <p:cNvGraphicFramePr/>
          <p:nvPr/>
        </p:nvGraphicFramePr>
        <p:xfrm>
          <a:off x="1317625" y="4392930"/>
          <a:ext cx="5119370" cy="2158365"/>
        </p:xfrm>
        <a:graphic>
          <a:graphicData uri="http://schemas.openxmlformats.org/drawingml/2006/chart">
            <c:chart xmlns:c="http://schemas.openxmlformats.org/drawingml/2006/chart" xmlns:r="http://schemas.openxmlformats.org/officeDocument/2006/relationships" r:id="rId1"/>
          </a:graphicData>
        </a:graphic>
      </p:graphicFrame>
      <p:pic>
        <p:nvPicPr>
          <p:cNvPr id="76" name="图片 75"/>
          <p:cNvPicPr>
            <a:picLocks noChangeAspect="1"/>
          </p:cNvPicPr>
          <p:nvPr/>
        </p:nvPicPr>
        <p:blipFill>
          <a:blip r:embed="rId2"/>
          <a:stretch>
            <a:fillRect/>
          </a:stretch>
        </p:blipFill>
        <p:spPr>
          <a:xfrm>
            <a:off x="1009650" y="1249680"/>
            <a:ext cx="2078355" cy="2251075"/>
          </a:xfrm>
          <a:prstGeom prst="rect">
            <a:avLst/>
          </a:prstGeom>
        </p:spPr>
      </p:pic>
      <p:sp>
        <p:nvSpPr>
          <p:cNvPr id="58" name="AutoShape 58"/>
          <p:cNvSpPr/>
          <p:nvPr/>
        </p:nvSpPr>
        <p:spPr>
          <a:xfrm>
            <a:off x="7708944" y="1142522"/>
            <a:ext cx="4424116" cy="19064"/>
          </a:xfrm>
          <a:prstGeom prst="line">
            <a:avLst/>
          </a:prstGeom>
          <a:ln w="9525" cap="rnd">
            <a:solidFill>
              <a:srgbClr val="E7E6E6"/>
            </a:solidFill>
            <a:prstDash val="solid"/>
            <a:headEnd type="none" w="sm" len="sm"/>
            <a:tailEnd type="none" w="sm" len="sm"/>
          </a:ln>
        </p:spPr>
      </p:sp>
      <p:grpSp>
        <p:nvGrpSpPr>
          <p:cNvPr id="2" name="Group 2"/>
          <p:cNvGrpSpPr/>
          <p:nvPr/>
        </p:nvGrpSpPr>
        <p:grpSpPr>
          <a:xfrm rot="0">
            <a:off x="934720" y="4126230"/>
            <a:ext cx="5829300" cy="2425700"/>
            <a:chOff x="0" y="0"/>
            <a:chExt cx="13587134" cy="6754025"/>
          </a:xfrm>
        </p:grpSpPr>
        <p:sp>
          <p:nvSpPr>
            <p:cNvPr id="3" name="Freeform 3"/>
            <p:cNvSpPr/>
            <p:nvPr/>
          </p:nvSpPr>
          <p:spPr>
            <a:xfrm>
              <a:off x="0" y="0"/>
              <a:ext cx="13587133" cy="6753987"/>
            </a:xfrm>
            <a:custGeom>
              <a:avLst/>
              <a:gdLst/>
              <a:ahLst/>
              <a:cxnLst/>
              <a:rect l="l" t="t" r="r" b="b"/>
              <a:pathLst>
                <a:path w="13587133" h="6753987">
                  <a:moveTo>
                    <a:pt x="14235" y="0"/>
                  </a:moveTo>
                  <a:lnTo>
                    <a:pt x="13572899" y="0"/>
                  </a:lnTo>
                  <a:cubicBezTo>
                    <a:pt x="13580757" y="0"/>
                    <a:pt x="13587133" y="7112"/>
                    <a:pt x="13587133" y="15875"/>
                  </a:cubicBezTo>
                  <a:lnTo>
                    <a:pt x="13587133" y="6738112"/>
                  </a:lnTo>
                  <a:cubicBezTo>
                    <a:pt x="13587133" y="6746875"/>
                    <a:pt x="13580757" y="6753987"/>
                    <a:pt x="13572899" y="6753987"/>
                  </a:cubicBezTo>
                  <a:lnTo>
                    <a:pt x="14235" y="6753987"/>
                  </a:lnTo>
                  <a:cubicBezTo>
                    <a:pt x="6377" y="6753987"/>
                    <a:pt x="0" y="6746875"/>
                    <a:pt x="0" y="6738112"/>
                  </a:cubicBezTo>
                  <a:lnTo>
                    <a:pt x="0" y="15875"/>
                  </a:lnTo>
                  <a:cubicBezTo>
                    <a:pt x="0" y="7112"/>
                    <a:pt x="6377" y="0"/>
                    <a:pt x="14235" y="0"/>
                  </a:cubicBezTo>
                  <a:moveTo>
                    <a:pt x="14235" y="31750"/>
                  </a:moveTo>
                  <a:lnTo>
                    <a:pt x="14235" y="15875"/>
                  </a:lnTo>
                  <a:lnTo>
                    <a:pt x="28470" y="15875"/>
                  </a:lnTo>
                  <a:lnTo>
                    <a:pt x="28470" y="6738112"/>
                  </a:lnTo>
                  <a:lnTo>
                    <a:pt x="14235" y="6738112"/>
                  </a:lnTo>
                  <a:lnTo>
                    <a:pt x="14235" y="6722237"/>
                  </a:lnTo>
                  <a:lnTo>
                    <a:pt x="13572899" y="6722237"/>
                  </a:lnTo>
                  <a:lnTo>
                    <a:pt x="13572899" y="6738112"/>
                  </a:lnTo>
                  <a:lnTo>
                    <a:pt x="13558664" y="6738112"/>
                  </a:lnTo>
                  <a:lnTo>
                    <a:pt x="13558664" y="15875"/>
                  </a:lnTo>
                  <a:lnTo>
                    <a:pt x="13572899" y="15875"/>
                  </a:lnTo>
                  <a:lnTo>
                    <a:pt x="13572899" y="31750"/>
                  </a:lnTo>
                  <a:lnTo>
                    <a:pt x="14235" y="31750"/>
                  </a:lnTo>
                  <a:close/>
                </a:path>
              </a:pathLst>
            </a:custGeom>
            <a:solidFill>
              <a:srgbClr val="305921"/>
            </a:solidFill>
          </p:spPr>
        </p:sp>
      </p:grpSp>
      <p:grpSp>
        <p:nvGrpSpPr>
          <p:cNvPr id="4" name="Group 4"/>
          <p:cNvGrpSpPr/>
          <p:nvPr/>
        </p:nvGrpSpPr>
        <p:grpSpPr>
          <a:xfrm rot="0">
            <a:off x="-6350" y="-6350"/>
            <a:ext cx="823582" cy="863841"/>
            <a:chOff x="0" y="0"/>
            <a:chExt cx="1647165" cy="1727683"/>
          </a:xfrm>
        </p:grpSpPr>
        <p:sp>
          <p:nvSpPr>
            <p:cNvPr id="5" name="Freeform 5"/>
            <p:cNvSpPr/>
            <p:nvPr/>
          </p:nvSpPr>
          <p:spPr>
            <a:xfrm>
              <a:off x="12700" y="12700"/>
              <a:ext cx="1621790" cy="1702308"/>
            </a:xfrm>
            <a:custGeom>
              <a:avLst/>
              <a:gdLst/>
              <a:ahLst/>
              <a:cxnLst/>
              <a:rect l="l" t="t" r="r" b="b"/>
              <a:pathLst>
                <a:path w="1621790" h="1702308">
                  <a:moveTo>
                    <a:pt x="0" y="0"/>
                  </a:moveTo>
                  <a:lnTo>
                    <a:pt x="1621790" y="0"/>
                  </a:lnTo>
                  <a:lnTo>
                    <a:pt x="1621790" y="1702308"/>
                  </a:lnTo>
                  <a:lnTo>
                    <a:pt x="0" y="1702308"/>
                  </a:lnTo>
                  <a:close/>
                </a:path>
              </a:pathLst>
            </a:custGeom>
            <a:solidFill>
              <a:srgbClr val="305921"/>
            </a:solidFill>
          </p:spPr>
        </p:sp>
        <p:sp>
          <p:nvSpPr>
            <p:cNvPr id="6" name="Freeform 6"/>
            <p:cNvSpPr/>
            <p:nvPr/>
          </p:nvSpPr>
          <p:spPr>
            <a:xfrm>
              <a:off x="0" y="0"/>
              <a:ext cx="1647190" cy="1727708"/>
            </a:xfrm>
            <a:custGeom>
              <a:avLst/>
              <a:gdLst/>
              <a:ahLst/>
              <a:cxnLst/>
              <a:rect l="l" t="t" r="r" b="b"/>
              <a:pathLst>
                <a:path w="1647190" h="1727708">
                  <a:moveTo>
                    <a:pt x="12700" y="0"/>
                  </a:moveTo>
                  <a:lnTo>
                    <a:pt x="1634490" y="0"/>
                  </a:lnTo>
                  <a:cubicBezTo>
                    <a:pt x="1641475" y="0"/>
                    <a:pt x="1647190" y="5715"/>
                    <a:pt x="1647190" y="12700"/>
                  </a:cubicBezTo>
                  <a:lnTo>
                    <a:pt x="1647190" y="1715008"/>
                  </a:lnTo>
                  <a:cubicBezTo>
                    <a:pt x="1647190" y="1721993"/>
                    <a:pt x="1641475" y="1727708"/>
                    <a:pt x="1634490" y="1727708"/>
                  </a:cubicBezTo>
                  <a:lnTo>
                    <a:pt x="12700" y="1727708"/>
                  </a:lnTo>
                  <a:cubicBezTo>
                    <a:pt x="5715" y="1727708"/>
                    <a:pt x="0" y="1721993"/>
                    <a:pt x="0" y="1715008"/>
                  </a:cubicBezTo>
                  <a:lnTo>
                    <a:pt x="0" y="12700"/>
                  </a:lnTo>
                  <a:cubicBezTo>
                    <a:pt x="0" y="5715"/>
                    <a:pt x="5715" y="0"/>
                    <a:pt x="12700" y="0"/>
                  </a:cubicBezTo>
                  <a:moveTo>
                    <a:pt x="12700" y="25400"/>
                  </a:moveTo>
                  <a:lnTo>
                    <a:pt x="12700" y="12700"/>
                  </a:lnTo>
                  <a:lnTo>
                    <a:pt x="25400" y="12700"/>
                  </a:lnTo>
                  <a:lnTo>
                    <a:pt x="25400" y="1715008"/>
                  </a:lnTo>
                  <a:lnTo>
                    <a:pt x="12700" y="1715008"/>
                  </a:lnTo>
                  <a:lnTo>
                    <a:pt x="12700" y="1702308"/>
                  </a:lnTo>
                  <a:lnTo>
                    <a:pt x="1634490" y="1702308"/>
                  </a:lnTo>
                  <a:lnTo>
                    <a:pt x="1634490" y="1715008"/>
                  </a:lnTo>
                  <a:lnTo>
                    <a:pt x="1621790" y="1715008"/>
                  </a:lnTo>
                  <a:lnTo>
                    <a:pt x="1621790" y="12700"/>
                  </a:lnTo>
                  <a:lnTo>
                    <a:pt x="1634490" y="12700"/>
                  </a:lnTo>
                  <a:lnTo>
                    <a:pt x="1634490" y="25400"/>
                  </a:lnTo>
                  <a:lnTo>
                    <a:pt x="12700" y="25400"/>
                  </a:lnTo>
                  <a:close/>
                </a:path>
              </a:pathLst>
            </a:custGeom>
            <a:solidFill>
              <a:srgbClr val="305921"/>
            </a:solidFill>
          </p:spPr>
        </p:sp>
      </p:grpSp>
      <p:sp>
        <p:nvSpPr>
          <p:cNvPr id="7" name="AutoShape 7"/>
          <p:cNvSpPr/>
          <p:nvPr/>
        </p:nvSpPr>
        <p:spPr>
          <a:xfrm>
            <a:off x="699135" y="3857625"/>
            <a:ext cx="6065520" cy="6985"/>
          </a:xfrm>
          <a:prstGeom prst="line">
            <a:avLst/>
          </a:prstGeom>
          <a:ln w="9525" cap="rnd">
            <a:solidFill>
              <a:srgbClr val="000000"/>
            </a:solidFill>
            <a:prstDash val="solid"/>
            <a:headEnd type="none" w="sm" len="sm"/>
            <a:tailEnd type="none" w="sm" len="sm"/>
          </a:ln>
        </p:spPr>
      </p:sp>
      <p:grpSp>
        <p:nvGrpSpPr>
          <p:cNvPr id="9" name="Group 9"/>
          <p:cNvGrpSpPr/>
          <p:nvPr/>
        </p:nvGrpSpPr>
        <p:grpSpPr>
          <a:xfrm rot="0">
            <a:off x="2451735" y="3973830"/>
            <a:ext cx="2850515" cy="384810"/>
            <a:chOff x="0" y="0"/>
            <a:chExt cx="4369874" cy="879723"/>
          </a:xfrm>
        </p:grpSpPr>
        <p:sp>
          <p:nvSpPr>
            <p:cNvPr id="10" name="Freeform 10"/>
            <p:cNvSpPr/>
            <p:nvPr/>
          </p:nvSpPr>
          <p:spPr>
            <a:xfrm>
              <a:off x="33693" y="6467"/>
              <a:ext cx="4302556" cy="866802"/>
            </a:xfrm>
            <a:custGeom>
              <a:avLst/>
              <a:gdLst/>
              <a:ahLst/>
              <a:cxnLst/>
              <a:rect l="l" t="t" r="r" b="b"/>
              <a:pathLst>
                <a:path w="4302556" h="866802">
                  <a:moveTo>
                    <a:pt x="0" y="0"/>
                  </a:moveTo>
                  <a:lnTo>
                    <a:pt x="4302556" y="0"/>
                  </a:lnTo>
                  <a:lnTo>
                    <a:pt x="4302556" y="866802"/>
                  </a:lnTo>
                  <a:lnTo>
                    <a:pt x="0" y="866802"/>
                  </a:lnTo>
                  <a:close/>
                </a:path>
              </a:pathLst>
            </a:custGeom>
            <a:solidFill>
              <a:srgbClr val="305921"/>
            </a:solidFill>
          </p:spPr>
        </p:sp>
        <p:sp>
          <p:nvSpPr>
            <p:cNvPr id="11" name="Freeform 11"/>
            <p:cNvSpPr/>
            <p:nvPr/>
          </p:nvSpPr>
          <p:spPr>
            <a:xfrm>
              <a:off x="0" y="0"/>
              <a:ext cx="4369900" cy="879748"/>
            </a:xfrm>
            <a:custGeom>
              <a:avLst/>
              <a:gdLst/>
              <a:ahLst/>
              <a:cxnLst/>
              <a:rect l="l" t="t" r="r" b="b"/>
              <a:pathLst>
                <a:path w="4369900" h="879748">
                  <a:moveTo>
                    <a:pt x="33693" y="0"/>
                  </a:moveTo>
                  <a:lnTo>
                    <a:pt x="4336249" y="0"/>
                  </a:lnTo>
                  <a:cubicBezTo>
                    <a:pt x="4354780" y="0"/>
                    <a:pt x="4369900" y="2910"/>
                    <a:pt x="4369900" y="6467"/>
                  </a:cubicBezTo>
                  <a:lnTo>
                    <a:pt x="4369900" y="873269"/>
                  </a:lnTo>
                  <a:cubicBezTo>
                    <a:pt x="4369900" y="876826"/>
                    <a:pt x="4354780" y="879748"/>
                    <a:pt x="4336249" y="879748"/>
                  </a:cubicBezTo>
                  <a:lnTo>
                    <a:pt x="33693" y="879748"/>
                  </a:lnTo>
                  <a:cubicBezTo>
                    <a:pt x="15162" y="879748"/>
                    <a:pt x="0" y="876826"/>
                    <a:pt x="0" y="873269"/>
                  </a:cubicBezTo>
                  <a:lnTo>
                    <a:pt x="0" y="6467"/>
                  </a:lnTo>
                  <a:cubicBezTo>
                    <a:pt x="0" y="2910"/>
                    <a:pt x="15162" y="0"/>
                    <a:pt x="33693" y="0"/>
                  </a:cubicBezTo>
                  <a:moveTo>
                    <a:pt x="33693" y="12933"/>
                  </a:moveTo>
                  <a:lnTo>
                    <a:pt x="33693" y="6467"/>
                  </a:lnTo>
                  <a:lnTo>
                    <a:pt x="67385" y="6467"/>
                  </a:lnTo>
                  <a:lnTo>
                    <a:pt x="67385" y="873269"/>
                  </a:lnTo>
                  <a:lnTo>
                    <a:pt x="33693" y="873269"/>
                  </a:lnTo>
                  <a:lnTo>
                    <a:pt x="33693" y="866802"/>
                  </a:lnTo>
                  <a:lnTo>
                    <a:pt x="4336249" y="866802"/>
                  </a:lnTo>
                  <a:lnTo>
                    <a:pt x="4336249" y="873269"/>
                  </a:lnTo>
                  <a:lnTo>
                    <a:pt x="4302556" y="873269"/>
                  </a:lnTo>
                  <a:lnTo>
                    <a:pt x="4302556" y="6467"/>
                  </a:lnTo>
                  <a:lnTo>
                    <a:pt x="4336249" y="6467"/>
                  </a:lnTo>
                  <a:lnTo>
                    <a:pt x="4336249" y="12933"/>
                  </a:lnTo>
                  <a:lnTo>
                    <a:pt x="33693" y="12933"/>
                  </a:lnTo>
                  <a:close/>
                </a:path>
              </a:pathLst>
            </a:custGeom>
            <a:solidFill>
              <a:srgbClr val="305921"/>
            </a:solidFill>
          </p:spPr>
        </p:sp>
      </p:grpSp>
      <p:sp>
        <p:nvSpPr>
          <p:cNvPr id="15" name="AutoShape 15"/>
          <p:cNvSpPr/>
          <p:nvPr/>
        </p:nvSpPr>
        <p:spPr>
          <a:xfrm>
            <a:off x="7234585" y="1161579"/>
            <a:ext cx="0" cy="5493379"/>
          </a:xfrm>
          <a:prstGeom prst="line">
            <a:avLst/>
          </a:prstGeom>
          <a:ln w="9525" cap="rnd">
            <a:solidFill>
              <a:srgbClr val="E7E6E6"/>
            </a:solidFill>
            <a:prstDash val="solid"/>
            <a:headEnd type="none" w="sm" len="sm"/>
            <a:tailEnd type="none" w="sm" len="sm"/>
          </a:ln>
        </p:spPr>
      </p:sp>
      <p:grpSp>
        <p:nvGrpSpPr>
          <p:cNvPr id="16" name="Group 16"/>
          <p:cNvGrpSpPr/>
          <p:nvPr/>
        </p:nvGrpSpPr>
        <p:grpSpPr>
          <a:xfrm rot="0">
            <a:off x="8157845" y="920115"/>
            <a:ext cx="2872105" cy="384810"/>
            <a:chOff x="0" y="0"/>
            <a:chExt cx="4369874" cy="879723"/>
          </a:xfrm>
        </p:grpSpPr>
        <p:sp>
          <p:nvSpPr>
            <p:cNvPr id="17" name="Freeform 17"/>
            <p:cNvSpPr/>
            <p:nvPr/>
          </p:nvSpPr>
          <p:spPr>
            <a:xfrm>
              <a:off x="33693" y="6467"/>
              <a:ext cx="4302556" cy="866802"/>
            </a:xfrm>
            <a:custGeom>
              <a:avLst/>
              <a:gdLst/>
              <a:ahLst/>
              <a:cxnLst/>
              <a:rect l="l" t="t" r="r" b="b"/>
              <a:pathLst>
                <a:path w="4302556" h="866802">
                  <a:moveTo>
                    <a:pt x="0" y="0"/>
                  </a:moveTo>
                  <a:lnTo>
                    <a:pt x="4302556" y="0"/>
                  </a:lnTo>
                  <a:lnTo>
                    <a:pt x="4302556" y="866802"/>
                  </a:lnTo>
                  <a:lnTo>
                    <a:pt x="0" y="866802"/>
                  </a:lnTo>
                  <a:close/>
                </a:path>
              </a:pathLst>
            </a:custGeom>
            <a:solidFill>
              <a:srgbClr val="305921"/>
            </a:solidFill>
          </p:spPr>
        </p:sp>
        <p:sp>
          <p:nvSpPr>
            <p:cNvPr id="18" name="Freeform 18"/>
            <p:cNvSpPr/>
            <p:nvPr/>
          </p:nvSpPr>
          <p:spPr>
            <a:xfrm>
              <a:off x="0" y="0"/>
              <a:ext cx="4369900" cy="879748"/>
            </a:xfrm>
            <a:custGeom>
              <a:avLst/>
              <a:gdLst/>
              <a:ahLst/>
              <a:cxnLst/>
              <a:rect l="l" t="t" r="r" b="b"/>
              <a:pathLst>
                <a:path w="4369900" h="879748">
                  <a:moveTo>
                    <a:pt x="33693" y="0"/>
                  </a:moveTo>
                  <a:lnTo>
                    <a:pt x="4336249" y="0"/>
                  </a:lnTo>
                  <a:cubicBezTo>
                    <a:pt x="4354780" y="0"/>
                    <a:pt x="4369900" y="2910"/>
                    <a:pt x="4369900" y="6467"/>
                  </a:cubicBezTo>
                  <a:lnTo>
                    <a:pt x="4369900" y="873269"/>
                  </a:lnTo>
                  <a:cubicBezTo>
                    <a:pt x="4369900" y="876826"/>
                    <a:pt x="4354780" y="879748"/>
                    <a:pt x="4336249" y="879748"/>
                  </a:cubicBezTo>
                  <a:lnTo>
                    <a:pt x="33693" y="879748"/>
                  </a:lnTo>
                  <a:cubicBezTo>
                    <a:pt x="15162" y="879748"/>
                    <a:pt x="0" y="876826"/>
                    <a:pt x="0" y="873269"/>
                  </a:cubicBezTo>
                  <a:lnTo>
                    <a:pt x="0" y="6467"/>
                  </a:lnTo>
                  <a:cubicBezTo>
                    <a:pt x="0" y="2910"/>
                    <a:pt x="15162" y="0"/>
                    <a:pt x="33693" y="0"/>
                  </a:cubicBezTo>
                  <a:moveTo>
                    <a:pt x="33693" y="12933"/>
                  </a:moveTo>
                  <a:lnTo>
                    <a:pt x="33693" y="6467"/>
                  </a:lnTo>
                  <a:lnTo>
                    <a:pt x="67385" y="6467"/>
                  </a:lnTo>
                  <a:lnTo>
                    <a:pt x="67385" y="873269"/>
                  </a:lnTo>
                  <a:lnTo>
                    <a:pt x="33693" y="873269"/>
                  </a:lnTo>
                  <a:lnTo>
                    <a:pt x="33693" y="866802"/>
                  </a:lnTo>
                  <a:lnTo>
                    <a:pt x="4336249" y="866802"/>
                  </a:lnTo>
                  <a:lnTo>
                    <a:pt x="4336249" y="873269"/>
                  </a:lnTo>
                  <a:lnTo>
                    <a:pt x="4302556" y="873269"/>
                  </a:lnTo>
                  <a:lnTo>
                    <a:pt x="4302556" y="6467"/>
                  </a:lnTo>
                  <a:lnTo>
                    <a:pt x="4336249" y="6467"/>
                  </a:lnTo>
                  <a:lnTo>
                    <a:pt x="4336249" y="12933"/>
                  </a:lnTo>
                  <a:lnTo>
                    <a:pt x="33693" y="12933"/>
                  </a:lnTo>
                  <a:close/>
                </a:path>
              </a:pathLst>
            </a:custGeom>
            <a:solidFill>
              <a:srgbClr val="305921"/>
            </a:solidFill>
          </p:spPr>
        </p:sp>
      </p:grpSp>
      <p:sp>
        <p:nvSpPr>
          <p:cNvPr id="20" name="Freeform 20"/>
          <p:cNvSpPr/>
          <p:nvPr>
            <p:custDataLst>
              <p:tags r:id="rId3"/>
            </p:custDataLst>
          </p:nvPr>
        </p:nvSpPr>
        <p:spPr>
          <a:xfrm>
            <a:off x="7671435" y="1504950"/>
            <a:ext cx="4171950" cy="1353185"/>
          </a:xfrm>
          <a:custGeom>
            <a:avLst/>
            <a:gdLst/>
            <a:ahLst/>
            <a:cxnLst/>
            <a:rect l="l" t="t" r="r" b="b"/>
            <a:pathLst>
              <a:path w="1198004" h="377568">
                <a:moveTo>
                  <a:pt x="0" y="0"/>
                </a:moveTo>
                <a:lnTo>
                  <a:pt x="1198004" y="0"/>
                </a:lnTo>
                <a:lnTo>
                  <a:pt x="1198004" y="377568"/>
                </a:lnTo>
                <a:lnTo>
                  <a:pt x="0" y="377568"/>
                </a:lnTo>
                <a:close/>
              </a:path>
            </a:pathLst>
          </a:custGeom>
          <a:solidFill>
            <a:srgbClr val="F1EEE8"/>
          </a:solidFill>
        </p:spPr>
      </p:sp>
      <p:grpSp>
        <p:nvGrpSpPr>
          <p:cNvPr id="22" name="Group 22"/>
          <p:cNvGrpSpPr/>
          <p:nvPr>
            <p:custDataLst>
              <p:tags r:id="rId4"/>
            </p:custDataLst>
          </p:nvPr>
        </p:nvGrpSpPr>
        <p:grpSpPr>
          <a:xfrm rot="0">
            <a:off x="7484617" y="1340649"/>
            <a:ext cx="374025" cy="423059"/>
            <a:chOff x="0" y="0"/>
            <a:chExt cx="748049" cy="846117"/>
          </a:xfrm>
        </p:grpSpPr>
        <p:sp>
          <p:nvSpPr>
            <p:cNvPr id="23" name="Freeform 23"/>
            <p:cNvSpPr/>
            <p:nvPr>
              <p:custDataLst>
                <p:tags r:id="rId5"/>
              </p:custDataLst>
            </p:nvPr>
          </p:nvSpPr>
          <p:spPr>
            <a:xfrm>
              <a:off x="13149" y="14873"/>
              <a:ext cx="721632" cy="816237"/>
            </a:xfrm>
            <a:custGeom>
              <a:avLst/>
              <a:gdLst/>
              <a:ahLst/>
              <a:cxnLst/>
              <a:rect l="l" t="t" r="r" b="b"/>
              <a:pathLst>
                <a:path w="721632" h="816237">
                  <a:moveTo>
                    <a:pt x="0" y="408119"/>
                  </a:moveTo>
                  <a:cubicBezTo>
                    <a:pt x="0" y="182791"/>
                    <a:pt x="161605" y="0"/>
                    <a:pt x="360816" y="0"/>
                  </a:cubicBezTo>
                  <a:cubicBezTo>
                    <a:pt x="481132" y="0"/>
                    <a:pt x="601448" y="0"/>
                    <a:pt x="721632" y="0"/>
                  </a:cubicBezTo>
                  <a:cubicBezTo>
                    <a:pt x="721632" y="136089"/>
                    <a:pt x="721632" y="272178"/>
                    <a:pt x="721632" y="408119"/>
                  </a:cubicBezTo>
                  <a:cubicBezTo>
                    <a:pt x="721632" y="633595"/>
                    <a:pt x="560028" y="816237"/>
                    <a:pt x="360816" y="816237"/>
                  </a:cubicBezTo>
                  <a:cubicBezTo>
                    <a:pt x="161605" y="816237"/>
                    <a:pt x="0" y="633595"/>
                    <a:pt x="0" y="408119"/>
                  </a:cubicBezTo>
                  <a:close/>
                </a:path>
              </a:pathLst>
            </a:custGeom>
            <a:solidFill>
              <a:srgbClr val="305921"/>
            </a:solidFill>
          </p:spPr>
        </p:sp>
        <p:sp>
          <p:nvSpPr>
            <p:cNvPr id="24" name="Freeform 24"/>
            <p:cNvSpPr/>
            <p:nvPr>
              <p:custDataLst>
                <p:tags r:id="rId6"/>
              </p:custDataLst>
            </p:nvPr>
          </p:nvSpPr>
          <p:spPr>
            <a:xfrm>
              <a:off x="0" y="0"/>
              <a:ext cx="748061" cy="845983"/>
            </a:xfrm>
            <a:custGeom>
              <a:avLst/>
              <a:gdLst/>
              <a:ahLst/>
              <a:cxnLst/>
              <a:rect l="l" t="t" r="r" b="b"/>
              <a:pathLst>
                <a:path w="748061" h="845983">
                  <a:moveTo>
                    <a:pt x="0" y="422992"/>
                  </a:moveTo>
                  <a:cubicBezTo>
                    <a:pt x="0" y="189335"/>
                    <a:pt x="167390" y="0"/>
                    <a:pt x="373965" y="0"/>
                  </a:cubicBezTo>
                  <a:lnTo>
                    <a:pt x="734913" y="0"/>
                  </a:lnTo>
                  <a:cubicBezTo>
                    <a:pt x="742145" y="0"/>
                    <a:pt x="748061" y="6693"/>
                    <a:pt x="748061" y="14873"/>
                  </a:cubicBezTo>
                  <a:lnTo>
                    <a:pt x="748061" y="422992"/>
                  </a:lnTo>
                  <a:lnTo>
                    <a:pt x="734913" y="422992"/>
                  </a:lnTo>
                  <a:lnTo>
                    <a:pt x="748061" y="422992"/>
                  </a:lnTo>
                  <a:cubicBezTo>
                    <a:pt x="748061" y="656648"/>
                    <a:pt x="580672" y="845983"/>
                    <a:pt x="374097" y="845983"/>
                  </a:cubicBezTo>
                  <a:lnTo>
                    <a:pt x="374097" y="831110"/>
                  </a:lnTo>
                  <a:lnTo>
                    <a:pt x="374097" y="845983"/>
                  </a:lnTo>
                  <a:cubicBezTo>
                    <a:pt x="167390" y="846130"/>
                    <a:pt x="0" y="656648"/>
                    <a:pt x="0" y="422992"/>
                  </a:cubicBezTo>
                  <a:lnTo>
                    <a:pt x="13149" y="422992"/>
                  </a:lnTo>
                  <a:lnTo>
                    <a:pt x="0" y="422992"/>
                  </a:lnTo>
                  <a:moveTo>
                    <a:pt x="26299" y="422992"/>
                  </a:moveTo>
                  <a:lnTo>
                    <a:pt x="13149" y="422992"/>
                  </a:lnTo>
                  <a:lnTo>
                    <a:pt x="26299" y="422992"/>
                  </a:lnTo>
                  <a:cubicBezTo>
                    <a:pt x="26299" y="640139"/>
                    <a:pt x="181986" y="816237"/>
                    <a:pt x="373965" y="816237"/>
                  </a:cubicBezTo>
                  <a:cubicBezTo>
                    <a:pt x="565945" y="816237"/>
                    <a:pt x="721763" y="640288"/>
                    <a:pt x="721763" y="422992"/>
                  </a:cubicBezTo>
                  <a:lnTo>
                    <a:pt x="721763" y="14873"/>
                  </a:lnTo>
                  <a:lnTo>
                    <a:pt x="734913" y="14873"/>
                  </a:lnTo>
                  <a:lnTo>
                    <a:pt x="734913" y="29746"/>
                  </a:lnTo>
                  <a:lnTo>
                    <a:pt x="373965" y="29746"/>
                  </a:lnTo>
                  <a:lnTo>
                    <a:pt x="373965" y="14873"/>
                  </a:lnTo>
                  <a:lnTo>
                    <a:pt x="373965" y="29746"/>
                  </a:lnTo>
                  <a:cubicBezTo>
                    <a:pt x="181986" y="29746"/>
                    <a:pt x="26299" y="205844"/>
                    <a:pt x="26299" y="422992"/>
                  </a:cubicBezTo>
                  <a:close/>
                </a:path>
              </a:pathLst>
            </a:custGeom>
            <a:solidFill>
              <a:srgbClr val="305921"/>
            </a:solidFill>
          </p:spPr>
        </p:sp>
        <p:sp>
          <p:nvSpPr>
            <p:cNvPr id="25" name="TextBox 25"/>
            <p:cNvSpPr txBox="1"/>
            <p:nvPr>
              <p:custDataLst>
                <p:tags r:id="rId7"/>
              </p:custDataLst>
            </p:nvPr>
          </p:nvSpPr>
          <p:spPr>
            <a:xfrm>
              <a:off x="0" y="-57150"/>
              <a:ext cx="748049" cy="903267"/>
            </a:xfrm>
            <a:prstGeom prst="rect">
              <a:avLst/>
            </a:prstGeom>
          </p:spPr>
          <p:txBody>
            <a:bodyPr lIns="33866" tIns="33866" rIns="33866" bIns="33866" rtlCol="0" anchor="ctr"/>
            <a:lstStyle/>
            <a:p>
              <a:pPr algn="ctr">
                <a:lnSpc>
                  <a:spcPts val="3240"/>
                </a:lnSpc>
              </a:pPr>
              <a:r>
                <a:rPr lang="en-US">
                  <a:solidFill>
                    <a:srgbClr val="FFFFFF"/>
                  </a:solidFill>
                  <a:latin typeface="Calibri (MS)" panose="020F0502020204030204"/>
                  <a:ea typeface="黑体" panose="02010609060101010101" pitchFamily="49" charset="-122"/>
                  <a:cs typeface="Calibri (MS)" panose="020F0502020204030204"/>
                  <a:sym typeface="Calibri (MS)" panose="020F0502020204030204"/>
                </a:rPr>
                <a:t>1</a:t>
              </a:r>
              <a:endParaRPr lang="en-US">
                <a:solidFill>
                  <a:srgbClr val="FFFFFF"/>
                </a:solidFill>
                <a:latin typeface="Calibri (MS)" panose="020F0502020204030204"/>
                <a:ea typeface="黑体" panose="02010609060101010101" pitchFamily="49" charset="-122"/>
                <a:cs typeface="Calibri (MS)" panose="020F0502020204030204"/>
                <a:sym typeface="Calibri (MS)" panose="020F0502020204030204"/>
              </a:endParaRPr>
            </a:p>
          </p:txBody>
        </p:sp>
      </p:grpSp>
      <p:sp>
        <p:nvSpPr>
          <p:cNvPr id="27" name="TextBox 27"/>
          <p:cNvSpPr txBox="1"/>
          <p:nvPr/>
        </p:nvSpPr>
        <p:spPr>
          <a:xfrm>
            <a:off x="889000" y="485140"/>
            <a:ext cx="7593330" cy="309880"/>
          </a:xfrm>
          <a:prstGeom prst="rect">
            <a:avLst/>
          </a:prstGeom>
        </p:spPr>
        <p:txBody>
          <a:bodyPr lIns="0" tIns="0" rIns="0" bIns="0" rtlCol="0" anchor="t">
            <a:noAutofit/>
          </a:bodyPr>
          <a:lstStyle/>
          <a:p>
            <a:pPr algn="l">
              <a:lnSpc>
                <a:spcPts val="2880"/>
              </a:lnSpc>
            </a:pPr>
            <a:r>
              <a:rPr lang="en-US" sz="1600" b="1">
                <a:solidFill>
                  <a:srgbClr val="000000"/>
                </a:solidFill>
                <a:latin typeface="微软雅黑" panose="020B0503020204020204" pitchFamily="34" charset="-122"/>
                <a:ea typeface="微软雅黑" panose="020B0503020204020204" pitchFamily="34" charset="-122"/>
                <a:cs typeface="Arimo Bold" panose="020B0704020202020204"/>
                <a:sym typeface="Arimo Bold" panose="020B0704020202020204"/>
              </a:rPr>
              <a:t>新型储能行业快速扩张，但优质项目仍普遍面临融资成本高，融资可得性弱的问题</a:t>
            </a:r>
            <a:endParaRPr lang="en-US" sz="1600" b="1">
              <a:solidFill>
                <a:srgbClr val="000000"/>
              </a:solidFill>
              <a:latin typeface="微软雅黑" panose="020B0503020204020204" pitchFamily="34" charset="-122"/>
              <a:ea typeface="微软雅黑" panose="020B0503020204020204" pitchFamily="34" charset="-122"/>
              <a:cs typeface="Arimo Bold" panose="020B0704020202020204"/>
              <a:sym typeface="Arimo Bold" panose="020B0704020202020204"/>
            </a:endParaRPr>
          </a:p>
        </p:txBody>
      </p:sp>
      <p:sp>
        <p:nvSpPr>
          <p:cNvPr id="28" name="TextBox 28"/>
          <p:cNvSpPr txBox="1"/>
          <p:nvPr/>
        </p:nvSpPr>
        <p:spPr>
          <a:xfrm>
            <a:off x="2561590" y="3973830"/>
            <a:ext cx="2632075" cy="322580"/>
          </a:xfrm>
          <a:prstGeom prst="rect">
            <a:avLst/>
          </a:prstGeom>
        </p:spPr>
        <p:txBody>
          <a:bodyPr wrap="square" lIns="0" tIns="0" rIns="0" bIns="0" rtlCol="0" anchor="t">
            <a:spAutoFit/>
          </a:bodyPr>
          <a:lstStyle/>
          <a:p>
            <a:pPr algn="ctr">
              <a:lnSpc>
                <a:spcPts val="2520"/>
              </a:lnSpc>
              <a:spcBef>
                <a:spcPct val="0"/>
              </a:spcBef>
            </a:pPr>
            <a:r>
              <a:rPr lang="zh-CN" altLang="en-US" sz="1400" b="1">
                <a:solidFill>
                  <a:srgbClr val="FFFFFF"/>
                </a:solidFill>
                <a:latin typeface="黑体" panose="02010609060101010101" pitchFamily="49" charset="-122"/>
                <a:ea typeface="黑体" panose="02010609060101010101" pitchFamily="49" charset="-122"/>
                <a:cs typeface="黑体" panose="02010609060101010101" pitchFamily="49" charset="-122"/>
                <a:sym typeface="Arimo Bold" panose="020B0704020202020204"/>
              </a:rPr>
              <a:t>我国新型储能规模</a:t>
            </a:r>
            <a:r>
              <a:rPr lang="en-US" sz="1400" b="1">
                <a:solidFill>
                  <a:srgbClr val="FFFFFF"/>
                </a:solidFill>
                <a:latin typeface="黑体" panose="02010609060101010101" pitchFamily="49" charset="-122"/>
                <a:ea typeface="黑体" panose="02010609060101010101" pitchFamily="49" charset="-122"/>
                <a:cs typeface="黑体" panose="02010609060101010101" pitchFamily="49" charset="-122"/>
                <a:sym typeface="Arimo Bold" panose="020B0704020202020204"/>
              </a:rPr>
              <a:t>（2021-2025）</a:t>
            </a:r>
            <a:endParaRPr lang="en-US" sz="1400" b="1">
              <a:solidFill>
                <a:srgbClr val="FFFFFF"/>
              </a:solidFill>
              <a:latin typeface="黑体" panose="02010609060101010101" pitchFamily="49" charset="-122"/>
              <a:ea typeface="黑体" panose="02010609060101010101" pitchFamily="49" charset="-122"/>
              <a:cs typeface="黑体" panose="02010609060101010101" pitchFamily="49" charset="-122"/>
              <a:sym typeface="Arimo Bold" panose="020B0704020202020204"/>
            </a:endParaRPr>
          </a:p>
        </p:txBody>
      </p:sp>
      <p:sp>
        <p:nvSpPr>
          <p:cNvPr id="29" name="TextBox 29"/>
          <p:cNvSpPr txBox="1"/>
          <p:nvPr/>
        </p:nvSpPr>
        <p:spPr>
          <a:xfrm>
            <a:off x="8180070" y="929005"/>
            <a:ext cx="2842895" cy="322580"/>
          </a:xfrm>
          <a:prstGeom prst="rect">
            <a:avLst/>
          </a:prstGeom>
        </p:spPr>
        <p:txBody>
          <a:bodyPr wrap="square" lIns="0" tIns="0" rIns="0" bIns="0" rtlCol="0" anchor="t">
            <a:spAutoFit/>
          </a:bodyPr>
          <a:lstStyle/>
          <a:p>
            <a:pPr algn="ctr">
              <a:lnSpc>
                <a:spcPts val="2520"/>
              </a:lnSpc>
              <a:spcBef>
                <a:spcPct val="0"/>
              </a:spcBef>
            </a:pPr>
            <a:r>
              <a:rPr lang="zh-CN" altLang="en-US" sz="1600">
                <a:solidFill>
                  <a:srgbClr val="FFFFFF"/>
                </a:solidFill>
                <a:latin typeface="黑体" panose="02010609060101010101" pitchFamily="49" charset="-122"/>
                <a:ea typeface="黑体" panose="02010609060101010101" pitchFamily="49" charset="-122"/>
                <a:cs typeface="Arimo Bold" panose="020B0704020202020204"/>
                <a:sym typeface="Arimo Bold" panose="020B0704020202020204"/>
              </a:rPr>
              <a:t>储能行业面临融资困难的</a:t>
            </a:r>
            <a:r>
              <a:rPr lang="zh-CN" altLang="en-US" sz="1600">
                <a:solidFill>
                  <a:srgbClr val="FFFFFF"/>
                </a:solidFill>
                <a:latin typeface="黑体" panose="02010609060101010101" pitchFamily="49" charset="-122"/>
                <a:ea typeface="黑体" panose="02010609060101010101" pitchFamily="49" charset="-122"/>
                <a:cs typeface="Arimo Bold" panose="020B0704020202020204"/>
                <a:sym typeface="Arimo Bold" panose="020B0704020202020204"/>
              </a:rPr>
              <a:t>原因</a:t>
            </a:r>
            <a:endParaRPr lang="zh-CN" altLang="en-US" sz="1600">
              <a:solidFill>
                <a:srgbClr val="FFFFFF"/>
              </a:solidFill>
              <a:latin typeface="黑体" panose="02010609060101010101" pitchFamily="49" charset="-122"/>
              <a:ea typeface="黑体" panose="02010609060101010101" pitchFamily="49" charset="-122"/>
              <a:cs typeface="Arimo Bold" panose="020B0704020202020204"/>
              <a:sym typeface="Arimo Bold" panose="020B0704020202020204"/>
            </a:endParaRPr>
          </a:p>
        </p:txBody>
      </p:sp>
      <p:sp>
        <p:nvSpPr>
          <p:cNvPr id="30" name="TextBox 30"/>
          <p:cNvSpPr txBox="1"/>
          <p:nvPr>
            <p:custDataLst>
              <p:tags r:id="rId8"/>
            </p:custDataLst>
          </p:nvPr>
        </p:nvSpPr>
        <p:spPr>
          <a:xfrm>
            <a:off x="7858760" y="1475105"/>
            <a:ext cx="4048125" cy="862965"/>
          </a:xfrm>
          <a:prstGeom prst="rect">
            <a:avLst/>
          </a:prstGeom>
        </p:spPr>
        <p:txBody>
          <a:bodyPr wrap="square" lIns="0" tIns="0" rIns="0" bIns="0" rtlCol="0" anchor="t">
            <a:noAutofit/>
          </a:bodyPr>
          <a:lstStyle/>
          <a:p>
            <a:pPr algn="l">
              <a:lnSpc>
                <a:spcPts val="2880"/>
              </a:lnSpc>
              <a:spcBef>
                <a:spcPct val="0"/>
              </a:spcBef>
            </a:pPr>
            <a:r>
              <a:rPr lang="en-US" sz="1600" b="1">
                <a:solidFill>
                  <a:srgbClr val="000000"/>
                </a:solidFill>
                <a:latin typeface="黑体" panose="02010609060101010101" pitchFamily="49" charset="-122"/>
                <a:ea typeface="黑体" panose="02010609060101010101" pitchFamily="49" charset="-122"/>
                <a:cs typeface="黑体" panose="02010609060101010101" pitchFamily="49" charset="-122"/>
                <a:sym typeface="Arimo" panose="020B0604020202020204"/>
              </a:rPr>
              <a:t>高CAPEX、回收周期长</a:t>
            </a:r>
            <a:endParaRPr lang="en-US" sz="1600" b="1">
              <a:solidFill>
                <a:srgbClr val="000000"/>
              </a:solidFill>
              <a:latin typeface="黑体" panose="02010609060101010101" pitchFamily="49" charset="-122"/>
              <a:ea typeface="黑体" panose="02010609060101010101" pitchFamily="49" charset="-122"/>
              <a:cs typeface="黑体" panose="02010609060101010101" pitchFamily="49" charset="-122"/>
              <a:sym typeface="Arimo" panose="020B0604020202020204"/>
            </a:endParaRPr>
          </a:p>
          <a:p>
            <a:pPr indent="0" algn="l" fontAlgn="auto">
              <a:lnSpc>
                <a:spcPct val="100000"/>
              </a:lnSpc>
              <a:spcBef>
                <a:spcPct val="0"/>
              </a:spcBef>
            </a:pPr>
            <a:r>
              <a:rPr lang="zh-CN" altLang="en-US" sz="1400">
                <a:solidFill>
                  <a:srgbClr val="000000"/>
                </a:solidFill>
                <a:latin typeface="黑体" panose="02010609060101010101" pitchFamily="49" charset="-122"/>
                <a:ea typeface="黑体" panose="02010609060101010101" pitchFamily="49" charset="-122"/>
                <a:cs typeface="黑体" panose="02010609060101010101" pitchFamily="49" charset="-122"/>
                <a:sym typeface="Arimo" panose="020B0604020202020204"/>
              </a:rPr>
              <a:t>典型电网侧储能电站（</a:t>
            </a:r>
            <a:r>
              <a:rPr lang="en-US" altLang="zh-CN" sz="1400">
                <a:solidFill>
                  <a:srgbClr val="000000"/>
                </a:solidFill>
                <a:latin typeface="黑体" panose="02010609060101010101" pitchFamily="49" charset="-122"/>
                <a:ea typeface="黑体" panose="02010609060101010101" pitchFamily="49" charset="-122"/>
                <a:cs typeface="黑体" panose="02010609060101010101" pitchFamily="49" charset="-122"/>
                <a:sym typeface="Arimo" panose="020B0604020202020204"/>
              </a:rPr>
              <a:t>100MWh</a:t>
            </a:r>
            <a:r>
              <a:rPr lang="zh-CN" altLang="en-US" sz="1400">
                <a:solidFill>
                  <a:srgbClr val="000000"/>
                </a:solidFill>
                <a:latin typeface="黑体" panose="02010609060101010101" pitchFamily="49" charset="-122"/>
                <a:ea typeface="黑体" panose="02010609060101010101" pitchFamily="49" charset="-122"/>
                <a:cs typeface="黑体" panose="02010609060101010101" pitchFamily="49" charset="-122"/>
                <a:sym typeface="Arimo" panose="020B0604020202020204"/>
              </a:rPr>
              <a:t>规模）的初始</a:t>
            </a:r>
            <a:r>
              <a:rPr lang="en-US" altLang="zh-CN" sz="1400">
                <a:solidFill>
                  <a:srgbClr val="000000"/>
                </a:solidFill>
                <a:latin typeface="黑体" panose="02010609060101010101" pitchFamily="49" charset="-122"/>
                <a:ea typeface="黑体" panose="02010609060101010101" pitchFamily="49" charset="-122"/>
                <a:cs typeface="黑体" panose="02010609060101010101" pitchFamily="49" charset="-122"/>
                <a:sym typeface="Arimo" panose="020B0604020202020204"/>
              </a:rPr>
              <a:t>CAPEX</a:t>
            </a:r>
            <a:r>
              <a:rPr lang="zh-CN" altLang="en-US" sz="1400">
                <a:solidFill>
                  <a:srgbClr val="000000"/>
                </a:solidFill>
                <a:latin typeface="黑体" panose="02010609060101010101" pitchFamily="49" charset="-122"/>
                <a:ea typeface="黑体" panose="02010609060101010101" pitchFamily="49" charset="-122"/>
                <a:cs typeface="黑体" panose="02010609060101010101" pitchFamily="49" charset="-122"/>
                <a:sym typeface="Arimo" panose="020B0604020202020204"/>
              </a:rPr>
              <a:t>通常在</a:t>
            </a:r>
            <a:r>
              <a:rPr lang="en-US" altLang="zh-CN" sz="1400">
                <a:solidFill>
                  <a:srgbClr val="000000"/>
                </a:solidFill>
                <a:latin typeface="黑体" panose="02010609060101010101" pitchFamily="49" charset="-122"/>
                <a:ea typeface="黑体" panose="02010609060101010101" pitchFamily="49" charset="-122"/>
                <a:cs typeface="黑体" panose="02010609060101010101" pitchFamily="49" charset="-122"/>
                <a:sym typeface="Arimo" panose="020B0604020202020204"/>
              </a:rPr>
              <a:t>2</a:t>
            </a:r>
            <a:r>
              <a:rPr lang="zh-CN" altLang="en-US" sz="1400">
                <a:solidFill>
                  <a:srgbClr val="000000"/>
                </a:solidFill>
                <a:latin typeface="黑体" panose="02010609060101010101" pitchFamily="49" charset="-122"/>
                <a:ea typeface="黑体" panose="02010609060101010101" pitchFamily="49" charset="-122"/>
                <a:cs typeface="黑体" panose="02010609060101010101" pitchFamily="49" charset="-122"/>
                <a:sym typeface="Arimo" panose="020B0604020202020204"/>
              </a:rPr>
              <a:t>至</a:t>
            </a:r>
            <a:r>
              <a:rPr lang="en-US" altLang="zh-CN" sz="1400">
                <a:solidFill>
                  <a:srgbClr val="000000"/>
                </a:solidFill>
                <a:latin typeface="黑体" panose="02010609060101010101" pitchFamily="49" charset="-122"/>
                <a:ea typeface="黑体" panose="02010609060101010101" pitchFamily="49" charset="-122"/>
                <a:cs typeface="黑体" panose="02010609060101010101" pitchFamily="49" charset="-122"/>
                <a:sym typeface="Arimo" panose="020B0604020202020204"/>
              </a:rPr>
              <a:t>4</a:t>
            </a:r>
            <a:r>
              <a:rPr lang="zh-CN" altLang="en-US" sz="1400">
                <a:solidFill>
                  <a:srgbClr val="000000"/>
                </a:solidFill>
                <a:latin typeface="黑体" panose="02010609060101010101" pitchFamily="49" charset="-122"/>
                <a:ea typeface="黑体" panose="02010609060101010101" pitchFamily="49" charset="-122"/>
                <a:cs typeface="黑体" panose="02010609060101010101" pitchFamily="49" charset="-122"/>
                <a:sym typeface="Arimo" panose="020B0604020202020204"/>
              </a:rPr>
              <a:t>亿元人民币区间，而其中储能系统采购（电池组</a:t>
            </a:r>
            <a:r>
              <a:rPr lang="en-US" altLang="zh-CN" sz="1400">
                <a:solidFill>
                  <a:srgbClr val="000000"/>
                </a:solidFill>
                <a:latin typeface="黑体" panose="02010609060101010101" pitchFamily="49" charset="-122"/>
                <a:ea typeface="黑体" panose="02010609060101010101" pitchFamily="49" charset="-122"/>
                <a:cs typeface="黑体" panose="02010609060101010101" pitchFamily="49" charset="-122"/>
                <a:sym typeface="Arimo" panose="020B0604020202020204"/>
              </a:rPr>
              <a:t>+PCS</a:t>
            </a:r>
            <a:r>
              <a:rPr lang="zh-CN" altLang="en-US" sz="1400">
                <a:solidFill>
                  <a:srgbClr val="000000"/>
                </a:solidFill>
                <a:latin typeface="黑体" panose="02010609060101010101" pitchFamily="49" charset="-122"/>
                <a:ea typeface="黑体" panose="02010609060101010101" pitchFamily="49" charset="-122"/>
                <a:cs typeface="黑体" panose="02010609060101010101" pitchFamily="49" charset="-122"/>
                <a:sym typeface="Arimo" panose="020B0604020202020204"/>
              </a:rPr>
              <a:t>）占总投资约</a:t>
            </a:r>
            <a:r>
              <a:rPr lang="en-US" altLang="zh-CN" sz="1400">
                <a:solidFill>
                  <a:srgbClr val="000000"/>
                </a:solidFill>
                <a:latin typeface="黑体" panose="02010609060101010101" pitchFamily="49" charset="-122"/>
                <a:ea typeface="黑体" panose="02010609060101010101" pitchFamily="49" charset="-122"/>
                <a:cs typeface="黑体" panose="02010609060101010101" pitchFamily="49" charset="-122"/>
                <a:sym typeface="Arimo" panose="020B0604020202020204"/>
              </a:rPr>
              <a:t>70%—80%</a:t>
            </a:r>
            <a:r>
              <a:rPr lang="zh-CN" altLang="en-US" sz="1400">
                <a:solidFill>
                  <a:srgbClr val="000000"/>
                </a:solidFill>
                <a:latin typeface="黑体" panose="02010609060101010101" pitchFamily="49" charset="-122"/>
                <a:ea typeface="黑体" panose="02010609060101010101" pitchFamily="49" charset="-122"/>
                <a:cs typeface="黑体" panose="02010609060101010101" pitchFamily="49" charset="-122"/>
                <a:sym typeface="Arimo" panose="020B0604020202020204"/>
              </a:rPr>
              <a:t>，且回收期大多在</a:t>
            </a:r>
            <a:r>
              <a:rPr lang="en-US" altLang="zh-CN" sz="1400">
                <a:solidFill>
                  <a:srgbClr val="000000"/>
                </a:solidFill>
                <a:latin typeface="黑体" panose="02010609060101010101" pitchFamily="49" charset="-122"/>
                <a:ea typeface="黑体" panose="02010609060101010101" pitchFamily="49" charset="-122"/>
                <a:cs typeface="黑体" panose="02010609060101010101" pitchFamily="49" charset="-122"/>
                <a:sym typeface="Arimo" panose="020B0604020202020204"/>
              </a:rPr>
              <a:t>8—12</a:t>
            </a:r>
            <a:r>
              <a:rPr lang="zh-CN" altLang="en-US" sz="1400">
                <a:solidFill>
                  <a:srgbClr val="000000"/>
                </a:solidFill>
                <a:latin typeface="黑体" panose="02010609060101010101" pitchFamily="49" charset="-122"/>
                <a:ea typeface="黑体" panose="02010609060101010101" pitchFamily="49" charset="-122"/>
                <a:cs typeface="黑体" panose="02010609060101010101" pitchFamily="49" charset="-122"/>
                <a:sym typeface="Arimo" panose="020B0604020202020204"/>
              </a:rPr>
              <a:t>年。</a:t>
            </a:r>
            <a:endParaRPr lang="zh-CN" altLang="en-US" sz="1400">
              <a:solidFill>
                <a:srgbClr val="000000"/>
              </a:solidFill>
              <a:latin typeface="黑体" panose="02010609060101010101" pitchFamily="49" charset="-122"/>
              <a:ea typeface="黑体" panose="02010609060101010101" pitchFamily="49" charset="-122"/>
              <a:cs typeface="黑体" panose="02010609060101010101" pitchFamily="49" charset="-122"/>
              <a:sym typeface="Arimo" panose="020B0604020202020204"/>
            </a:endParaRPr>
          </a:p>
        </p:txBody>
      </p:sp>
      <p:grpSp>
        <p:nvGrpSpPr>
          <p:cNvPr id="31" name="Group 31"/>
          <p:cNvGrpSpPr/>
          <p:nvPr>
            <p:custDataLst>
              <p:tags r:id="rId9"/>
            </p:custDataLst>
          </p:nvPr>
        </p:nvGrpSpPr>
        <p:grpSpPr>
          <a:xfrm rot="0">
            <a:off x="7671435" y="3088005"/>
            <a:ext cx="4171950" cy="1072515"/>
            <a:chOff x="0" y="0"/>
            <a:chExt cx="1198004" cy="377568"/>
          </a:xfrm>
        </p:grpSpPr>
        <p:sp>
          <p:nvSpPr>
            <p:cNvPr id="32" name="Freeform 32"/>
            <p:cNvSpPr/>
            <p:nvPr>
              <p:custDataLst>
                <p:tags r:id="rId10"/>
              </p:custDataLst>
            </p:nvPr>
          </p:nvSpPr>
          <p:spPr>
            <a:xfrm>
              <a:off x="0" y="0"/>
              <a:ext cx="1198004" cy="377568"/>
            </a:xfrm>
            <a:custGeom>
              <a:avLst/>
              <a:gdLst/>
              <a:ahLst/>
              <a:cxnLst/>
              <a:rect l="l" t="t" r="r" b="b"/>
              <a:pathLst>
                <a:path w="1198004" h="377568">
                  <a:moveTo>
                    <a:pt x="0" y="0"/>
                  </a:moveTo>
                  <a:lnTo>
                    <a:pt x="1198004" y="0"/>
                  </a:lnTo>
                  <a:lnTo>
                    <a:pt x="1198004" y="377568"/>
                  </a:lnTo>
                  <a:lnTo>
                    <a:pt x="0" y="377568"/>
                  </a:lnTo>
                  <a:close/>
                </a:path>
              </a:pathLst>
            </a:custGeom>
            <a:solidFill>
              <a:srgbClr val="F1EEE8"/>
            </a:solidFill>
          </p:spPr>
        </p:sp>
        <p:sp>
          <p:nvSpPr>
            <p:cNvPr id="33" name="TextBox 33"/>
            <p:cNvSpPr txBox="1"/>
            <p:nvPr/>
          </p:nvSpPr>
          <p:spPr>
            <a:xfrm>
              <a:off x="0" y="-9525"/>
              <a:ext cx="1198004" cy="387093"/>
            </a:xfrm>
            <a:prstGeom prst="rect">
              <a:avLst/>
            </a:prstGeom>
          </p:spPr>
          <p:txBody>
            <a:bodyPr lIns="33866" tIns="33866" rIns="33866" bIns="33866" rtlCol="0" anchor="ctr"/>
            <a:lstStyle/>
            <a:p>
              <a:pPr algn="ctr">
                <a:lnSpc>
                  <a:spcPts val="2880"/>
                </a:lnSpc>
              </a:pPr>
              <a:endParaRPr sz="1200">
                <a:ea typeface="黑体" panose="02010609060101010101" pitchFamily="49" charset="-122"/>
              </a:endParaRPr>
            </a:p>
          </p:txBody>
        </p:sp>
      </p:grpSp>
      <p:grpSp>
        <p:nvGrpSpPr>
          <p:cNvPr id="34" name="Group 34"/>
          <p:cNvGrpSpPr/>
          <p:nvPr>
            <p:custDataLst>
              <p:tags r:id="rId11"/>
            </p:custDataLst>
          </p:nvPr>
        </p:nvGrpSpPr>
        <p:grpSpPr>
          <a:xfrm rot="0">
            <a:off x="7456805" y="2924175"/>
            <a:ext cx="374015" cy="414020"/>
            <a:chOff x="-13970" y="0"/>
            <a:chExt cx="762031" cy="827587"/>
          </a:xfrm>
        </p:grpSpPr>
        <p:sp>
          <p:nvSpPr>
            <p:cNvPr id="35" name="Freeform 35"/>
            <p:cNvSpPr/>
            <p:nvPr>
              <p:custDataLst>
                <p:tags r:id="rId12"/>
              </p:custDataLst>
            </p:nvPr>
          </p:nvSpPr>
          <p:spPr>
            <a:xfrm>
              <a:off x="13149" y="14550"/>
              <a:ext cx="721632" cy="798487"/>
            </a:xfrm>
            <a:custGeom>
              <a:avLst/>
              <a:gdLst/>
              <a:ahLst/>
              <a:cxnLst/>
              <a:rect l="l" t="t" r="r" b="b"/>
              <a:pathLst>
                <a:path w="721632" h="798487">
                  <a:moveTo>
                    <a:pt x="0" y="399243"/>
                  </a:moveTo>
                  <a:cubicBezTo>
                    <a:pt x="0" y="178815"/>
                    <a:pt x="161605" y="0"/>
                    <a:pt x="360816" y="0"/>
                  </a:cubicBezTo>
                  <a:cubicBezTo>
                    <a:pt x="481132" y="0"/>
                    <a:pt x="601448" y="0"/>
                    <a:pt x="721632" y="0"/>
                  </a:cubicBezTo>
                  <a:cubicBezTo>
                    <a:pt x="721632" y="133129"/>
                    <a:pt x="721632" y="266259"/>
                    <a:pt x="721632" y="399243"/>
                  </a:cubicBezTo>
                  <a:cubicBezTo>
                    <a:pt x="721632" y="619817"/>
                    <a:pt x="560028" y="798487"/>
                    <a:pt x="360816" y="798487"/>
                  </a:cubicBezTo>
                  <a:cubicBezTo>
                    <a:pt x="161605" y="798487"/>
                    <a:pt x="0" y="619817"/>
                    <a:pt x="0" y="399243"/>
                  </a:cubicBezTo>
                  <a:close/>
                </a:path>
              </a:pathLst>
            </a:custGeom>
            <a:solidFill>
              <a:srgbClr val="305921"/>
            </a:solidFill>
          </p:spPr>
        </p:sp>
        <p:sp>
          <p:nvSpPr>
            <p:cNvPr id="36" name="Freeform 36"/>
            <p:cNvSpPr/>
            <p:nvPr>
              <p:custDataLst>
                <p:tags r:id="rId13"/>
              </p:custDataLst>
            </p:nvPr>
          </p:nvSpPr>
          <p:spPr>
            <a:xfrm>
              <a:off x="0" y="0"/>
              <a:ext cx="748061" cy="827587"/>
            </a:xfrm>
            <a:custGeom>
              <a:avLst/>
              <a:gdLst/>
              <a:ahLst/>
              <a:cxnLst/>
              <a:rect l="l" t="t" r="r" b="b"/>
              <a:pathLst>
                <a:path w="748061" h="827587">
                  <a:moveTo>
                    <a:pt x="0" y="413793"/>
                  </a:moveTo>
                  <a:cubicBezTo>
                    <a:pt x="0" y="185218"/>
                    <a:pt x="167390" y="0"/>
                    <a:pt x="373965" y="0"/>
                  </a:cubicBezTo>
                  <a:lnTo>
                    <a:pt x="734913" y="0"/>
                  </a:lnTo>
                  <a:cubicBezTo>
                    <a:pt x="742145" y="0"/>
                    <a:pt x="748061" y="6547"/>
                    <a:pt x="748061" y="14550"/>
                  </a:cubicBezTo>
                  <a:lnTo>
                    <a:pt x="748061" y="413793"/>
                  </a:lnTo>
                  <a:lnTo>
                    <a:pt x="734913" y="413793"/>
                  </a:lnTo>
                  <a:lnTo>
                    <a:pt x="748061" y="413793"/>
                  </a:lnTo>
                  <a:cubicBezTo>
                    <a:pt x="748061" y="642369"/>
                    <a:pt x="580672" y="827587"/>
                    <a:pt x="374097" y="827587"/>
                  </a:cubicBezTo>
                  <a:lnTo>
                    <a:pt x="374097" y="813037"/>
                  </a:lnTo>
                  <a:lnTo>
                    <a:pt x="374097" y="827587"/>
                  </a:lnTo>
                  <a:cubicBezTo>
                    <a:pt x="167390" y="827730"/>
                    <a:pt x="0" y="642369"/>
                    <a:pt x="0" y="413793"/>
                  </a:cubicBezTo>
                  <a:lnTo>
                    <a:pt x="13149" y="413793"/>
                  </a:lnTo>
                  <a:lnTo>
                    <a:pt x="0" y="413793"/>
                  </a:lnTo>
                  <a:moveTo>
                    <a:pt x="26299" y="413793"/>
                  </a:moveTo>
                  <a:lnTo>
                    <a:pt x="13149" y="413793"/>
                  </a:lnTo>
                  <a:lnTo>
                    <a:pt x="26299" y="413793"/>
                  </a:lnTo>
                  <a:cubicBezTo>
                    <a:pt x="26299" y="626219"/>
                    <a:pt x="181986" y="798487"/>
                    <a:pt x="373965" y="798487"/>
                  </a:cubicBezTo>
                  <a:cubicBezTo>
                    <a:pt x="565945" y="798487"/>
                    <a:pt x="721763" y="626364"/>
                    <a:pt x="721763" y="413793"/>
                  </a:cubicBezTo>
                  <a:lnTo>
                    <a:pt x="721763" y="14550"/>
                  </a:lnTo>
                  <a:lnTo>
                    <a:pt x="734913" y="14550"/>
                  </a:lnTo>
                  <a:lnTo>
                    <a:pt x="734913" y="29099"/>
                  </a:lnTo>
                  <a:lnTo>
                    <a:pt x="373965" y="29099"/>
                  </a:lnTo>
                  <a:lnTo>
                    <a:pt x="373965" y="14550"/>
                  </a:lnTo>
                  <a:lnTo>
                    <a:pt x="373965" y="29099"/>
                  </a:lnTo>
                  <a:cubicBezTo>
                    <a:pt x="181986" y="29099"/>
                    <a:pt x="26299" y="201368"/>
                    <a:pt x="26299" y="413793"/>
                  </a:cubicBezTo>
                  <a:close/>
                </a:path>
              </a:pathLst>
            </a:custGeom>
            <a:solidFill>
              <a:srgbClr val="305921"/>
            </a:solidFill>
          </p:spPr>
        </p:sp>
        <p:sp>
          <p:nvSpPr>
            <p:cNvPr id="37" name="TextBox 37"/>
            <p:cNvSpPr txBox="1"/>
            <p:nvPr>
              <p:custDataLst>
                <p:tags r:id="rId14"/>
              </p:custDataLst>
            </p:nvPr>
          </p:nvSpPr>
          <p:spPr>
            <a:xfrm>
              <a:off x="-13970" y="0"/>
              <a:ext cx="748029" cy="679450"/>
            </a:xfrm>
            <a:prstGeom prst="rect">
              <a:avLst/>
            </a:prstGeom>
          </p:spPr>
          <p:txBody>
            <a:bodyPr lIns="33866" tIns="33866" rIns="33866" bIns="33866" rtlCol="0" anchor="ctr"/>
            <a:lstStyle/>
            <a:p>
              <a:pPr algn="ctr">
                <a:lnSpc>
                  <a:spcPts val="3450"/>
                </a:lnSpc>
              </a:pPr>
              <a:r>
                <a:rPr lang="en-US">
                  <a:solidFill>
                    <a:srgbClr val="FFFFFF"/>
                  </a:solidFill>
                  <a:latin typeface="Calibri (MS)" panose="020F0502020204030204"/>
                  <a:ea typeface="黑体" panose="02010609060101010101" pitchFamily="49" charset="-122"/>
                  <a:cs typeface="Calibri (MS)" panose="020F0502020204030204"/>
                  <a:sym typeface="Calibri (MS)" panose="020F0502020204030204"/>
                </a:rPr>
                <a:t>2</a:t>
              </a:r>
              <a:endParaRPr lang="en-US">
                <a:solidFill>
                  <a:srgbClr val="FFFFFF"/>
                </a:solidFill>
                <a:latin typeface="Calibri (MS)" panose="020F0502020204030204"/>
                <a:ea typeface="黑体" panose="02010609060101010101" pitchFamily="49" charset="-122"/>
                <a:cs typeface="Calibri (MS)" panose="020F0502020204030204"/>
                <a:sym typeface="Calibri (MS)" panose="020F0502020204030204"/>
              </a:endParaRPr>
            </a:p>
          </p:txBody>
        </p:sp>
      </p:grpSp>
      <p:sp>
        <p:nvSpPr>
          <p:cNvPr id="38" name="TextBox 38"/>
          <p:cNvSpPr txBox="1"/>
          <p:nvPr>
            <p:custDataLst>
              <p:tags r:id="rId15"/>
            </p:custDataLst>
          </p:nvPr>
        </p:nvSpPr>
        <p:spPr>
          <a:xfrm>
            <a:off x="7837805" y="3088005"/>
            <a:ext cx="3863340" cy="944880"/>
          </a:xfrm>
          <a:prstGeom prst="rect">
            <a:avLst/>
          </a:prstGeom>
        </p:spPr>
        <p:txBody>
          <a:bodyPr lIns="0" tIns="0" rIns="0" bIns="0" rtlCol="0" anchor="t">
            <a:noAutofit/>
          </a:bodyPr>
          <a:lstStyle/>
          <a:p>
            <a:pPr indent="0" algn="l" fontAlgn="auto">
              <a:lnSpc>
                <a:spcPts val="2820"/>
              </a:lnSpc>
              <a:spcBef>
                <a:spcPct val="0"/>
              </a:spcBef>
            </a:pPr>
            <a:r>
              <a:rPr lang="en-US" sz="1600" b="1">
                <a:solidFill>
                  <a:srgbClr val="000000"/>
                </a:solidFill>
                <a:latin typeface="黑体" panose="02010609060101010101" pitchFamily="49" charset="-122"/>
                <a:ea typeface="黑体" panose="02010609060101010101" pitchFamily="49" charset="-122"/>
                <a:cs typeface="Arimo" panose="020B0604020202020204"/>
                <a:sym typeface="Arimo" panose="020B0604020202020204"/>
              </a:rPr>
              <a:t>收益来源多元</a:t>
            </a:r>
            <a:endParaRPr lang="en-US" sz="1600" b="1">
              <a:solidFill>
                <a:srgbClr val="000000"/>
              </a:solidFill>
              <a:latin typeface="黑体" panose="02010609060101010101" pitchFamily="49" charset="-122"/>
              <a:ea typeface="黑体" panose="02010609060101010101" pitchFamily="49" charset="-122"/>
              <a:cs typeface="Arimo" panose="020B0604020202020204"/>
              <a:sym typeface="Arimo" panose="020B0604020202020204"/>
            </a:endParaRPr>
          </a:p>
          <a:p>
            <a:pPr indent="0" algn="l" fontAlgn="auto">
              <a:lnSpc>
                <a:spcPct val="100000"/>
              </a:lnSpc>
              <a:spcBef>
                <a:spcPct val="0"/>
              </a:spcBef>
            </a:pPr>
            <a:r>
              <a:rPr lang="zh-CN" altLang="en-US" sz="1400">
                <a:solidFill>
                  <a:srgbClr val="000000"/>
                </a:solidFill>
                <a:latin typeface="黑体" panose="02010609060101010101" pitchFamily="49" charset="-122"/>
                <a:ea typeface="黑体" panose="02010609060101010101" pitchFamily="49" charset="-122"/>
                <a:cs typeface="Arimo" panose="020B0604020202020204"/>
                <a:sym typeface="Arimo" panose="020B0604020202020204"/>
              </a:rPr>
              <a:t>储能项目的收益形式高度依赖</a:t>
            </a:r>
            <a:r>
              <a:rPr lang="en-US" sz="1400">
                <a:solidFill>
                  <a:srgbClr val="000000"/>
                </a:solidFill>
                <a:latin typeface="黑体" panose="02010609060101010101" pitchFamily="49" charset="-122"/>
                <a:ea typeface="黑体" panose="02010609060101010101" pitchFamily="49" charset="-122"/>
                <a:cs typeface="Arimo" panose="020B0604020202020204"/>
                <a:sym typeface="Arimo" panose="020B0604020202020204"/>
              </a:rPr>
              <a:t>套利、辅助服务、容量电价、碳收益</a:t>
            </a:r>
            <a:r>
              <a:rPr lang="zh-CN" altLang="en-US" sz="1400">
                <a:solidFill>
                  <a:srgbClr val="000000"/>
                </a:solidFill>
                <a:latin typeface="黑体" panose="02010609060101010101" pitchFamily="49" charset="-122"/>
                <a:ea typeface="黑体" panose="02010609060101010101" pitchFamily="49" charset="-122"/>
                <a:cs typeface="Arimo" panose="020B0604020202020204"/>
                <a:sym typeface="Arimo" panose="020B0604020202020204"/>
              </a:rPr>
              <a:t>，受各类组合收益的你不确定</a:t>
            </a:r>
            <a:r>
              <a:rPr lang="zh-CN" altLang="en-US" sz="1400">
                <a:solidFill>
                  <a:srgbClr val="000000"/>
                </a:solidFill>
                <a:latin typeface="黑体" panose="02010609060101010101" pitchFamily="49" charset="-122"/>
                <a:ea typeface="黑体" panose="02010609060101010101" pitchFamily="49" charset="-122"/>
                <a:cs typeface="Arimo" panose="020B0604020202020204"/>
                <a:sym typeface="Arimo" panose="020B0604020202020204"/>
              </a:rPr>
              <a:t>性影响。</a:t>
            </a:r>
            <a:endParaRPr lang="zh-CN" altLang="en-US" sz="1400">
              <a:solidFill>
                <a:srgbClr val="000000"/>
              </a:solidFill>
              <a:latin typeface="黑体" panose="02010609060101010101" pitchFamily="49" charset="-122"/>
              <a:ea typeface="黑体" panose="02010609060101010101" pitchFamily="49" charset="-122"/>
              <a:cs typeface="Arimo" panose="020B0604020202020204"/>
              <a:sym typeface="Arimo" panose="020B0604020202020204"/>
            </a:endParaRPr>
          </a:p>
        </p:txBody>
      </p:sp>
      <p:grpSp>
        <p:nvGrpSpPr>
          <p:cNvPr id="39" name="Group 39"/>
          <p:cNvGrpSpPr/>
          <p:nvPr>
            <p:custDataLst>
              <p:tags r:id="rId16"/>
            </p:custDataLst>
          </p:nvPr>
        </p:nvGrpSpPr>
        <p:grpSpPr>
          <a:xfrm rot="0">
            <a:off x="7671435" y="4392930"/>
            <a:ext cx="4171950" cy="1162050"/>
            <a:chOff x="0" y="0"/>
            <a:chExt cx="1198004" cy="377568"/>
          </a:xfrm>
        </p:grpSpPr>
        <p:sp>
          <p:nvSpPr>
            <p:cNvPr id="40" name="Freeform 40"/>
            <p:cNvSpPr/>
            <p:nvPr>
              <p:custDataLst>
                <p:tags r:id="rId17"/>
              </p:custDataLst>
            </p:nvPr>
          </p:nvSpPr>
          <p:spPr>
            <a:xfrm>
              <a:off x="0" y="0"/>
              <a:ext cx="1198004" cy="377568"/>
            </a:xfrm>
            <a:custGeom>
              <a:avLst/>
              <a:gdLst/>
              <a:ahLst/>
              <a:cxnLst/>
              <a:rect l="l" t="t" r="r" b="b"/>
              <a:pathLst>
                <a:path w="1198004" h="377568">
                  <a:moveTo>
                    <a:pt x="0" y="0"/>
                  </a:moveTo>
                  <a:lnTo>
                    <a:pt x="1198004" y="0"/>
                  </a:lnTo>
                  <a:lnTo>
                    <a:pt x="1198004" y="377568"/>
                  </a:lnTo>
                  <a:lnTo>
                    <a:pt x="0" y="377568"/>
                  </a:lnTo>
                  <a:close/>
                </a:path>
              </a:pathLst>
            </a:custGeom>
            <a:solidFill>
              <a:srgbClr val="F1EEE8"/>
            </a:solidFill>
          </p:spPr>
        </p:sp>
        <p:sp>
          <p:nvSpPr>
            <p:cNvPr id="41" name="TextBox 41"/>
            <p:cNvSpPr txBox="1"/>
            <p:nvPr/>
          </p:nvSpPr>
          <p:spPr>
            <a:xfrm>
              <a:off x="0" y="-9525"/>
              <a:ext cx="1198004" cy="387093"/>
            </a:xfrm>
            <a:prstGeom prst="rect">
              <a:avLst/>
            </a:prstGeom>
          </p:spPr>
          <p:txBody>
            <a:bodyPr lIns="33866" tIns="33866" rIns="33866" bIns="33866" rtlCol="0" anchor="ctr"/>
            <a:lstStyle/>
            <a:p>
              <a:pPr algn="ctr">
                <a:lnSpc>
                  <a:spcPts val="2880"/>
                </a:lnSpc>
              </a:pPr>
              <a:endParaRPr sz="1200">
                <a:ea typeface="黑体" panose="02010609060101010101" pitchFamily="49" charset="-122"/>
              </a:endParaRPr>
            </a:p>
          </p:txBody>
        </p:sp>
      </p:grpSp>
      <p:grpSp>
        <p:nvGrpSpPr>
          <p:cNvPr id="42" name="Group 42"/>
          <p:cNvGrpSpPr/>
          <p:nvPr>
            <p:custDataLst>
              <p:tags r:id="rId18"/>
            </p:custDataLst>
          </p:nvPr>
        </p:nvGrpSpPr>
        <p:grpSpPr>
          <a:xfrm rot="0">
            <a:off x="7463662" y="4187458"/>
            <a:ext cx="374031" cy="488724"/>
            <a:chOff x="0" y="-152400"/>
            <a:chExt cx="748061" cy="977447"/>
          </a:xfrm>
        </p:grpSpPr>
        <p:sp>
          <p:nvSpPr>
            <p:cNvPr id="43" name="Freeform 43"/>
            <p:cNvSpPr/>
            <p:nvPr>
              <p:custDataLst>
                <p:tags r:id="rId19"/>
              </p:custDataLst>
            </p:nvPr>
          </p:nvSpPr>
          <p:spPr>
            <a:xfrm>
              <a:off x="13149" y="14505"/>
              <a:ext cx="721632" cy="796037"/>
            </a:xfrm>
            <a:custGeom>
              <a:avLst/>
              <a:gdLst/>
              <a:ahLst/>
              <a:cxnLst/>
              <a:rect l="l" t="t" r="r" b="b"/>
              <a:pathLst>
                <a:path w="721632" h="796037">
                  <a:moveTo>
                    <a:pt x="0" y="398019"/>
                  </a:moveTo>
                  <a:cubicBezTo>
                    <a:pt x="0" y="178267"/>
                    <a:pt x="161605" y="0"/>
                    <a:pt x="360816" y="0"/>
                  </a:cubicBezTo>
                  <a:cubicBezTo>
                    <a:pt x="481132" y="0"/>
                    <a:pt x="601448" y="0"/>
                    <a:pt x="721632" y="0"/>
                  </a:cubicBezTo>
                  <a:cubicBezTo>
                    <a:pt x="721632" y="132721"/>
                    <a:pt x="721632" y="265442"/>
                    <a:pt x="721632" y="398019"/>
                  </a:cubicBezTo>
                  <a:cubicBezTo>
                    <a:pt x="721632" y="617915"/>
                    <a:pt x="560028" y="796037"/>
                    <a:pt x="360816" y="796037"/>
                  </a:cubicBezTo>
                  <a:cubicBezTo>
                    <a:pt x="161605" y="796037"/>
                    <a:pt x="0" y="617915"/>
                    <a:pt x="0" y="398019"/>
                  </a:cubicBezTo>
                  <a:close/>
                </a:path>
              </a:pathLst>
            </a:custGeom>
            <a:solidFill>
              <a:srgbClr val="305921"/>
            </a:solidFill>
          </p:spPr>
        </p:sp>
        <p:sp>
          <p:nvSpPr>
            <p:cNvPr id="44" name="Freeform 44"/>
            <p:cNvSpPr/>
            <p:nvPr>
              <p:custDataLst>
                <p:tags r:id="rId20"/>
              </p:custDataLst>
            </p:nvPr>
          </p:nvSpPr>
          <p:spPr>
            <a:xfrm>
              <a:off x="0" y="0"/>
              <a:ext cx="748061" cy="825047"/>
            </a:xfrm>
            <a:custGeom>
              <a:avLst/>
              <a:gdLst/>
              <a:ahLst/>
              <a:cxnLst/>
              <a:rect l="l" t="t" r="r" b="b"/>
              <a:pathLst>
                <a:path w="748061" h="825047">
                  <a:moveTo>
                    <a:pt x="0" y="412524"/>
                  </a:moveTo>
                  <a:cubicBezTo>
                    <a:pt x="0" y="184649"/>
                    <a:pt x="167390" y="0"/>
                    <a:pt x="373965" y="0"/>
                  </a:cubicBezTo>
                  <a:lnTo>
                    <a:pt x="734913" y="0"/>
                  </a:lnTo>
                  <a:cubicBezTo>
                    <a:pt x="742145" y="0"/>
                    <a:pt x="748061" y="6527"/>
                    <a:pt x="748061" y="14505"/>
                  </a:cubicBezTo>
                  <a:lnTo>
                    <a:pt x="748061" y="412524"/>
                  </a:lnTo>
                  <a:lnTo>
                    <a:pt x="734913" y="412524"/>
                  </a:lnTo>
                  <a:lnTo>
                    <a:pt x="748061" y="412524"/>
                  </a:lnTo>
                  <a:cubicBezTo>
                    <a:pt x="748061" y="640398"/>
                    <a:pt x="580672" y="825047"/>
                    <a:pt x="374097" y="825047"/>
                  </a:cubicBezTo>
                  <a:lnTo>
                    <a:pt x="374097" y="810542"/>
                  </a:lnTo>
                  <a:lnTo>
                    <a:pt x="374097" y="825047"/>
                  </a:lnTo>
                  <a:cubicBezTo>
                    <a:pt x="167390" y="825190"/>
                    <a:pt x="0" y="640398"/>
                    <a:pt x="0" y="412524"/>
                  </a:cubicBezTo>
                  <a:lnTo>
                    <a:pt x="13149" y="412524"/>
                  </a:lnTo>
                  <a:lnTo>
                    <a:pt x="0" y="412524"/>
                  </a:lnTo>
                  <a:moveTo>
                    <a:pt x="26299" y="412524"/>
                  </a:moveTo>
                  <a:lnTo>
                    <a:pt x="13149" y="412524"/>
                  </a:lnTo>
                  <a:lnTo>
                    <a:pt x="26299" y="412524"/>
                  </a:lnTo>
                  <a:cubicBezTo>
                    <a:pt x="26299" y="624297"/>
                    <a:pt x="181986" y="796037"/>
                    <a:pt x="373965" y="796037"/>
                  </a:cubicBezTo>
                  <a:cubicBezTo>
                    <a:pt x="565945" y="796037"/>
                    <a:pt x="721763" y="624442"/>
                    <a:pt x="721763" y="412524"/>
                  </a:cubicBezTo>
                  <a:lnTo>
                    <a:pt x="721763" y="14505"/>
                  </a:lnTo>
                  <a:lnTo>
                    <a:pt x="734913" y="14505"/>
                  </a:lnTo>
                  <a:lnTo>
                    <a:pt x="734913" y="29010"/>
                  </a:lnTo>
                  <a:lnTo>
                    <a:pt x="373965" y="29010"/>
                  </a:lnTo>
                  <a:lnTo>
                    <a:pt x="373965" y="14505"/>
                  </a:lnTo>
                  <a:lnTo>
                    <a:pt x="373965" y="29010"/>
                  </a:lnTo>
                  <a:cubicBezTo>
                    <a:pt x="181986" y="29010"/>
                    <a:pt x="26299" y="200750"/>
                    <a:pt x="26299" y="412524"/>
                  </a:cubicBezTo>
                  <a:close/>
                </a:path>
              </a:pathLst>
            </a:custGeom>
            <a:solidFill>
              <a:srgbClr val="305921"/>
            </a:solidFill>
          </p:spPr>
        </p:sp>
        <p:sp>
          <p:nvSpPr>
            <p:cNvPr id="45" name="TextBox 45"/>
            <p:cNvSpPr txBox="1"/>
            <p:nvPr>
              <p:custDataLst>
                <p:tags r:id="rId21"/>
              </p:custDataLst>
            </p:nvPr>
          </p:nvSpPr>
          <p:spPr>
            <a:xfrm>
              <a:off x="0" y="-152400"/>
              <a:ext cx="748049" cy="882328"/>
            </a:xfrm>
            <a:prstGeom prst="rect">
              <a:avLst/>
            </a:prstGeom>
          </p:spPr>
          <p:txBody>
            <a:bodyPr lIns="33866" tIns="33866" rIns="33866" bIns="33866" rtlCol="0" anchor="ctr"/>
            <a:lstStyle/>
            <a:p>
              <a:pPr algn="ctr">
                <a:lnSpc>
                  <a:spcPts val="3240"/>
                </a:lnSpc>
              </a:pPr>
              <a:r>
                <a:rPr lang="en-US">
                  <a:solidFill>
                    <a:srgbClr val="FFFFFF"/>
                  </a:solidFill>
                  <a:latin typeface="Calibri (MS)" panose="020F0502020204030204"/>
                  <a:ea typeface="黑体" panose="02010609060101010101" pitchFamily="49" charset="-122"/>
                  <a:cs typeface="Calibri (MS)" panose="020F0502020204030204"/>
                  <a:sym typeface="Calibri (MS)" panose="020F0502020204030204"/>
                </a:rPr>
                <a:t>3</a:t>
              </a:r>
              <a:endParaRPr lang="en-US">
                <a:solidFill>
                  <a:srgbClr val="FFFFFF"/>
                </a:solidFill>
                <a:latin typeface="Calibri (MS)" panose="020F0502020204030204"/>
                <a:ea typeface="黑体" panose="02010609060101010101" pitchFamily="49" charset="-122"/>
                <a:cs typeface="Calibri (MS)" panose="020F0502020204030204"/>
                <a:sym typeface="Calibri (MS)" panose="020F0502020204030204"/>
              </a:endParaRPr>
            </a:p>
          </p:txBody>
        </p:sp>
      </p:grpSp>
      <p:sp>
        <p:nvSpPr>
          <p:cNvPr id="46" name="TextBox 46"/>
          <p:cNvSpPr txBox="1"/>
          <p:nvPr>
            <p:custDataLst>
              <p:tags r:id="rId22"/>
            </p:custDataLst>
          </p:nvPr>
        </p:nvSpPr>
        <p:spPr>
          <a:xfrm>
            <a:off x="7837805" y="4443095"/>
            <a:ext cx="3985895" cy="1015365"/>
          </a:xfrm>
          <a:prstGeom prst="rect">
            <a:avLst/>
          </a:prstGeom>
        </p:spPr>
        <p:txBody>
          <a:bodyPr wrap="square" lIns="0" tIns="0" rIns="0" bIns="0" rtlCol="0" anchor="t">
            <a:spAutoFit/>
          </a:bodyPr>
          <a:lstStyle/>
          <a:p>
            <a:pPr algn="l">
              <a:lnSpc>
                <a:spcPts val="2880"/>
              </a:lnSpc>
              <a:spcBef>
                <a:spcPct val="0"/>
              </a:spcBef>
            </a:pPr>
            <a:r>
              <a:rPr lang="en-US" sz="1600" b="1">
                <a:solidFill>
                  <a:srgbClr val="000000"/>
                </a:solidFill>
                <a:uFillTx/>
                <a:latin typeface="黑体" panose="02010609060101010101" pitchFamily="49" charset="-122"/>
                <a:ea typeface="黑体" panose="02010609060101010101" pitchFamily="49" charset="-122"/>
                <a:cs typeface="Arimo" panose="020B0604020202020204"/>
                <a:sym typeface="Arimo" panose="020B0604020202020204"/>
              </a:rPr>
              <a:t>收益波动较强</a:t>
            </a:r>
            <a:endParaRPr lang="en-US" sz="1600" b="1">
              <a:solidFill>
                <a:srgbClr val="000000"/>
              </a:solidFill>
              <a:uFillTx/>
              <a:latin typeface="黑体" panose="02010609060101010101" pitchFamily="49" charset="-122"/>
              <a:ea typeface="黑体" panose="02010609060101010101" pitchFamily="49" charset="-122"/>
              <a:cs typeface="Arimo" panose="020B0604020202020204"/>
              <a:sym typeface="Arimo" panose="020B0604020202020204"/>
            </a:endParaRPr>
          </a:p>
          <a:p>
            <a:pPr indent="0" algn="l" fontAlgn="auto">
              <a:lnSpc>
                <a:spcPct val="100000"/>
              </a:lnSpc>
              <a:spcBef>
                <a:spcPct val="0"/>
              </a:spcBef>
            </a:pPr>
            <a:r>
              <a:rPr lang="zh-CN" altLang="en-US" sz="1400">
                <a:solidFill>
                  <a:srgbClr val="000000"/>
                </a:solidFill>
                <a:uFillTx/>
                <a:latin typeface="黑体" panose="02010609060101010101" pitchFamily="49" charset="-122"/>
                <a:ea typeface="黑体" panose="02010609060101010101" pitchFamily="49" charset="-122"/>
                <a:cs typeface="Arimo" panose="020B0604020202020204"/>
                <a:sym typeface="Arimo" panose="020B0604020202020204"/>
              </a:rPr>
              <a:t>电价套利收益高度依赖市场化价差，辅助服务收益受各省规则碎片化制约，碳</a:t>
            </a:r>
            <a:r>
              <a:rPr lang="en-US" altLang="zh-CN" sz="1400">
                <a:solidFill>
                  <a:srgbClr val="000000"/>
                </a:solidFill>
                <a:uFillTx/>
                <a:latin typeface="黑体" panose="02010609060101010101" pitchFamily="49" charset="-122"/>
                <a:ea typeface="黑体" panose="02010609060101010101" pitchFamily="49" charset="-122"/>
                <a:cs typeface="Arimo" panose="020B0604020202020204"/>
                <a:sym typeface="Arimo" panose="020B0604020202020204"/>
              </a:rPr>
              <a:t>/</a:t>
            </a:r>
            <a:r>
              <a:rPr lang="zh-CN" altLang="en-US" sz="1400">
                <a:solidFill>
                  <a:srgbClr val="000000"/>
                </a:solidFill>
                <a:uFillTx/>
                <a:latin typeface="黑体" panose="02010609060101010101" pitchFamily="49" charset="-122"/>
                <a:ea typeface="黑体" panose="02010609060101010101" pitchFamily="49" charset="-122"/>
                <a:cs typeface="Arimo" panose="020B0604020202020204"/>
                <a:sym typeface="Arimo" panose="020B0604020202020204"/>
              </a:rPr>
              <a:t>绿证收益市场流动性有待提升。</a:t>
            </a:r>
            <a:endParaRPr lang="zh-CN" altLang="en-US" sz="1400">
              <a:solidFill>
                <a:srgbClr val="000000"/>
              </a:solidFill>
              <a:uFillTx/>
              <a:latin typeface="黑体" panose="02010609060101010101" pitchFamily="49" charset="-122"/>
              <a:ea typeface="黑体" panose="02010609060101010101" pitchFamily="49" charset="-122"/>
              <a:cs typeface="Arimo" panose="020B0604020202020204"/>
              <a:sym typeface="Arimo" panose="020B0604020202020204"/>
            </a:endParaRPr>
          </a:p>
        </p:txBody>
      </p:sp>
      <p:sp>
        <p:nvSpPr>
          <p:cNvPr id="59" name="AutoShape 59"/>
          <p:cNvSpPr/>
          <p:nvPr/>
        </p:nvSpPr>
        <p:spPr>
          <a:xfrm>
            <a:off x="7193338" y="5728566"/>
            <a:ext cx="4424116" cy="19064"/>
          </a:xfrm>
          <a:prstGeom prst="line">
            <a:avLst/>
          </a:prstGeom>
          <a:ln w="9525" cap="rnd">
            <a:solidFill>
              <a:srgbClr val="E7E6E6"/>
            </a:solidFill>
            <a:prstDash val="solid"/>
            <a:headEnd type="none" w="sm" len="sm"/>
            <a:tailEnd type="none" w="sm" len="sm"/>
          </a:ln>
        </p:spPr>
      </p:sp>
      <p:sp>
        <p:nvSpPr>
          <p:cNvPr id="60" name="文本框 59"/>
          <p:cNvSpPr txBox="1"/>
          <p:nvPr/>
        </p:nvSpPr>
        <p:spPr>
          <a:xfrm>
            <a:off x="810895" y="1905"/>
            <a:ext cx="5953125" cy="583565"/>
          </a:xfrm>
          <a:prstGeom prst="rect">
            <a:avLst/>
          </a:prstGeom>
          <a:noFill/>
        </p:spPr>
        <p:txBody>
          <a:bodyPr wrap="square" rtlCol="0">
            <a:spAutoFit/>
          </a:bodyPr>
          <a:lstStyle/>
          <a:p>
            <a:r>
              <a:rPr lang="zh-CN" altLang="en-US" sz="3200" b="1" dirty="0">
                <a:solidFill>
                  <a:srgbClr val="305921"/>
                </a:solidFill>
                <a:latin typeface="微软雅黑" panose="020B0503020204020204" pitchFamily="34" charset="-122"/>
                <a:ea typeface="微软雅黑" panose="020B0503020204020204" pitchFamily="34" charset="-122"/>
                <a:cs typeface="华文宋体" panose="02010600040101010101" charset="-122"/>
              </a:rPr>
              <a:t>行业背景和行业</a:t>
            </a:r>
            <a:r>
              <a:rPr lang="zh-CN" altLang="en-US" sz="3200" b="1" dirty="0">
                <a:solidFill>
                  <a:srgbClr val="305921"/>
                </a:solidFill>
                <a:latin typeface="微软雅黑" panose="020B0503020204020204" pitchFamily="34" charset="-122"/>
                <a:ea typeface="微软雅黑" panose="020B0503020204020204" pitchFamily="34" charset="-122"/>
                <a:cs typeface="华文宋体" panose="02010600040101010101" charset="-122"/>
              </a:rPr>
              <a:t>问题</a:t>
            </a:r>
            <a:endParaRPr lang="zh-CN" altLang="en-US" sz="3200" b="1" dirty="0">
              <a:solidFill>
                <a:srgbClr val="305921"/>
              </a:solidFill>
              <a:latin typeface="微软雅黑" panose="020B0503020204020204" pitchFamily="34" charset="-122"/>
              <a:ea typeface="微软雅黑" panose="020B0503020204020204" pitchFamily="34" charset="-122"/>
              <a:cs typeface="华文宋体" panose="02010600040101010101" charset="-122"/>
            </a:endParaRPr>
          </a:p>
        </p:txBody>
      </p:sp>
      <p:sp>
        <p:nvSpPr>
          <p:cNvPr id="64" name="矩形 63"/>
          <p:cNvSpPr/>
          <p:nvPr/>
        </p:nvSpPr>
        <p:spPr>
          <a:xfrm>
            <a:off x="-12700" y="3501019"/>
            <a:ext cx="431321" cy="966158"/>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F7F7F"/>
              </a:solidFill>
            </a:endParaRPr>
          </a:p>
        </p:txBody>
      </p:sp>
      <p:sp>
        <p:nvSpPr>
          <p:cNvPr id="65" name="矩形 64"/>
          <p:cNvSpPr/>
          <p:nvPr/>
        </p:nvSpPr>
        <p:spPr>
          <a:xfrm>
            <a:off x="-6350" y="2338334"/>
            <a:ext cx="431321" cy="966158"/>
          </a:xfrm>
          <a:prstGeom prst="rect">
            <a:avLst/>
          </a:prstGeom>
          <a:solidFill>
            <a:srgbClr val="7F7F7F"/>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6350" y="1185174"/>
            <a:ext cx="431321" cy="966158"/>
          </a:xfrm>
          <a:prstGeom prst="rect">
            <a:avLst/>
          </a:prstGeom>
          <a:solidFill>
            <a:srgbClr val="3059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noFill/>
              </a:ln>
              <a:solidFill>
                <a:srgbClr val="7F7F7F"/>
              </a:solidFill>
            </a:endParaRPr>
          </a:p>
        </p:txBody>
      </p:sp>
      <p:sp>
        <p:nvSpPr>
          <p:cNvPr id="67" name="文本框 66"/>
          <p:cNvSpPr txBox="1"/>
          <p:nvPr/>
        </p:nvSpPr>
        <p:spPr>
          <a:xfrm rot="16200000">
            <a:off x="-295536" y="3815604"/>
            <a:ext cx="996991" cy="306705"/>
          </a:xfrm>
          <a:prstGeom prst="rect">
            <a:avLst/>
          </a:prstGeom>
          <a:noFill/>
        </p:spPr>
        <p:txBody>
          <a:bodyPr wrap="square" rtlCol="0">
            <a:spAutoFit/>
          </a:bodyPr>
          <a:lstStyle/>
          <a:p>
            <a:pPr algn="ctr"/>
            <a:r>
              <a:rPr lang="en-US" altLang="zh-CN" sz="1400" b="1" dirty="0">
                <a:solidFill>
                  <a:schemeClr val="bg1"/>
                </a:solidFill>
                <a:latin typeface="微软雅黑" panose="020B0503020204020204" pitchFamily="34" charset="-122"/>
                <a:ea typeface="微软雅黑" panose="020B0503020204020204" pitchFamily="34" charset="-122"/>
              </a:rPr>
              <a:t>ESCS</a:t>
            </a:r>
            <a:r>
              <a:rPr lang="zh-CN" altLang="en-US" sz="1400" b="1" dirty="0">
                <a:solidFill>
                  <a:schemeClr val="bg1"/>
                </a:solidFill>
                <a:latin typeface="微软雅黑" panose="020B0503020204020204" pitchFamily="34" charset="-122"/>
                <a:ea typeface="微软雅黑" panose="020B0503020204020204" pitchFamily="34" charset="-122"/>
              </a:rPr>
              <a:t>模型</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68" name="文本框 67"/>
          <p:cNvSpPr txBox="1"/>
          <p:nvPr/>
        </p:nvSpPr>
        <p:spPr>
          <a:xfrm rot="16200000">
            <a:off x="-295536" y="2667524"/>
            <a:ext cx="996991" cy="306705"/>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行业机会</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69" name="文本框 68"/>
          <p:cNvSpPr txBox="1"/>
          <p:nvPr/>
        </p:nvSpPr>
        <p:spPr>
          <a:xfrm rot="16200000">
            <a:off x="-289187" y="1537224"/>
            <a:ext cx="996991" cy="306705"/>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行业</a:t>
            </a:r>
            <a:r>
              <a:rPr lang="zh-CN" altLang="en-US" sz="1400" b="1" dirty="0">
                <a:solidFill>
                  <a:schemeClr val="bg1"/>
                </a:solidFill>
                <a:latin typeface="微软雅黑" panose="020B0503020204020204" pitchFamily="34" charset="-122"/>
                <a:ea typeface="微软雅黑" panose="020B0503020204020204" pitchFamily="34" charset="-122"/>
              </a:rPr>
              <a:t>背景</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61" name="矩形 60"/>
          <p:cNvSpPr/>
          <p:nvPr/>
        </p:nvSpPr>
        <p:spPr>
          <a:xfrm>
            <a:off x="-6350" y="4655449"/>
            <a:ext cx="431321" cy="966158"/>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F7F7F"/>
              </a:solidFill>
            </a:endParaRPr>
          </a:p>
        </p:txBody>
      </p:sp>
      <p:sp>
        <p:nvSpPr>
          <p:cNvPr id="62" name="文本框 61"/>
          <p:cNvSpPr txBox="1"/>
          <p:nvPr/>
        </p:nvSpPr>
        <p:spPr>
          <a:xfrm rot="16200000">
            <a:off x="-289186" y="4970034"/>
            <a:ext cx="996991" cy="306705"/>
          </a:xfrm>
          <a:prstGeom prst="rect">
            <a:avLst/>
          </a:prstGeom>
          <a:noFill/>
        </p:spPr>
        <p:txBody>
          <a:bodyPr wrap="square" rtlCol="0">
            <a:spAutoFit/>
          </a:bodyPr>
          <a:lstStyle/>
          <a:p>
            <a:pPr algn="ctr"/>
            <a:r>
              <a:rPr lang="en-US" altLang="zh-CN" sz="1400" b="1" dirty="0">
                <a:solidFill>
                  <a:schemeClr val="bg1"/>
                </a:solidFill>
                <a:latin typeface="微软雅黑" panose="020B0503020204020204" pitchFamily="34" charset="-122"/>
                <a:ea typeface="微软雅黑" panose="020B0503020204020204" pitchFamily="34" charset="-122"/>
              </a:rPr>
              <a:t>ESCS</a:t>
            </a:r>
            <a:r>
              <a:rPr lang="zh-CN" altLang="en-US" sz="1400" b="1" dirty="0">
                <a:solidFill>
                  <a:schemeClr val="bg1"/>
                </a:solidFill>
                <a:latin typeface="微软雅黑" panose="020B0503020204020204" pitchFamily="34" charset="-122"/>
                <a:ea typeface="微软雅黑" panose="020B0503020204020204" pitchFamily="34" charset="-122"/>
              </a:rPr>
              <a:t>应用</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grpSp>
        <p:nvGrpSpPr>
          <p:cNvPr id="63" name="Group 2"/>
          <p:cNvGrpSpPr/>
          <p:nvPr/>
        </p:nvGrpSpPr>
        <p:grpSpPr>
          <a:xfrm rot="0">
            <a:off x="934720" y="1153795"/>
            <a:ext cx="5829300" cy="2433320"/>
            <a:chOff x="0" y="0"/>
            <a:chExt cx="13587134" cy="6754025"/>
          </a:xfrm>
        </p:grpSpPr>
        <p:sp>
          <p:nvSpPr>
            <p:cNvPr id="70" name="Freeform 3"/>
            <p:cNvSpPr/>
            <p:nvPr/>
          </p:nvSpPr>
          <p:spPr>
            <a:xfrm>
              <a:off x="0" y="0"/>
              <a:ext cx="13587133" cy="6753987"/>
            </a:xfrm>
            <a:custGeom>
              <a:avLst/>
              <a:gdLst/>
              <a:ahLst/>
              <a:cxnLst/>
              <a:rect l="l" t="t" r="r" b="b"/>
              <a:pathLst>
                <a:path w="13587133" h="6753987">
                  <a:moveTo>
                    <a:pt x="14235" y="0"/>
                  </a:moveTo>
                  <a:lnTo>
                    <a:pt x="13572899" y="0"/>
                  </a:lnTo>
                  <a:cubicBezTo>
                    <a:pt x="13580757" y="0"/>
                    <a:pt x="13587133" y="7112"/>
                    <a:pt x="13587133" y="15875"/>
                  </a:cubicBezTo>
                  <a:lnTo>
                    <a:pt x="13587133" y="6738112"/>
                  </a:lnTo>
                  <a:cubicBezTo>
                    <a:pt x="13587133" y="6746875"/>
                    <a:pt x="13580757" y="6753987"/>
                    <a:pt x="13572899" y="6753987"/>
                  </a:cubicBezTo>
                  <a:lnTo>
                    <a:pt x="14235" y="6753987"/>
                  </a:lnTo>
                  <a:cubicBezTo>
                    <a:pt x="6377" y="6753987"/>
                    <a:pt x="0" y="6746875"/>
                    <a:pt x="0" y="6738112"/>
                  </a:cubicBezTo>
                  <a:lnTo>
                    <a:pt x="0" y="15875"/>
                  </a:lnTo>
                  <a:cubicBezTo>
                    <a:pt x="0" y="7112"/>
                    <a:pt x="6377" y="0"/>
                    <a:pt x="14235" y="0"/>
                  </a:cubicBezTo>
                  <a:moveTo>
                    <a:pt x="14235" y="31750"/>
                  </a:moveTo>
                  <a:lnTo>
                    <a:pt x="14235" y="15875"/>
                  </a:lnTo>
                  <a:lnTo>
                    <a:pt x="28470" y="15875"/>
                  </a:lnTo>
                  <a:lnTo>
                    <a:pt x="28470" y="6738112"/>
                  </a:lnTo>
                  <a:lnTo>
                    <a:pt x="14235" y="6738112"/>
                  </a:lnTo>
                  <a:lnTo>
                    <a:pt x="14235" y="6722237"/>
                  </a:lnTo>
                  <a:lnTo>
                    <a:pt x="13572899" y="6722237"/>
                  </a:lnTo>
                  <a:lnTo>
                    <a:pt x="13572899" y="6738112"/>
                  </a:lnTo>
                  <a:lnTo>
                    <a:pt x="13558664" y="6738112"/>
                  </a:lnTo>
                  <a:lnTo>
                    <a:pt x="13558664" y="15875"/>
                  </a:lnTo>
                  <a:lnTo>
                    <a:pt x="13572899" y="15875"/>
                  </a:lnTo>
                  <a:lnTo>
                    <a:pt x="13572899" y="31750"/>
                  </a:lnTo>
                  <a:lnTo>
                    <a:pt x="14235" y="31750"/>
                  </a:lnTo>
                  <a:close/>
                </a:path>
              </a:pathLst>
            </a:custGeom>
            <a:solidFill>
              <a:srgbClr val="305921"/>
            </a:solidFill>
          </p:spPr>
        </p:sp>
      </p:grpSp>
      <p:grpSp>
        <p:nvGrpSpPr>
          <p:cNvPr id="71" name="Group 9"/>
          <p:cNvGrpSpPr/>
          <p:nvPr/>
        </p:nvGrpSpPr>
        <p:grpSpPr>
          <a:xfrm rot="0">
            <a:off x="2797175" y="1008380"/>
            <a:ext cx="2416810" cy="385445"/>
            <a:chOff x="0" y="0"/>
            <a:chExt cx="4369874" cy="879723"/>
          </a:xfrm>
        </p:grpSpPr>
        <p:sp>
          <p:nvSpPr>
            <p:cNvPr id="72" name="Freeform 10"/>
            <p:cNvSpPr/>
            <p:nvPr/>
          </p:nvSpPr>
          <p:spPr>
            <a:xfrm>
              <a:off x="33693" y="6467"/>
              <a:ext cx="4302556" cy="866802"/>
            </a:xfrm>
            <a:custGeom>
              <a:avLst/>
              <a:gdLst/>
              <a:ahLst/>
              <a:cxnLst/>
              <a:rect l="l" t="t" r="r" b="b"/>
              <a:pathLst>
                <a:path w="4302556" h="866802">
                  <a:moveTo>
                    <a:pt x="0" y="0"/>
                  </a:moveTo>
                  <a:lnTo>
                    <a:pt x="4302556" y="0"/>
                  </a:lnTo>
                  <a:lnTo>
                    <a:pt x="4302556" y="866802"/>
                  </a:lnTo>
                  <a:lnTo>
                    <a:pt x="0" y="866802"/>
                  </a:lnTo>
                  <a:close/>
                </a:path>
              </a:pathLst>
            </a:custGeom>
            <a:solidFill>
              <a:srgbClr val="305921"/>
            </a:solidFill>
          </p:spPr>
        </p:sp>
        <p:sp>
          <p:nvSpPr>
            <p:cNvPr id="73" name="Freeform 11"/>
            <p:cNvSpPr/>
            <p:nvPr/>
          </p:nvSpPr>
          <p:spPr>
            <a:xfrm>
              <a:off x="0" y="0"/>
              <a:ext cx="4369900" cy="879748"/>
            </a:xfrm>
            <a:custGeom>
              <a:avLst/>
              <a:gdLst/>
              <a:ahLst/>
              <a:cxnLst/>
              <a:rect l="l" t="t" r="r" b="b"/>
              <a:pathLst>
                <a:path w="4369900" h="879748">
                  <a:moveTo>
                    <a:pt x="33693" y="0"/>
                  </a:moveTo>
                  <a:lnTo>
                    <a:pt x="4336249" y="0"/>
                  </a:lnTo>
                  <a:cubicBezTo>
                    <a:pt x="4354780" y="0"/>
                    <a:pt x="4369900" y="2910"/>
                    <a:pt x="4369900" y="6467"/>
                  </a:cubicBezTo>
                  <a:lnTo>
                    <a:pt x="4369900" y="873269"/>
                  </a:lnTo>
                  <a:cubicBezTo>
                    <a:pt x="4369900" y="876826"/>
                    <a:pt x="4354780" y="879748"/>
                    <a:pt x="4336249" y="879748"/>
                  </a:cubicBezTo>
                  <a:lnTo>
                    <a:pt x="33693" y="879748"/>
                  </a:lnTo>
                  <a:cubicBezTo>
                    <a:pt x="15162" y="879748"/>
                    <a:pt x="0" y="876826"/>
                    <a:pt x="0" y="873269"/>
                  </a:cubicBezTo>
                  <a:lnTo>
                    <a:pt x="0" y="6467"/>
                  </a:lnTo>
                  <a:cubicBezTo>
                    <a:pt x="0" y="2910"/>
                    <a:pt x="15162" y="0"/>
                    <a:pt x="33693" y="0"/>
                  </a:cubicBezTo>
                  <a:moveTo>
                    <a:pt x="33693" y="12933"/>
                  </a:moveTo>
                  <a:lnTo>
                    <a:pt x="33693" y="6467"/>
                  </a:lnTo>
                  <a:lnTo>
                    <a:pt x="67385" y="6467"/>
                  </a:lnTo>
                  <a:lnTo>
                    <a:pt x="67385" y="873269"/>
                  </a:lnTo>
                  <a:lnTo>
                    <a:pt x="33693" y="873269"/>
                  </a:lnTo>
                  <a:lnTo>
                    <a:pt x="33693" y="866802"/>
                  </a:lnTo>
                  <a:lnTo>
                    <a:pt x="4336249" y="866802"/>
                  </a:lnTo>
                  <a:lnTo>
                    <a:pt x="4336249" y="873269"/>
                  </a:lnTo>
                  <a:lnTo>
                    <a:pt x="4302556" y="873269"/>
                  </a:lnTo>
                  <a:lnTo>
                    <a:pt x="4302556" y="6467"/>
                  </a:lnTo>
                  <a:lnTo>
                    <a:pt x="4336249" y="6467"/>
                  </a:lnTo>
                  <a:lnTo>
                    <a:pt x="4336249" y="12933"/>
                  </a:lnTo>
                  <a:lnTo>
                    <a:pt x="33693" y="12933"/>
                  </a:lnTo>
                  <a:close/>
                </a:path>
              </a:pathLst>
            </a:custGeom>
            <a:solidFill>
              <a:srgbClr val="305921"/>
            </a:solidFill>
          </p:spPr>
        </p:sp>
      </p:grpSp>
      <p:sp>
        <p:nvSpPr>
          <p:cNvPr id="74" name="TextBox 28"/>
          <p:cNvSpPr txBox="1"/>
          <p:nvPr/>
        </p:nvSpPr>
        <p:spPr>
          <a:xfrm>
            <a:off x="2907030" y="1008380"/>
            <a:ext cx="2204720" cy="323215"/>
          </a:xfrm>
          <a:prstGeom prst="rect">
            <a:avLst/>
          </a:prstGeom>
        </p:spPr>
        <p:txBody>
          <a:bodyPr wrap="square" lIns="0" tIns="0" rIns="0" bIns="0" rtlCol="0" anchor="t">
            <a:noAutofit/>
          </a:bodyPr>
          <a:lstStyle/>
          <a:p>
            <a:pPr algn="ctr">
              <a:lnSpc>
                <a:spcPts val="2520"/>
              </a:lnSpc>
              <a:spcBef>
                <a:spcPct val="0"/>
              </a:spcBef>
            </a:pPr>
            <a:r>
              <a:rPr lang="zh-CN" altLang="en-US" sz="1400" b="1">
                <a:solidFill>
                  <a:srgbClr val="FFFFFF"/>
                </a:solidFill>
                <a:latin typeface="黑体" panose="02010609060101010101" pitchFamily="49" charset="-122"/>
                <a:ea typeface="黑体" panose="02010609060101010101" pitchFamily="49" charset="-122"/>
                <a:cs typeface="黑体" panose="02010609060101010101" pitchFamily="49" charset="-122"/>
                <a:sym typeface="Arimo Bold" panose="020B0704020202020204"/>
              </a:rPr>
              <a:t>国际储能分配格局（</a:t>
            </a:r>
            <a:r>
              <a:rPr lang="en-US" altLang="zh-CN" sz="1400" b="1">
                <a:solidFill>
                  <a:srgbClr val="FFFFFF"/>
                </a:solidFill>
                <a:latin typeface="黑体" panose="02010609060101010101" pitchFamily="49" charset="-122"/>
                <a:ea typeface="黑体" panose="02010609060101010101" pitchFamily="49" charset="-122"/>
                <a:cs typeface="黑体" panose="02010609060101010101" pitchFamily="49" charset="-122"/>
                <a:sym typeface="Arimo Bold" panose="020B0704020202020204"/>
              </a:rPr>
              <a:t>2025</a:t>
            </a:r>
            <a:r>
              <a:rPr lang="zh-CN" altLang="en-US" sz="1400" b="1">
                <a:solidFill>
                  <a:srgbClr val="FFFFFF"/>
                </a:solidFill>
                <a:latin typeface="黑体" panose="02010609060101010101" pitchFamily="49" charset="-122"/>
                <a:ea typeface="黑体" panose="02010609060101010101" pitchFamily="49" charset="-122"/>
                <a:cs typeface="黑体" panose="02010609060101010101" pitchFamily="49" charset="-122"/>
                <a:sym typeface="Arimo Bold" panose="020B0704020202020204"/>
              </a:rPr>
              <a:t>年）</a:t>
            </a:r>
            <a:endParaRPr lang="zh-CN" altLang="en-US" sz="1400" b="1">
              <a:solidFill>
                <a:srgbClr val="FFFFFF"/>
              </a:solidFill>
              <a:latin typeface="黑体" panose="02010609060101010101" pitchFamily="49" charset="-122"/>
              <a:ea typeface="黑体" panose="02010609060101010101" pitchFamily="49" charset="-122"/>
              <a:cs typeface="黑体" panose="02010609060101010101" pitchFamily="49" charset="-122"/>
              <a:sym typeface="Arimo Bold" panose="020B0704020202020204"/>
            </a:endParaRPr>
          </a:p>
        </p:txBody>
      </p:sp>
      <p:sp>
        <p:nvSpPr>
          <p:cNvPr id="80" name="文本框 79"/>
          <p:cNvSpPr txBox="1"/>
          <p:nvPr/>
        </p:nvSpPr>
        <p:spPr>
          <a:xfrm>
            <a:off x="3133090" y="1489710"/>
            <a:ext cx="3500120" cy="1814830"/>
          </a:xfrm>
          <a:prstGeom prst="rect">
            <a:avLst/>
          </a:prstGeom>
          <a:noFill/>
        </p:spPr>
        <p:txBody>
          <a:bodyPr wrap="square" rtlCol="0">
            <a:spAutoFit/>
          </a:bodyPr>
          <a:p>
            <a:pPr marL="285750" indent="-285750">
              <a:buFont typeface="Wingdings" panose="05000000000000000000" charset="0"/>
              <a:buChar char="p"/>
            </a:pPr>
            <a:r>
              <a:rPr lang="zh-CN" altLang="en-US" sz="1400">
                <a:latin typeface="黑体" panose="02010609060101010101" pitchFamily="49" charset="-122"/>
                <a:ea typeface="黑体" panose="02010609060101010101" pitchFamily="49" charset="-122"/>
              </a:rPr>
              <a:t>中国占据</a:t>
            </a:r>
            <a:r>
              <a:rPr lang="en-US" altLang="zh-CN" sz="1400" b="1">
                <a:latin typeface="黑体" panose="02010609060101010101" pitchFamily="49" charset="-122"/>
                <a:ea typeface="黑体" panose="02010609060101010101" pitchFamily="49" charset="-122"/>
              </a:rPr>
              <a:t>55.7%</a:t>
            </a:r>
            <a:r>
              <a:rPr lang="zh-CN" altLang="en-US" sz="1400">
                <a:latin typeface="黑体" panose="02010609060101010101" pitchFamily="49" charset="-122"/>
                <a:ea typeface="黑体" panose="02010609060101010101" pitchFamily="49" charset="-122"/>
              </a:rPr>
              <a:t>市场份额，储能产业进入规模化主导阶段。</a:t>
            </a:r>
            <a:endParaRPr lang="zh-CN" altLang="en-US" sz="1400">
              <a:latin typeface="黑体" panose="02010609060101010101" pitchFamily="49" charset="-122"/>
              <a:ea typeface="黑体" panose="02010609060101010101" pitchFamily="49" charset="-122"/>
            </a:endParaRPr>
          </a:p>
          <a:p>
            <a:pPr marL="285750" indent="-285750">
              <a:buFont typeface="Wingdings" panose="05000000000000000000" charset="0"/>
              <a:buChar char="p"/>
            </a:pPr>
            <a:endParaRPr lang="zh-CN" altLang="en-US" sz="1400">
              <a:latin typeface="黑体" panose="02010609060101010101" pitchFamily="49" charset="-122"/>
              <a:ea typeface="黑体" panose="02010609060101010101" pitchFamily="49" charset="-122"/>
            </a:endParaRPr>
          </a:p>
          <a:p>
            <a:pPr marL="285750" indent="-285750">
              <a:buFont typeface="Wingdings" panose="05000000000000000000" charset="0"/>
              <a:buChar char="p"/>
            </a:pPr>
            <a:r>
              <a:rPr lang="zh-CN" altLang="en-US" sz="1400">
                <a:latin typeface="黑体" panose="02010609060101010101" pitchFamily="49" charset="-122"/>
                <a:ea typeface="黑体" panose="02010609060101010101" pitchFamily="49" charset="-122"/>
              </a:rPr>
              <a:t>美国与欧洲合计约</a:t>
            </a:r>
            <a:r>
              <a:rPr lang="en-US" altLang="zh-CN" sz="1400" b="1">
                <a:latin typeface="黑体" panose="02010609060101010101" pitchFamily="49" charset="-122"/>
                <a:ea typeface="黑体" panose="02010609060101010101" pitchFamily="49" charset="-122"/>
              </a:rPr>
              <a:t>38%</a:t>
            </a:r>
            <a:r>
              <a:rPr lang="zh-CN" altLang="en-US" sz="1400">
                <a:latin typeface="黑体" panose="02010609060101010101" pitchFamily="49" charset="-122"/>
                <a:ea typeface="黑体" panose="02010609060101010101" pitchFamily="49" charset="-122"/>
              </a:rPr>
              <a:t>，全球竞争格局呈现双极化趋势。</a:t>
            </a:r>
            <a:endParaRPr lang="zh-CN" altLang="en-US" sz="1400">
              <a:latin typeface="黑体" panose="02010609060101010101" pitchFamily="49" charset="-122"/>
              <a:ea typeface="黑体" panose="02010609060101010101" pitchFamily="49" charset="-122"/>
            </a:endParaRPr>
          </a:p>
          <a:p>
            <a:pPr marL="285750" indent="-285750">
              <a:buFont typeface="Wingdings" panose="05000000000000000000" charset="0"/>
              <a:buChar char="p"/>
            </a:pPr>
            <a:endParaRPr lang="zh-CN" altLang="en-US" sz="1400">
              <a:latin typeface="黑体" panose="02010609060101010101" pitchFamily="49" charset="-122"/>
              <a:ea typeface="黑体" panose="02010609060101010101" pitchFamily="49" charset="-122"/>
            </a:endParaRPr>
          </a:p>
          <a:p>
            <a:pPr marL="285750" indent="-285750">
              <a:buFont typeface="Wingdings" panose="05000000000000000000" charset="0"/>
              <a:buChar char="p"/>
            </a:pPr>
            <a:r>
              <a:rPr lang="zh-CN" altLang="en-US" sz="1400">
                <a:latin typeface="黑体" panose="02010609060101010101" pitchFamily="49" charset="-122"/>
                <a:ea typeface="黑体" panose="02010609060101010101" pitchFamily="49" charset="-122"/>
              </a:rPr>
              <a:t>市场集中度高，为储能资产规模化融资与标准化评估提供基础</a:t>
            </a:r>
            <a:endParaRPr lang="zh-CN" altLang="en-US" sz="1400">
              <a:latin typeface="黑体" panose="02010609060101010101" pitchFamily="49" charset="-122"/>
              <a:ea typeface="黑体" panose="02010609060101010101" pitchFamily="49" charset="-122"/>
            </a:endParaRPr>
          </a:p>
        </p:txBody>
      </p:sp>
      <p:sp>
        <p:nvSpPr>
          <p:cNvPr id="1024" name="箭头: V 形 1023"/>
          <p:cNvSpPr/>
          <p:nvPr/>
        </p:nvSpPr>
        <p:spPr>
          <a:xfrm>
            <a:off x="6931803" y="1816527"/>
            <a:ext cx="215340" cy="611713"/>
          </a:xfrm>
          <a:prstGeom prst="chevron">
            <a:avLst/>
          </a:prstGeom>
          <a:pattFill prst="wdUpDiag">
            <a:fgClr>
              <a:srgbClr val="559F3A"/>
            </a:fgClr>
            <a:bgClr>
              <a:srgbClr val="C2DCBE"/>
            </a:bgClr>
          </a:pattFill>
          <a:ln>
            <a:solidFill>
              <a:srgbClr val="305921"/>
            </a:solidFill>
          </a:ln>
          <a:effectLst>
            <a:outerShdw blurRad="254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1" name="箭头: V 形 1023"/>
          <p:cNvSpPr/>
          <p:nvPr/>
        </p:nvSpPr>
        <p:spPr>
          <a:xfrm>
            <a:off x="6931803" y="4745147"/>
            <a:ext cx="215340" cy="611713"/>
          </a:xfrm>
          <a:prstGeom prst="chevron">
            <a:avLst/>
          </a:prstGeom>
          <a:pattFill prst="wdUpDiag">
            <a:fgClr>
              <a:srgbClr val="559F3A"/>
            </a:fgClr>
            <a:bgClr>
              <a:srgbClr val="C2DCBE"/>
            </a:bgClr>
          </a:pattFill>
          <a:ln>
            <a:solidFill>
              <a:srgbClr val="305921"/>
            </a:solidFill>
          </a:ln>
          <a:effectLst>
            <a:outerShdw blurRad="254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2" name="文本框 81"/>
          <p:cNvSpPr txBox="1"/>
          <p:nvPr/>
        </p:nvSpPr>
        <p:spPr>
          <a:xfrm>
            <a:off x="7355840" y="5883910"/>
            <a:ext cx="4488180" cy="583565"/>
          </a:xfrm>
          <a:prstGeom prst="rect">
            <a:avLst/>
          </a:prstGeom>
          <a:solidFill>
            <a:srgbClr val="F1EEE8"/>
          </a:solidFill>
        </p:spPr>
        <p:txBody>
          <a:bodyPr wrap="square" rtlCol="0">
            <a:spAutoFit/>
          </a:bodyPr>
          <a:p>
            <a:pPr marL="285750" indent="-285750">
              <a:buFont typeface="Wingdings" panose="05000000000000000000" charset="0"/>
              <a:buChar char="Ø"/>
            </a:pPr>
            <a:r>
              <a:rPr lang="zh-CN" altLang="en-US" sz="1600">
                <a:latin typeface="黑体" panose="02010609060101010101" pitchFamily="49" charset="-122"/>
                <a:ea typeface="黑体" panose="02010609060101010101" pitchFamily="49" charset="-122"/>
              </a:rPr>
              <a:t>本质上，不是项目没有价值，而是金融体系尚未有效识别储能资产的真实信用价值</a:t>
            </a:r>
            <a:endParaRPr lang="zh-CN" altLang="en-US" sz="1600">
              <a:latin typeface="黑体" panose="02010609060101010101" pitchFamily="49" charset="-122"/>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think-cell data - do not delete"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2" imgW="3810" imgH="3810" progId="TCLayout.ActiveDocument.1">
                  <p:embed/>
                </p:oleObj>
              </mc:Choice>
              <mc:Fallback>
                <p:oleObj name="think-cell 幻灯片" r:id="rId2" imgW="3810" imgH="3810" progId="TCLayout.ActiveDocument.1">
                  <p:embed/>
                  <p:pic>
                    <p:nvPicPr>
                      <p:cNvPr id="0" name="think-cell data - do not delete" hidden="1"/>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4" name="矩形 3"/>
          <p:cNvSpPr/>
          <p:nvPr/>
        </p:nvSpPr>
        <p:spPr>
          <a:xfrm>
            <a:off x="0" y="0"/>
            <a:ext cx="810883" cy="851140"/>
          </a:xfrm>
          <a:prstGeom prst="rect">
            <a:avLst/>
          </a:prstGeom>
          <a:solidFill>
            <a:srgbClr val="305921"/>
          </a:solidFill>
          <a:ln>
            <a:solidFill>
              <a:srgbClr val="3059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p:nvCxnSpPr>
        <p:spPr>
          <a:xfrm>
            <a:off x="895354" y="1329064"/>
            <a:ext cx="5136596" cy="0"/>
          </a:xfrm>
          <a:prstGeom prst="line">
            <a:avLst/>
          </a:prstGeom>
          <a:ln w="19050">
            <a:solidFill>
              <a:srgbClr val="30592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895354" y="1329064"/>
            <a:ext cx="0" cy="4434831"/>
          </a:xfrm>
          <a:prstGeom prst="line">
            <a:avLst/>
          </a:prstGeom>
          <a:ln w="19050">
            <a:solidFill>
              <a:srgbClr val="30592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895354" y="5763895"/>
            <a:ext cx="5136596" cy="0"/>
          </a:xfrm>
          <a:prstGeom prst="line">
            <a:avLst/>
          </a:prstGeom>
          <a:ln w="19050">
            <a:solidFill>
              <a:srgbClr val="30592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7127085" y="1329064"/>
            <a:ext cx="4395149" cy="0"/>
          </a:xfrm>
          <a:prstGeom prst="line">
            <a:avLst/>
          </a:prstGeom>
          <a:ln w="19050">
            <a:solidFill>
              <a:srgbClr val="30592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flipV="1">
            <a:off x="11522233" y="1329064"/>
            <a:ext cx="1" cy="4434831"/>
          </a:xfrm>
          <a:prstGeom prst="line">
            <a:avLst/>
          </a:prstGeom>
          <a:ln w="19050">
            <a:solidFill>
              <a:srgbClr val="30592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7127084" y="5763895"/>
            <a:ext cx="4395149" cy="0"/>
          </a:xfrm>
          <a:prstGeom prst="line">
            <a:avLst/>
          </a:prstGeom>
          <a:ln w="19050">
            <a:solidFill>
              <a:srgbClr val="30592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6031950" y="1329063"/>
            <a:ext cx="1095134" cy="4434831"/>
          </a:xfrm>
          <a:prstGeom prst="line">
            <a:avLst/>
          </a:prstGeom>
          <a:ln w="19050">
            <a:solidFill>
              <a:srgbClr val="30592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6031949" y="1329062"/>
            <a:ext cx="1095134" cy="4434832"/>
          </a:xfrm>
          <a:prstGeom prst="line">
            <a:avLst/>
          </a:prstGeom>
          <a:ln w="19050">
            <a:solidFill>
              <a:srgbClr val="305921"/>
            </a:solidFill>
          </a:ln>
        </p:spPr>
        <p:style>
          <a:lnRef idx="1">
            <a:schemeClr val="accent1"/>
          </a:lnRef>
          <a:fillRef idx="0">
            <a:schemeClr val="accent1"/>
          </a:fillRef>
          <a:effectRef idx="0">
            <a:schemeClr val="accent1"/>
          </a:effectRef>
          <a:fontRef idx="minor">
            <a:schemeClr val="tx1"/>
          </a:fontRef>
        </p:style>
      </p:cxnSp>
      <p:sp>
        <p:nvSpPr>
          <p:cNvPr id="74" name="矩形 73"/>
          <p:cNvSpPr/>
          <p:nvPr/>
        </p:nvSpPr>
        <p:spPr>
          <a:xfrm>
            <a:off x="2352589" y="1122033"/>
            <a:ext cx="2075926" cy="41405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储能行业关键转折点</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75" name="矩形 74"/>
          <p:cNvSpPr/>
          <p:nvPr/>
        </p:nvSpPr>
        <p:spPr>
          <a:xfrm>
            <a:off x="8378825" y="1122045"/>
            <a:ext cx="2293620" cy="4140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传统评级</a:t>
            </a:r>
            <a:r>
              <a:rPr lang="zh-CN" altLang="en-US" sz="1600" b="1" dirty="0">
                <a:solidFill>
                  <a:schemeClr val="tx1"/>
                </a:solidFill>
                <a:latin typeface="微软雅黑" panose="020B0503020204020204" pitchFamily="34" charset="-122"/>
                <a:ea typeface="微软雅黑" panose="020B0503020204020204" pitchFamily="34" charset="-122"/>
              </a:rPr>
              <a:t>体系三大缺陷</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76" name="椭圆 75"/>
          <p:cNvSpPr/>
          <p:nvPr/>
        </p:nvSpPr>
        <p:spPr>
          <a:xfrm>
            <a:off x="6076261" y="3043223"/>
            <a:ext cx="1006510" cy="1006510"/>
          </a:xfrm>
          <a:prstGeom prst="ellipse">
            <a:avLst/>
          </a:prstGeom>
          <a:noFill/>
          <a:ln w="19050">
            <a:solidFill>
              <a:srgbClr val="30592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184275" y="1589405"/>
            <a:ext cx="4627245" cy="1849120"/>
          </a:xfrm>
          <a:prstGeom prst="rect">
            <a:avLst/>
          </a:prstGeom>
          <a:solidFill>
            <a:srgbClr val="DDECD7"/>
          </a:solidFill>
          <a:ln>
            <a:solidFill>
              <a:srgbClr val="DDEC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245985" y="4267835"/>
            <a:ext cx="4064000" cy="1304925"/>
          </a:xfrm>
          <a:prstGeom prst="rect">
            <a:avLst/>
          </a:prstGeom>
          <a:solidFill>
            <a:srgbClr val="DDECD7"/>
          </a:solidFill>
          <a:ln>
            <a:solidFill>
              <a:srgbClr val="DDEC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184275" y="3618865"/>
            <a:ext cx="4627245" cy="1861820"/>
          </a:xfrm>
          <a:prstGeom prst="rect">
            <a:avLst/>
          </a:prstGeom>
          <a:solidFill>
            <a:srgbClr val="F3F9E9"/>
          </a:solidFill>
          <a:ln>
            <a:solidFill>
              <a:srgbClr val="F3F9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2300"/>
              </a:lnSpc>
            </a:pP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1" name="矩形 10"/>
          <p:cNvSpPr/>
          <p:nvPr/>
        </p:nvSpPr>
        <p:spPr>
          <a:xfrm>
            <a:off x="1184440" y="1589549"/>
            <a:ext cx="940759" cy="3890418"/>
          </a:xfrm>
          <a:prstGeom prst="rect">
            <a:avLst/>
          </a:prstGeom>
          <a:noFill/>
          <a:ln w="12700">
            <a:solidFill>
              <a:schemeClr val="tx1"/>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7231380" y="1473200"/>
            <a:ext cx="4064000" cy="1377315"/>
          </a:xfrm>
          <a:prstGeom prst="rect">
            <a:avLst/>
          </a:prstGeom>
          <a:solidFill>
            <a:srgbClr val="F0F4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7245985" y="2921000"/>
            <a:ext cx="4064000" cy="1225550"/>
          </a:xfrm>
          <a:prstGeom prst="rect">
            <a:avLst/>
          </a:prstGeom>
          <a:solidFill>
            <a:srgbClr val="E5F1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7238365" y="1472565"/>
            <a:ext cx="941070" cy="4100195"/>
          </a:xfrm>
          <a:prstGeom prst="rect">
            <a:avLst/>
          </a:prstGeom>
          <a:noFill/>
          <a:ln w="12700">
            <a:solidFill>
              <a:schemeClr val="tx1"/>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1329762" y="1765351"/>
            <a:ext cx="650114" cy="1304217"/>
            <a:chOff x="1339337" y="2115065"/>
            <a:chExt cx="650114" cy="1304217"/>
          </a:xfrm>
        </p:grpSpPr>
        <p:sp>
          <p:nvSpPr>
            <p:cNvPr id="22" name="文本框 21"/>
            <p:cNvSpPr txBox="1"/>
            <p:nvPr/>
          </p:nvSpPr>
          <p:spPr>
            <a:xfrm>
              <a:off x="1339337" y="2682047"/>
              <a:ext cx="650114" cy="737235"/>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cs typeface="华文宋体" panose="02010600040101010101" charset="-122"/>
                </a:rPr>
                <a:t>机制政策</a:t>
              </a:r>
              <a:r>
                <a:rPr lang="zh-CN" altLang="en-US" sz="1400" b="1" dirty="0">
                  <a:latin typeface="微软雅黑" panose="020B0503020204020204" pitchFamily="34" charset="-122"/>
                  <a:ea typeface="微软雅黑" panose="020B0503020204020204" pitchFamily="34" charset="-122"/>
                  <a:cs typeface="华文宋体" panose="02010600040101010101" charset="-122"/>
                </a:rPr>
                <a:t>落地</a:t>
              </a:r>
              <a:endParaRPr lang="zh-CN" altLang="en-US" sz="1400" b="1" dirty="0">
                <a:latin typeface="微软雅黑" panose="020B0503020204020204" pitchFamily="34" charset="-122"/>
                <a:ea typeface="微软雅黑" panose="020B0503020204020204" pitchFamily="34" charset="-122"/>
                <a:cs typeface="华文宋体" panose="02010600040101010101" charset="-122"/>
              </a:endParaRPr>
            </a:p>
          </p:txBody>
        </p:sp>
        <p:sp>
          <p:nvSpPr>
            <p:cNvPr id="24" name="任意多边形: 形状 23"/>
            <p:cNvSpPr/>
            <p:nvPr/>
          </p:nvSpPr>
          <p:spPr>
            <a:xfrm>
              <a:off x="1386547" y="2115065"/>
              <a:ext cx="527677" cy="436947"/>
            </a:xfrm>
            <a:custGeom>
              <a:avLst/>
              <a:gdLst>
                <a:gd name="T0" fmla="*/ 6730 w 6912"/>
                <a:gd name="T1" fmla="*/ 2361 h 5732"/>
                <a:gd name="T2" fmla="*/ 6233 w 6912"/>
                <a:gd name="T3" fmla="*/ 1100 h 5732"/>
                <a:gd name="T4" fmla="*/ 5408 w 6912"/>
                <a:gd name="T5" fmla="*/ 253 h 5732"/>
                <a:gd name="T6" fmla="*/ 4679 w 6912"/>
                <a:gd name="T7" fmla="*/ 661 h 5732"/>
                <a:gd name="T8" fmla="*/ 3824 w 6912"/>
                <a:gd name="T9" fmla="*/ 0 h 5732"/>
                <a:gd name="T10" fmla="*/ 2327 w 6912"/>
                <a:gd name="T11" fmla="*/ 253 h 5732"/>
                <a:gd name="T12" fmla="*/ 1461 w 6912"/>
                <a:gd name="T13" fmla="*/ 944 h 5732"/>
                <a:gd name="T14" fmla="*/ 170 w 6912"/>
                <a:gd name="T15" fmla="*/ 1405 h 5732"/>
                <a:gd name="T16" fmla="*/ 172 w 6912"/>
                <a:gd name="T17" fmla="*/ 3744 h 5732"/>
                <a:gd name="T18" fmla="*/ 1503 w 6912"/>
                <a:gd name="T19" fmla="*/ 4056 h 5732"/>
                <a:gd name="T20" fmla="*/ 2327 w 6912"/>
                <a:gd name="T21" fmla="*/ 4551 h 5732"/>
                <a:gd name="T22" fmla="*/ 3238 w 6912"/>
                <a:gd name="T23" fmla="*/ 4590 h 5732"/>
                <a:gd name="T24" fmla="*/ 3219 w 6912"/>
                <a:gd name="T25" fmla="*/ 5183 h 5732"/>
                <a:gd name="T26" fmla="*/ 4256 w 6912"/>
                <a:gd name="T27" fmla="*/ 5694 h 5732"/>
                <a:gd name="T28" fmla="*/ 6731 w 6912"/>
                <a:gd name="T29" fmla="*/ 4269 h 5732"/>
                <a:gd name="T30" fmla="*/ 6110 w 6912"/>
                <a:gd name="T31" fmla="*/ 2509 h 5732"/>
                <a:gd name="T32" fmla="*/ 6103 w 6912"/>
                <a:gd name="T33" fmla="*/ 2680 h 5732"/>
                <a:gd name="T34" fmla="*/ 6087 w 6912"/>
                <a:gd name="T35" fmla="*/ 2911 h 5732"/>
                <a:gd name="T36" fmla="*/ 6068 w 6912"/>
                <a:gd name="T37" fmla="*/ 3112 h 5732"/>
                <a:gd name="T38" fmla="*/ 6039 w 6912"/>
                <a:gd name="T39" fmla="*/ 3377 h 5732"/>
                <a:gd name="T40" fmla="*/ 5408 w 6912"/>
                <a:gd name="T41" fmla="*/ 4298 h 5732"/>
                <a:gd name="T42" fmla="*/ 4719 w 6912"/>
                <a:gd name="T43" fmla="*/ 3770 h 5732"/>
                <a:gd name="T44" fmla="*/ 4592 w 6912"/>
                <a:gd name="T45" fmla="*/ 2402 h 5732"/>
                <a:gd name="T46" fmla="*/ 4466 w 6912"/>
                <a:gd name="T47" fmla="*/ 3764 h 5732"/>
                <a:gd name="T48" fmla="*/ 4465 w 6912"/>
                <a:gd name="T49" fmla="*/ 3961 h 5732"/>
                <a:gd name="T50" fmla="*/ 3824 w 6912"/>
                <a:gd name="T51" fmla="*/ 4551 h 5732"/>
                <a:gd name="T52" fmla="*/ 3680 w 6912"/>
                <a:gd name="T53" fmla="*/ 4535 h 5732"/>
                <a:gd name="T54" fmla="*/ 3575 w 6912"/>
                <a:gd name="T55" fmla="*/ 4503 h 5732"/>
                <a:gd name="T56" fmla="*/ 3201 w 6912"/>
                <a:gd name="T57" fmla="*/ 2655 h 5732"/>
                <a:gd name="T58" fmla="*/ 2949 w 6912"/>
                <a:gd name="T59" fmla="*/ 2655 h 5732"/>
                <a:gd name="T60" fmla="*/ 2948 w 6912"/>
                <a:gd name="T61" fmla="*/ 3719 h 5732"/>
                <a:gd name="T62" fmla="*/ 2306 w 6912"/>
                <a:gd name="T63" fmla="*/ 4298 h 5732"/>
                <a:gd name="T64" fmla="*/ 1684 w 6912"/>
                <a:gd name="T65" fmla="*/ 3668 h 5732"/>
                <a:gd name="T66" fmla="*/ 1684 w 6912"/>
                <a:gd name="T67" fmla="*/ 2655 h 5732"/>
                <a:gd name="T68" fmla="*/ 1432 w 6912"/>
                <a:gd name="T69" fmla="*/ 2655 h 5732"/>
                <a:gd name="T70" fmla="*/ 1431 w 6912"/>
                <a:gd name="T71" fmla="*/ 3582 h 5732"/>
                <a:gd name="T72" fmla="*/ 417 w 6912"/>
                <a:gd name="T73" fmla="*/ 3684 h 5732"/>
                <a:gd name="T74" fmla="*/ 415 w 6912"/>
                <a:gd name="T75" fmla="*/ 1469 h 5732"/>
                <a:gd name="T76" fmla="*/ 1320 w 6912"/>
                <a:gd name="T77" fmla="*/ 1198 h 5732"/>
                <a:gd name="T78" fmla="*/ 1559 w 6912"/>
                <a:gd name="T79" fmla="*/ 1264 h 5732"/>
                <a:gd name="T80" fmla="*/ 2306 w 6912"/>
                <a:gd name="T81" fmla="*/ 506 h 5732"/>
                <a:gd name="T82" fmla="*/ 2832 w 6912"/>
                <a:gd name="T83" fmla="*/ 933 h 5732"/>
                <a:gd name="T84" fmla="*/ 3076 w 6912"/>
                <a:gd name="T85" fmla="*/ 1011 h 5732"/>
                <a:gd name="T86" fmla="*/ 3824 w 6912"/>
                <a:gd name="T87" fmla="*/ 253 h 5732"/>
                <a:gd name="T88" fmla="*/ 4464 w 6912"/>
                <a:gd name="T89" fmla="*/ 891 h 5732"/>
                <a:gd name="T90" fmla="*/ 4719 w 6912"/>
                <a:gd name="T91" fmla="*/ 1011 h 5732"/>
                <a:gd name="T92" fmla="*/ 5292 w 6912"/>
                <a:gd name="T93" fmla="*/ 506 h 5732"/>
                <a:gd name="T94" fmla="*/ 5984 w 6912"/>
                <a:gd name="T95" fmla="*/ 1146 h 5732"/>
                <a:gd name="T96" fmla="*/ 6084 w 6912"/>
                <a:gd name="T97" fmla="*/ 1830 h 5732"/>
                <a:gd name="T98" fmla="*/ 6108 w 6912"/>
                <a:gd name="T99" fmla="*/ 2185 h 5732"/>
                <a:gd name="T100" fmla="*/ 6112 w 6912"/>
                <a:gd name="T101" fmla="*/ 2355 h 5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912" h="5732">
                  <a:moveTo>
                    <a:pt x="6732" y="2367"/>
                  </a:moveTo>
                  <a:cubicBezTo>
                    <a:pt x="6731" y="2365"/>
                    <a:pt x="6730" y="2363"/>
                    <a:pt x="6730" y="2361"/>
                  </a:cubicBezTo>
                  <a:cubicBezTo>
                    <a:pt x="6627" y="2055"/>
                    <a:pt x="6495" y="1845"/>
                    <a:pt x="6327" y="1719"/>
                  </a:cubicBezTo>
                  <a:cubicBezTo>
                    <a:pt x="6306" y="1528"/>
                    <a:pt x="6274" y="1327"/>
                    <a:pt x="6233" y="1100"/>
                  </a:cubicBezTo>
                  <a:cubicBezTo>
                    <a:pt x="6233" y="1099"/>
                    <a:pt x="6233" y="1099"/>
                    <a:pt x="6233" y="1098"/>
                  </a:cubicBezTo>
                  <a:cubicBezTo>
                    <a:pt x="6133" y="585"/>
                    <a:pt x="5809" y="253"/>
                    <a:pt x="5408" y="253"/>
                  </a:cubicBezTo>
                  <a:lnTo>
                    <a:pt x="5292" y="253"/>
                  </a:lnTo>
                  <a:cubicBezTo>
                    <a:pt x="5104" y="253"/>
                    <a:pt x="4857" y="329"/>
                    <a:pt x="4679" y="661"/>
                  </a:cubicBezTo>
                  <a:cubicBezTo>
                    <a:pt x="4568" y="286"/>
                    <a:pt x="4224" y="0"/>
                    <a:pt x="3842" y="0"/>
                  </a:cubicBezTo>
                  <a:lnTo>
                    <a:pt x="3824" y="0"/>
                  </a:lnTo>
                  <a:cubicBezTo>
                    <a:pt x="3439" y="0"/>
                    <a:pt x="3092" y="291"/>
                    <a:pt x="2984" y="671"/>
                  </a:cubicBezTo>
                  <a:cubicBezTo>
                    <a:pt x="2825" y="400"/>
                    <a:pt x="2596" y="253"/>
                    <a:pt x="2327" y="253"/>
                  </a:cubicBezTo>
                  <a:lnTo>
                    <a:pt x="2306" y="253"/>
                  </a:lnTo>
                  <a:cubicBezTo>
                    <a:pt x="1914" y="253"/>
                    <a:pt x="1562" y="554"/>
                    <a:pt x="1461" y="944"/>
                  </a:cubicBezTo>
                  <a:cubicBezTo>
                    <a:pt x="1315" y="737"/>
                    <a:pt x="1136" y="632"/>
                    <a:pt x="925" y="632"/>
                  </a:cubicBezTo>
                  <a:cubicBezTo>
                    <a:pt x="686" y="632"/>
                    <a:pt x="360" y="765"/>
                    <a:pt x="170" y="1405"/>
                  </a:cubicBezTo>
                  <a:cubicBezTo>
                    <a:pt x="16" y="2095"/>
                    <a:pt x="0" y="2796"/>
                    <a:pt x="121" y="3491"/>
                  </a:cubicBezTo>
                  <a:lnTo>
                    <a:pt x="172" y="3744"/>
                  </a:lnTo>
                  <a:cubicBezTo>
                    <a:pt x="283" y="4127"/>
                    <a:pt x="516" y="4298"/>
                    <a:pt x="925" y="4298"/>
                  </a:cubicBezTo>
                  <a:cubicBezTo>
                    <a:pt x="1162" y="4298"/>
                    <a:pt x="1367" y="4206"/>
                    <a:pt x="1503" y="4056"/>
                  </a:cubicBezTo>
                  <a:cubicBezTo>
                    <a:pt x="1637" y="4350"/>
                    <a:pt x="1942" y="4551"/>
                    <a:pt x="2306" y="4551"/>
                  </a:cubicBezTo>
                  <a:lnTo>
                    <a:pt x="2327" y="4551"/>
                  </a:lnTo>
                  <a:cubicBezTo>
                    <a:pt x="2605" y="4551"/>
                    <a:pt x="2845" y="4440"/>
                    <a:pt x="3003" y="4259"/>
                  </a:cubicBezTo>
                  <a:cubicBezTo>
                    <a:pt x="3052" y="4388"/>
                    <a:pt x="3134" y="4501"/>
                    <a:pt x="3238" y="4590"/>
                  </a:cubicBezTo>
                  <a:cubicBezTo>
                    <a:pt x="3224" y="4604"/>
                    <a:pt x="3213" y="4621"/>
                    <a:pt x="3207" y="4640"/>
                  </a:cubicBezTo>
                  <a:cubicBezTo>
                    <a:pt x="3157" y="4803"/>
                    <a:pt x="3161" y="5016"/>
                    <a:pt x="3219" y="5183"/>
                  </a:cubicBezTo>
                  <a:cubicBezTo>
                    <a:pt x="3336" y="5523"/>
                    <a:pt x="3649" y="5732"/>
                    <a:pt x="3999" y="5732"/>
                  </a:cubicBezTo>
                  <a:cubicBezTo>
                    <a:pt x="4083" y="5732"/>
                    <a:pt x="4170" y="5720"/>
                    <a:pt x="4256" y="5694"/>
                  </a:cubicBezTo>
                  <a:cubicBezTo>
                    <a:pt x="4256" y="5694"/>
                    <a:pt x="5882" y="5242"/>
                    <a:pt x="5887" y="5241"/>
                  </a:cubicBezTo>
                  <a:cubicBezTo>
                    <a:pt x="6473" y="5069"/>
                    <a:pt x="6628" y="4590"/>
                    <a:pt x="6731" y="4269"/>
                  </a:cubicBezTo>
                  <a:cubicBezTo>
                    <a:pt x="6912" y="3639"/>
                    <a:pt x="6912" y="3017"/>
                    <a:pt x="6732" y="2367"/>
                  </a:cubicBezTo>
                  <a:close/>
                  <a:moveTo>
                    <a:pt x="6110" y="2509"/>
                  </a:moveTo>
                  <a:cubicBezTo>
                    <a:pt x="6109" y="2529"/>
                    <a:pt x="6108" y="2549"/>
                    <a:pt x="6108" y="2569"/>
                  </a:cubicBezTo>
                  <a:cubicBezTo>
                    <a:pt x="6106" y="2606"/>
                    <a:pt x="6105" y="2642"/>
                    <a:pt x="6103" y="2680"/>
                  </a:cubicBezTo>
                  <a:cubicBezTo>
                    <a:pt x="6102" y="2700"/>
                    <a:pt x="6101" y="2720"/>
                    <a:pt x="6099" y="2741"/>
                  </a:cubicBezTo>
                  <a:cubicBezTo>
                    <a:pt x="6096" y="2796"/>
                    <a:pt x="6092" y="2852"/>
                    <a:pt x="6087" y="2911"/>
                  </a:cubicBezTo>
                  <a:cubicBezTo>
                    <a:pt x="6086" y="2923"/>
                    <a:pt x="6085" y="2936"/>
                    <a:pt x="6084" y="2949"/>
                  </a:cubicBezTo>
                  <a:cubicBezTo>
                    <a:pt x="6079" y="3001"/>
                    <a:pt x="6074" y="3056"/>
                    <a:pt x="6068" y="3112"/>
                  </a:cubicBezTo>
                  <a:cubicBezTo>
                    <a:pt x="6066" y="3129"/>
                    <a:pt x="6065" y="3146"/>
                    <a:pt x="6063" y="3164"/>
                  </a:cubicBezTo>
                  <a:cubicBezTo>
                    <a:pt x="6056" y="3232"/>
                    <a:pt x="6048" y="3302"/>
                    <a:pt x="6039" y="3377"/>
                  </a:cubicBezTo>
                  <a:lnTo>
                    <a:pt x="5985" y="3739"/>
                  </a:lnTo>
                  <a:cubicBezTo>
                    <a:pt x="5940" y="3948"/>
                    <a:pt x="5805" y="4298"/>
                    <a:pt x="5408" y="4298"/>
                  </a:cubicBezTo>
                  <a:lnTo>
                    <a:pt x="5292" y="4298"/>
                  </a:lnTo>
                  <a:cubicBezTo>
                    <a:pt x="4967" y="4298"/>
                    <a:pt x="4721" y="4072"/>
                    <a:pt x="4719" y="3770"/>
                  </a:cubicBezTo>
                  <a:lnTo>
                    <a:pt x="4719" y="2529"/>
                  </a:lnTo>
                  <a:cubicBezTo>
                    <a:pt x="4719" y="2459"/>
                    <a:pt x="4662" y="2402"/>
                    <a:pt x="4592" y="2402"/>
                  </a:cubicBezTo>
                  <a:cubicBezTo>
                    <a:pt x="4522" y="2402"/>
                    <a:pt x="4466" y="2459"/>
                    <a:pt x="4466" y="2529"/>
                  </a:cubicBezTo>
                  <a:lnTo>
                    <a:pt x="4466" y="3764"/>
                  </a:lnTo>
                  <a:cubicBezTo>
                    <a:pt x="4466" y="3765"/>
                    <a:pt x="4465" y="3765"/>
                    <a:pt x="4465" y="3766"/>
                  </a:cubicBezTo>
                  <a:lnTo>
                    <a:pt x="4465" y="3961"/>
                  </a:lnTo>
                  <a:cubicBezTo>
                    <a:pt x="4465" y="4297"/>
                    <a:pt x="4198" y="4551"/>
                    <a:pt x="3842" y="4551"/>
                  </a:cubicBezTo>
                  <a:lnTo>
                    <a:pt x="3824" y="4551"/>
                  </a:lnTo>
                  <a:cubicBezTo>
                    <a:pt x="3786" y="4551"/>
                    <a:pt x="3749" y="4547"/>
                    <a:pt x="3713" y="4541"/>
                  </a:cubicBezTo>
                  <a:cubicBezTo>
                    <a:pt x="3702" y="4539"/>
                    <a:pt x="3691" y="4537"/>
                    <a:pt x="3680" y="4535"/>
                  </a:cubicBezTo>
                  <a:cubicBezTo>
                    <a:pt x="3651" y="4528"/>
                    <a:pt x="3624" y="4520"/>
                    <a:pt x="3597" y="4511"/>
                  </a:cubicBezTo>
                  <a:cubicBezTo>
                    <a:pt x="3590" y="4508"/>
                    <a:pt x="3582" y="4506"/>
                    <a:pt x="3575" y="4503"/>
                  </a:cubicBezTo>
                  <a:cubicBezTo>
                    <a:pt x="3354" y="4414"/>
                    <a:pt x="3203" y="4210"/>
                    <a:pt x="3201" y="3965"/>
                  </a:cubicBezTo>
                  <a:lnTo>
                    <a:pt x="3201" y="2655"/>
                  </a:lnTo>
                  <a:cubicBezTo>
                    <a:pt x="3201" y="2585"/>
                    <a:pt x="3145" y="2529"/>
                    <a:pt x="3075" y="2529"/>
                  </a:cubicBezTo>
                  <a:cubicBezTo>
                    <a:pt x="3005" y="2529"/>
                    <a:pt x="2949" y="2585"/>
                    <a:pt x="2949" y="2655"/>
                  </a:cubicBezTo>
                  <a:lnTo>
                    <a:pt x="2949" y="3717"/>
                  </a:lnTo>
                  <a:cubicBezTo>
                    <a:pt x="2949" y="3718"/>
                    <a:pt x="2948" y="3718"/>
                    <a:pt x="2948" y="3719"/>
                  </a:cubicBezTo>
                  <a:cubicBezTo>
                    <a:pt x="2948" y="4049"/>
                    <a:pt x="2681" y="4298"/>
                    <a:pt x="2327" y="4298"/>
                  </a:cubicBezTo>
                  <a:lnTo>
                    <a:pt x="2306" y="4298"/>
                  </a:lnTo>
                  <a:cubicBezTo>
                    <a:pt x="1951" y="4298"/>
                    <a:pt x="1684" y="4049"/>
                    <a:pt x="1684" y="3719"/>
                  </a:cubicBezTo>
                  <a:lnTo>
                    <a:pt x="1684" y="3668"/>
                  </a:lnTo>
                  <a:cubicBezTo>
                    <a:pt x="1684" y="3668"/>
                    <a:pt x="1684" y="3667"/>
                    <a:pt x="1684" y="3666"/>
                  </a:cubicBezTo>
                  <a:lnTo>
                    <a:pt x="1684" y="2655"/>
                  </a:lnTo>
                  <a:cubicBezTo>
                    <a:pt x="1684" y="2585"/>
                    <a:pt x="1628" y="2528"/>
                    <a:pt x="1558" y="2528"/>
                  </a:cubicBezTo>
                  <a:cubicBezTo>
                    <a:pt x="1488" y="2528"/>
                    <a:pt x="1432" y="2585"/>
                    <a:pt x="1432" y="2655"/>
                  </a:cubicBezTo>
                  <a:lnTo>
                    <a:pt x="1432" y="3580"/>
                  </a:lnTo>
                  <a:cubicBezTo>
                    <a:pt x="1432" y="3581"/>
                    <a:pt x="1431" y="3581"/>
                    <a:pt x="1431" y="3582"/>
                  </a:cubicBezTo>
                  <a:cubicBezTo>
                    <a:pt x="1431" y="3846"/>
                    <a:pt x="1214" y="4046"/>
                    <a:pt x="925" y="4046"/>
                  </a:cubicBezTo>
                  <a:cubicBezTo>
                    <a:pt x="625" y="4046"/>
                    <a:pt x="496" y="3952"/>
                    <a:pt x="417" y="3684"/>
                  </a:cubicBezTo>
                  <a:lnTo>
                    <a:pt x="370" y="3445"/>
                  </a:lnTo>
                  <a:cubicBezTo>
                    <a:pt x="255" y="2785"/>
                    <a:pt x="270" y="2117"/>
                    <a:pt x="415" y="1469"/>
                  </a:cubicBezTo>
                  <a:cubicBezTo>
                    <a:pt x="530" y="1081"/>
                    <a:pt x="702" y="885"/>
                    <a:pt x="925" y="885"/>
                  </a:cubicBezTo>
                  <a:cubicBezTo>
                    <a:pt x="1079" y="885"/>
                    <a:pt x="1208" y="987"/>
                    <a:pt x="1320" y="1198"/>
                  </a:cubicBezTo>
                  <a:cubicBezTo>
                    <a:pt x="1342" y="1239"/>
                    <a:pt x="1385" y="1264"/>
                    <a:pt x="1432" y="1264"/>
                  </a:cubicBezTo>
                  <a:lnTo>
                    <a:pt x="1559" y="1264"/>
                  </a:lnTo>
                  <a:cubicBezTo>
                    <a:pt x="1627" y="1264"/>
                    <a:pt x="1683" y="1211"/>
                    <a:pt x="1685" y="1143"/>
                  </a:cubicBezTo>
                  <a:cubicBezTo>
                    <a:pt x="1700" y="798"/>
                    <a:pt x="1984" y="506"/>
                    <a:pt x="2306" y="506"/>
                  </a:cubicBezTo>
                  <a:lnTo>
                    <a:pt x="2327" y="506"/>
                  </a:lnTo>
                  <a:cubicBezTo>
                    <a:pt x="2598" y="506"/>
                    <a:pt x="2751" y="738"/>
                    <a:pt x="2832" y="933"/>
                  </a:cubicBezTo>
                  <a:cubicBezTo>
                    <a:pt x="2851" y="981"/>
                    <a:pt x="2898" y="1011"/>
                    <a:pt x="2949" y="1011"/>
                  </a:cubicBezTo>
                  <a:lnTo>
                    <a:pt x="3076" y="1011"/>
                  </a:lnTo>
                  <a:cubicBezTo>
                    <a:pt x="3144" y="1011"/>
                    <a:pt x="3200" y="958"/>
                    <a:pt x="3203" y="891"/>
                  </a:cubicBezTo>
                  <a:cubicBezTo>
                    <a:pt x="3218" y="545"/>
                    <a:pt x="3502" y="253"/>
                    <a:pt x="3824" y="253"/>
                  </a:cubicBezTo>
                  <a:lnTo>
                    <a:pt x="3842" y="253"/>
                  </a:lnTo>
                  <a:cubicBezTo>
                    <a:pt x="4164" y="253"/>
                    <a:pt x="4448" y="545"/>
                    <a:pt x="4464" y="891"/>
                  </a:cubicBezTo>
                  <a:cubicBezTo>
                    <a:pt x="4467" y="958"/>
                    <a:pt x="4522" y="1011"/>
                    <a:pt x="4590" y="1011"/>
                  </a:cubicBezTo>
                  <a:lnTo>
                    <a:pt x="4719" y="1011"/>
                  </a:lnTo>
                  <a:cubicBezTo>
                    <a:pt x="4772" y="1011"/>
                    <a:pt x="4819" y="978"/>
                    <a:pt x="4837" y="928"/>
                  </a:cubicBezTo>
                  <a:cubicBezTo>
                    <a:pt x="4939" y="648"/>
                    <a:pt x="5092" y="506"/>
                    <a:pt x="5292" y="506"/>
                  </a:cubicBezTo>
                  <a:lnTo>
                    <a:pt x="5408" y="506"/>
                  </a:lnTo>
                  <a:cubicBezTo>
                    <a:pt x="5741" y="506"/>
                    <a:pt x="5927" y="850"/>
                    <a:pt x="5984" y="1146"/>
                  </a:cubicBezTo>
                  <a:cubicBezTo>
                    <a:pt x="6031" y="1398"/>
                    <a:pt x="6064" y="1618"/>
                    <a:pt x="6084" y="1827"/>
                  </a:cubicBezTo>
                  <a:cubicBezTo>
                    <a:pt x="6085" y="1828"/>
                    <a:pt x="6084" y="1829"/>
                    <a:pt x="6084" y="1830"/>
                  </a:cubicBezTo>
                  <a:cubicBezTo>
                    <a:pt x="6096" y="1945"/>
                    <a:pt x="6104" y="2057"/>
                    <a:pt x="6108" y="2169"/>
                  </a:cubicBezTo>
                  <a:cubicBezTo>
                    <a:pt x="6108" y="2174"/>
                    <a:pt x="6108" y="2180"/>
                    <a:pt x="6108" y="2185"/>
                  </a:cubicBezTo>
                  <a:cubicBezTo>
                    <a:pt x="6110" y="2235"/>
                    <a:pt x="6111" y="2286"/>
                    <a:pt x="6111" y="2337"/>
                  </a:cubicBezTo>
                  <a:cubicBezTo>
                    <a:pt x="6111" y="2343"/>
                    <a:pt x="6112" y="2349"/>
                    <a:pt x="6112" y="2355"/>
                  </a:cubicBezTo>
                  <a:cubicBezTo>
                    <a:pt x="6112" y="2405"/>
                    <a:pt x="6111" y="2457"/>
                    <a:pt x="6110" y="2509"/>
                  </a:cubicBezTo>
                  <a:close/>
                </a:path>
              </a:pathLst>
            </a:custGeom>
            <a:solidFill>
              <a:srgbClr val="305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组合 30"/>
          <p:cNvGrpSpPr/>
          <p:nvPr/>
        </p:nvGrpSpPr>
        <p:grpSpPr>
          <a:xfrm>
            <a:off x="1329762" y="3929831"/>
            <a:ext cx="650114" cy="1165676"/>
            <a:chOff x="1325328" y="3423621"/>
            <a:chExt cx="650114" cy="1165676"/>
          </a:xfrm>
        </p:grpSpPr>
        <p:sp>
          <p:nvSpPr>
            <p:cNvPr id="25" name="文本框 24"/>
            <p:cNvSpPr txBox="1"/>
            <p:nvPr/>
          </p:nvSpPr>
          <p:spPr>
            <a:xfrm>
              <a:off x="1325328" y="4067327"/>
              <a:ext cx="650114" cy="521970"/>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cs typeface="华文宋体" panose="02010600040101010101" charset="-122"/>
                </a:rPr>
                <a:t>融资</a:t>
              </a:r>
              <a:r>
                <a:rPr lang="zh-CN" altLang="en-US" sz="1400" b="1" dirty="0">
                  <a:latin typeface="微软雅黑" panose="020B0503020204020204" pitchFamily="34" charset="-122"/>
                  <a:ea typeface="微软雅黑" panose="020B0503020204020204" pitchFamily="34" charset="-122"/>
                  <a:cs typeface="华文宋体" panose="02010600040101010101" charset="-122"/>
                </a:rPr>
                <a:t>约束</a:t>
              </a:r>
              <a:endParaRPr lang="zh-CN" altLang="en-US" sz="1400" b="1" dirty="0">
                <a:latin typeface="微软雅黑" panose="020B0503020204020204" pitchFamily="34" charset="-122"/>
                <a:ea typeface="微软雅黑" panose="020B0503020204020204" pitchFamily="34" charset="-122"/>
                <a:cs typeface="华文宋体" panose="02010600040101010101" charset="-122"/>
              </a:endParaRPr>
            </a:p>
          </p:txBody>
        </p:sp>
        <p:sp>
          <p:nvSpPr>
            <p:cNvPr id="27" name="任意多边形: 形状 26"/>
            <p:cNvSpPr/>
            <p:nvPr/>
          </p:nvSpPr>
          <p:spPr>
            <a:xfrm>
              <a:off x="1397471" y="3423621"/>
              <a:ext cx="505829" cy="446268"/>
            </a:xfrm>
            <a:custGeom>
              <a:avLst/>
              <a:gdLst>
                <a:gd name="connsiteX0" fmla="*/ 422911 w 607074"/>
                <a:gd name="connsiteY0" fmla="*/ 328453 h 535592"/>
                <a:gd name="connsiteX1" fmla="*/ 374463 w 607074"/>
                <a:gd name="connsiteY1" fmla="*/ 376728 h 535592"/>
                <a:gd name="connsiteX2" fmla="*/ 393919 w 607074"/>
                <a:gd name="connsiteY2" fmla="*/ 415290 h 535592"/>
                <a:gd name="connsiteX3" fmla="*/ 393919 w 607074"/>
                <a:gd name="connsiteY3" fmla="*/ 456256 h 535592"/>
                <a:gd name="connsiteX4" fmla="*/ 422911 w 607074"/>
                <a:gd name="connsiteY4" fmla="*/ 485202 h 535592"/>
                <a:gd name="connsiteX5" fmla="*/ 451904 w 607074"/>
                <a:gd name="connsiteY5" fmla="*/ 456256 h 535592"/>
                <a:gd name="connsiteX6" fmla="*/ 451904 w 607074"/>
                <a:gd name="connsiteY6" fmla="*/ 415194 h 535592"/>
                <a:gd name="connsiteX7" fmla="*/ 471264 w 607074"/>
                <a:gd name="connsiteY7" fmla="*/ 376728 h 535592"/>
                <a:gd name="connsiteX8" fmla="*/ 422911 w 607074"/>
                <a:gd name="connsiteY8" fmla="*/ 328453 h 535592"/>
                <a:gd name="connsiteX9" fmla="*/ 366303 w 607074"/>
                <a:gd name="connsiteY9" fmla="*/ 186857 h 535592"/>
                <a:gd name="connsiteX10" fmla="*/ 368230 w 607074"/>
                <a:gd name="connsiteY10" fmla="*/ 186857 h 535592"/>
                <a:gd name="connsiteX11" fmla="*/ 368422 w 607074"/>
                <a:gd name="connsiteY11" fmla="*/ 189646 h 535592"/>
                <a:gd name="connsiteX12" fmla="*/ 368422 w 607074"/>
                <a:gd name="connsiteY12" fmla="*/ 231666 h 535592"/>
                <a:gd name="connsiteX13" fmla="*/ 338079 w 607074"/>
                <a:gd name="connsiteY13" fmla="*/ 231666 h 535592"/>
                <a:gd name="connsiteX14" fmla="*/ 366303 w 607074"/>
                <a:gd name="connsiteY14" fmla="*/ 186857 h 535592"/>
                <a:gd name="connsiteX15" fmla="*/ 361460 w 607074"/>
                <a:gd name="connsiteY15" fmla="*/ 100062 h 535592"/>
                <a:gd name="connsiteX16" fmla="*/ 484267 w 607074"/>
                <a:gd name="connsiteY16" fmla="*/ 100062 h 535592"/>
                <a:gd name="connsiteX17" fmla="*/ 566331 w 607074"/>
                <a:gd name="connsiteY17" fmla="*/ 181994 h 535592"/>
                <a:gd name="connsiteX18" fmla="*/ 566331 w 607074"/>
                <a:gd name="connsiteY18" fmla="*/ 260657 h 535592"/>
                <a:gd name="connsiteX19" fmla="*/ 567680 w 607074"/>
                <a:gd name="connsiteY19" fmla="*/ 260657 h 535592"/>
                <a:gd name="connsiteX20" fmla="*/ 607074 w 607074"/>
                <a:gd name="connsiteY20" fmla="*/ 300085 h 535592"/>
                <a:gd name="connsiteX21" fmla="*/ 607074 w 607074"/>
                <a:gd name="connsiteY21" fmla="*/ 496261 h 535592"/>
                <a:gd name="connsiteX22" fmla="*/ 567680 w 607074"/>
                <a:gd name="connsiteY22" fmla="*/ 535592 h 535592"/>
                <a:gd name="connsiteX23" fmla="*/ 278047 w 607074"/>
                <a:gd name="connsiteY23" fmla="*/ 535592 h 535592"/>
                <a:gd name="connsiteX24" fmla="*/ 238652 w 607074"/>
                <a:gd name="connsiteY24" fmla="*/ 496261 h 535592"/>
                <a:gd name="connsiteX25" fmla="*/ 238652 w 607074"/>
                <a:gd name="connsiteY25" fmla="*/ 300085 h 535592"/>
                <a:gd name="connsiteX26" fmla="*/ 278047 w 607074"/>
                <a:gd name="connsiteY26" fmla="*/ 260657 h 535592"/>
                <a:gd name="connsiteX27" fmla="*/ 508250 w 607074"/>
                <a:gd name="connsiteY27" fmla="*/ 260657 h 535592"/>
                <a:gd name="connsiteX28" fmla="*/ 508250 w 607074"/>
                <a:gd name="connsiteY28" fmla="*/ 181994 h 535592"/>
                <a:gd name="connsiteX29" fmla="*/ 484267 w 607074"/>
                <a:gd name="connsiteY29" fmla="*/ 157953 h 535592"/>
                <a:gd name="connsiteX30" fmla="*/ 361460 w 607074"/>
                <a:gd name="connsiteY30" fmla="*/ 157953 h 535592"/>
                <a:gd name="connsiteX31" fmla="*/ 337476 w 607074"/>
                <a:gd name="connsiteY31" fmla="*/ 181994 h 535592"/>
                <a:gd name="connsiteX32" fmla="*/ 308484 w 607074"/>
                <a:gd name="connsiteY32" fmla="*/ 210940 h 535592"/>
                <a:gd name="connsiteX33" fmla="*/ 279395 w 607074"/>
                <a:gd name="connsiteY33" fmla="*/ 181994 h 535592"/>
                <a:gd name="connsiteX34" fmla="*/ 361460 w 607074"/>
                <a:gd name="connsiteY34" fmla="*/ 100062 h 535592"/>
                <a:gd name="connsiteX35" fmla="*/ 127044 w 607074"/>
                <a:gd name="connsiteY35" fmla="*/ 0 h 535592"/>
                <a:gd name="connsiteX36" fmla="*/ 241375 w 607074"/>
                <a:gd name="connsiteY36" fmla="*/ 0 h 535592"/>
                <a:gd name="connsiteX37" fmla="*/ 317756 w 607074"/>
                <a:gd name="connsiteY37" fmla="*/ 76261 h 535592"/>
                <a:gd name="connsiteX38" fmla="*/ 317756 w 607074"/>
                <a:gd name="connsiteY38" fmla="*/ 80108 h 535592"/>
                <a:gd name="connsiteX39" fmla="*/ 263721 w 607074"/>
                <a:gd name="connsiteY39" fmla="*/ 129442 h 535592"/>
                <a:gd name="connsiteX40" fmla="*/ 263721 w 607074"/>
                <a:gd name="connsiteY40" fmla="*/ 76261 h 535592"/>
                <a:gd name="connsiteX41" fmla="*/ 241375 w 607074"/>
                <a:gd name="connsiteY41" fmla="*/ 53950 h 535592"/>
                <a:gd name="connsiteX42" fmla="*/ 127044 w 607074"/>
                <a:gd name="connsiteY42" fmla="*/ 53950 h 535592"/>
                <a:gd name="connsiteX43" fmla="*/ 104698 w 607074"/>
                <a:gd name="connsiteY43" fmla="*/ 76261 h 535592"/>
                <a:gd name="connsiteX44" fmla="*/ 104698 w 607074"/>
                <a:gd name="connsiteY44" fmla="*/ 150214 h 535592"/>
                <a:gd name="connsiteX45" fmla="*/ 255149 w 607074"/>
                <a:gd name="connsiteY45" fmla="*/ 150214 h 535592"/>
                <a:gd name="connsiteX46" fmla="*/ 250429 w 607074"/>
                <a:gd name="connsiteY46" fmla="*/ 181949 h 535592"/>
                <a:gd name="connsiteX47" fmla="*/ 263721 w 607074"/>
                <a:gd name="connsiteY47" fmla="*/ 218012 h 535592"/>
                <a:gd name="connsiteX48" fmla="*/ 278843 w 607074"/>
                <a:gd name="connsiteY48" fmla="*/ 231668 h 535592"/>
                <a:gd name="connsiteX49" fmla="*/ 278073 w 607074"/>
                <a:gd name="connsiteY49" fmla="*/ 231668 h 535592"/>
                <a:gd name="connsiteX50" fmla="*/ 230009 w 607074"/>
                <a:gd name="connsiteY50" fmla="*/ 251478 h 535592"/>
                <a:gd name="connsiteX51" fmla="*/ 211034 w 607074"/>
                <a:gd name="connsiteY51" fmla="*/ 226186 h 535592"/>
                <a:gd name="connsiteX52" fmla="*/ 184258 w 607074"/>
                <a:gd name="connsiteY52" fmla="*/ 218012 h 535592"/>
                <a:gd name="connsiteX53" fmla="*/ 157385 w 607074"/>
                <a:gd name="connsiteY53" fmla="*/ 226186 h 535592"/>
                <a:gd name="connsiteX54" fmla="*/ 135809 w 607074"/>
                <a:gd name="connsiteY54" fmla="*/ 266384 h 535592"/>
                <a:gd name="connsiteX55" fmla="*/ 138025 w 607074"/>
                <a:gd name="connsiteY55" fmla="*/ 280040 h 535592"/>
                <a:gd name="connsiteX56" fmla="*/ 155266 w 607074"/>
                <a:gd name="connsiteY56" fmla="*/ 304851 h 535592"/>
                <a:gd name="connsiteX57" fmla="*/ 155266 w 607074"/>
                <a:gd name="connsiteY57" fmla="*/ 345819 h 535592"/>
                <a:gd name="connsiteX58" fmla="*/ 184258 w 607074"/>
                <a:gd name="connsiteY58" fmla="*/ 374765 h 535592"/>
                <a:gd name="connsiteX59" fmla="*/ 209686 w 607074"/>
                <a:gd name="connsiteY59" fmla="*/ 359475 h 535592"/>
                <a:gd name="connsiteX60" fmla="*/ 209686 w 607074"/>
                <a:gd name="connsiteY60" fmla="*/ 425157 h 535592"/>
                <a:gd name="connsiteX61" fmla="*/ 39394 w 607074"/>
                <a:gd name="connsiteY61" fmla="*/ 425157 h 535592"/>
                <a:gd name="connsiteX62" fmla="*/ 0 w 607074"/>
                <a:gd name="connsiteY62" fmla="*/ 385824 h 535592"/>
                <a:gd name="connsiteX63" fmla="*/ 0 w 607074"/>
                <a:gd name="connsiteY63" fmla="*/ 189643 h 535592"/>
                <a:gd name="connsiteX64" fmla="*/ 39394 w 607074"/>
                <a:gd name="connsiteY64" fmla="*/ 150214 h 535592"/>
                <a:gd name="connsiteX65" fmla="*/ 50663 w 607074"/>
                <a:gd name="connsiteY65" fmla="*/ 150214 h 535592"/>
                <a:gd name="connsiteX66" fmla="*/ 50663 w 607074"/>
                <a:gd name="connsiteY66" fmla="*/ 76261 h 535592"/>
                <a:gd name="connsiteX67" fmla="*/ 127044 w 607074"/>
                <a:gd name="connsiteY67" fmla="*/ 0 h 53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07074" h="535592">
                  <a:moveTo>
                    <a:pt x="422911" y="328453"/>
                  </a:moveTo>
                  <a:cubicBezTo>
                    <a:pt x="396135" y="328453"/>
                    <a:pt x="374463" y="350090"/>
                    <a:pt x="374463" y="376728"/>
                  </a:cubicBezTo>
                  <a:cubicBezTo>
                    <a:pt x="374463" y="392595"/>
                    <a:pt x="382168" y="406443"/>
                    <a:pt x="393919" y="415290"/>
                  </a:cubicBezTo>
                  <a:lnTo>
                    <a:pt x="393919" y="456256"/>
                  </a:lnTo>
                  <a:cubicBezTo>
                    <a:pt x="393919" y="472219"/>
                    <a:pt x="406826" y="485202"/>
                    <a:pt x="422911" y="485202"/>
                  </a:cubicBezTo>
                  <a:cubicBezTo>
                    <a:pt x="438900" y="485202"/>
                    <a:pt x="451904" y="472219"/>
                    <a:pt x="451904" y="456256"/>
                  </a:cubicBezTo>
                  <a:lnTo>
                    <a:pt x="451904" y="415194"/>
                  </a:lnTo>
                  <a:cubicBezTo>
                    <a:pt x="463558" y="406443"/>
                    <a:pt x="471264" y="392499"/>
                    <a:pt x="471264" y="376728"/>
                  </a:cubicBezTo>
                  <a:cubicBezTo>
                    <a:pt x="471264" y="350090"/>
                    <a:pt x="449592" y="328453"/>
                    <a:pt x="422911" y="328453"/>
                  </a:cubicBezTo>
                  <a:close/>
                  <a:moveTo>
                    <a:pt x="366303" y="186857"/>
                  </a:moveTo>
                  <a:lnTo>
                    <a:pt x="368230" y="186857"/>
                  </a:lnTo>
                  <a:cubicBezTo>
                    <a:pt x="368230" y="187819"/>
                    <a:pt x="368422" y="188684"/>
                    <a:pt x="368422" y="189646"/>
                  </a:cubicBezTo>
                  <a:lnTo>
                    <a:pt x="368422" y="231666"/>
                  </a:lnTo>
                  <a:lnTo>
                    <a:pt x="338079" y="231666"/>
                  </a:lnTo>
                  <a:cubicBezTo>
                    <a:pt x="353684" y="222339"/>
                    <a:pt x="364665" y="205896"/>
                    <a:pt x="366303" y="186857"/>
                  </a:cubicBezTo>
                  <a:close/>
                  <a:moveTo>
                    <a:pt x="361460" y="100062"/>
                  </a:moveTo>
                  <a:lnTo>
                    <a:pt x="484267" y="100062"/>
                  </a:lnTo>
                  <a:cubicBezTo>
                    <a:pt x="529537" y="100062"/>
                    <a:pt x="566331" y="136797"/>
                    <a:pt x="566331" y="181994"/>
                  </a:cubicBezTo>
                  <a:lnTo>
                    <a:pt x="566331" y="260657"/>
                  </a:lnTo>
                  <a:lnTo>
                    <a:pt x="567680" y="260657"/>
                  </a:lnTo>
                  <a:cubicBezTo>
                    <a:pt x="589448" y="260657"/>
                    <a:pt x="607074" y="278255"/>
                    <a:pt x="607074" y="300085"/>
                  </a:cubicBezTo>
                  <a:lnTo>
                    <a:pt x="607074" y="496261"/>
                  </a:lnTo>
                  <a:cubicBezTo>
                    <a:pt x="607074" y="517994"/>
                    <a:pt x="589448" y="535592"/>
                    <a:pt x="567680" y="535592"/>
                  </a:cubicBezTo>
                  <a:lnTo>
                    <a:pt x="278047" y="535592"/>
                  </a:lnTo>
                  <a:cubicBezTo>
                    <a:pt x="256279" y="535592"/>
                    <a:pt x="238652" y="517994"/>
                    <a:pt x="238652" y="496261"/>
                  </a:cubicBezTo>
                  <a:lnTo>
                    <a:pt x="238652" y="300085"/>
                  </a:lnTo>
                  <a:cubicBezTo>
                    <a:pt x="238652" y="278255"/>
                    <a:pt x="256279" y="260657"/>
                    <a:pt x="278047" y="260657"/>
                  </a:cubicBezTo>
                  <a:lnTo>
                    <a:pt x="508250" y="260657"/>
                  </a:lnTo>
                  <a:lnTo>
                    <a:pt x="508250" y="181994"/>
                  </a:lnTo>
                  <a:cubicBezTo>
                    <a:pt x="508250" y="168724"/>
                    <a:pt x="497559" y="157953"/>
                    <a:pt x="484267" y="157953"/>
                  </a:cubicBezTo>
                  <a:lnTo>
                    <a:pt x="361460" y="157953"/>
                  </a:lnTo>
                  <a:cubicBezTo>
                    <a:pt x="348264" y="157953"/>
                    <a:pt x="337476" y="168724"/>
                    <a:pt x="337476" y="181994"/>
                  </a:cubicBezTo>
                  <a:cubicBezTo>
                    <a:pt x="337476" y="197958"/>
                    <a:pt x="324473" y="210940"/>
                    <a:pt x="308484" y="210940"/>
                  </a:cubicBezTo>
                  <a:cubicBezTo>
                    <a:pt x="292399" y="210940"/>
                    <a:pt x="279395" y="197958"/>
                    <a:pt x="279395" y="181994"/>
                  </a:cubicBezTo>
                  <a:cubicBezTo>
                    <a:pt x="279395" y="136797"/>
                    <a:pt x="316189" y="100062"/>
                    <a:pt x="361460" y="100062"/>
                  </a:cubicBezTo>
                  <a:close/>
                  <a:moveTo>
                    <a:pt x="127044" y="0"/>
                  </a:moveTo>
                  <a:lnTo>
                    <a:pt x="241375" y="0"/>
                  </a:lnTo>
                  <a:cubicBezTo>
                    <a:pt x="283467" y="0"/>
                    <a:pt x="317756" y="34236"/>
                    <a:pt x="317756" y="76261"/>
                  </a:cubicBezTo>
                  <a:lnTo>
                    <a:pt x="317756" y="80108"/>
                  </a:lnTo>
                  <a:cubicBezTo>
                    <a:pt x="294640" y="90013"/>
                    <a:pt x="275665" y="107515"/>
                    <a:pt x="263721" y="129442"/>
                  </a:cubicBezTo>
                  <a:lnTo>
                    <a:pt x="263721" y="76261"/>
                  </a:lnTo>
                  <a:cubicBezTo>
                    <a:pt x="263721" y="63951"/>
                    <a:pt x="253704" y="53950"/>
                    <a:pt x="241375" y="53950"/>
                  </a:cubicBezTo>
                  <a:lnTo>
                    <a:pt x="127044" y="53950"/>
                  </a:lnTo>
                  <a:cubicBezTo>
                    <a:pt x="114716" y="53950"/>
                    <a:pt x="104698" y="63951"/>
                    <a:pt x="104698" y="76261"/>
                  </a:cubicBezTo>
                  <a:lnTo>
                    <a:pt x="104698" y="150214"/>
                  </a:lnTo>
                  <a:lnTo>
                    <a:pt x="255149" y="150214"/>
                  </a:lnTo>
                  <a:cubicBezTo>
                    <a:pt x="252163" y="160311"/>
                    <a:pt x="250429" y="170890"/>
                    <a:pt x="250429" y="181949"/>
                  </a:cubicBezTo>
                  <a:cubicBezTo>
                    <a:pt x="250429" y="195701"/>
                    <a:pt x="255631" y="208107"/>
                    <a:pt x="263721" y="218012"/>
                  </a:cubicBezTo>
                  <a:cubicBezTo>
                    <a:pt x="268056" y="223301"/>
                    <a:pt x="272968" y="228206"/>
                    <a:pt x="278843" y="231668"/>
                  </a:cubicBezTo>
                  <a:lnTo>
                    <a:pt x="278073" y="231668"/>
                  </a:lnTo>
                  <a:cubicBezTo>
                    <a:pt x="259387" y="231668"/>
                    <a:pt x="242435" y="239265"/>
                    <a:pt x="230009" y="251478"/>
                  </a:cubicBezTo>
                  <a:cubicBezTo>
                    <a:pt x="226638" y="240996"/>
                    <a:pt x="219992" y="232149"/>
                    <a:pt x="211034" y="226186"/>
                  </a:cubicBezTo>
                  <a:cubicBezTo>
                    <a:pt x="203329" y="220993"/>
                    <a:pt x="194179" y="218012"/>
                    <a:pt x="184258" y="218012"/>
                  </a:cubicBezTo>
                  <a:cubicBezTo>
                    <a:pt x="174337" y="218012"/>
                    <a:pt x="165090" y="220993"/>
                    <a:pt x="157385" y="226186"/>
                  </a:cubicBezTo>
                  <a:cubicBezTo>
                    <a:pt x="144382" y="234841"/>
                    <a:pt x="135809" y="249555"/>
                    <a:pt x="135809" y="266384"/>
                  </a:cubicBezTo>
                  <a:cubicBezTo>
                    <a:pt x="135809" y="271096"/>
                    <a:pt x="136773" y="275713"/>
                    <a:pt x="138025" y="280040"/>
                  </a:cubicBezTo>
                  <a:cubicBezTo>
                    <a:pt x="141011" y="290042"/>
                    <a:pt x="147079" y="298697"/>
                    <a:pt x="155266" y="304851"/>
                  </a:cubicBezTo>
                  <a:lnTo>
                    <a:pt x="155266" y="345819"/>
                  </a:lnTo>
                  <a:cubicBezTo>
                    <a:pt x="155266" y="361783"/>
                    <a:pt x="168173" y="374765"/>
                    <a:pt x="184258" y="374765"/>
                  </a:cubicBezTo>
                  <a:cubicBezTo>
                    <a:pt x="195238" y="374765"/>
                    <a:pt x="204774" y="368514"/>
                    <a:pt x="209686" y="359475"/>
                  </a:cubicBezTo>
                  <a:lnTo>
                    <a:pt x="209686" y="425157"/>
                  </a:lnTo>
                  <a:lnTo>
                    <a:pt x="39394" y="425157"/>
                  </a:lnTo>
                  <a:cubicBezTo>
                    <a:pt x="17626" y="425157"/>
                    <a:pt x="0" y="407558"/>
                    <a:pt x="0" y="385824"/>
                  </a:cubicBezTo>
                  <a:lnTo>
                    <a:pt x="0" y="189643"/>
                  </a:lnTo>
                  <a:cubicBezTo>
                    <a:pt x="0" y="167909"/>
                    <a:pt x="17626" y="150214"/>
                    <a:pt x="39394" y="150214"/>
                  </a:cubicBezTo>
                  <a:lnTo>
                    <a:pt x="50663" y="150214"/>
                  </a:lnTo>
                  <a:lnTo>
                    <a:pt x="50663" y="76261"/>
                  </a:lnTo>
                  <a:cubicBezTo>
                    <a:pt x="50663" y="34236"/>
                    <a:pt x="84953" y="0"/>
                    <a:pt x="127044" y="0"/>
                  </a:cubicBezTo>
                  <a:close/>
                </a:path>
              </a:pathLst>
            </a:custGeom>
            <a:solidFill>
              <a:srgbClr val="305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组合 31"/>
          <p:cNvGrpSpPr/>
          <p:nvPr/>
        </p:nvGrpSpPr>
        <p:grpSpPr>
          <a:xfrm>
            <a:off x="7461885" y="4376420"/>
            <a:ext cx="571500" cy="1103699"/>
            <a:chOff x="1419518" y="4699381"/>
            <a:chExt cx="650114" cy="1103802"/>
          </a:xfrm>
        </p:grpSpPr>
        <p:sp>
          <p:nvSpPr>
            <p:cNvPr id="26" name="文本框 25"/>
            <p:cNvSpPr txBox="1"/>
            <p:nvPr/>
          </p:nvSpPr>
          <p:spPr>
            <a:xfrm>
              <a:off x="1419518" y="5065879"/>
              <a:ext cx="650114" cy="737304"/>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rPr>
                <a:t>忽视环境</a:t>
              </a:r>
              <a:r>
                <a:rPr lang="zh-CN" altLang="en-US" sz="1400" b="1" dirty="0">
                  <a:latin typeface="微软雅黑" panose="020B0503020204020204" pitchFamily="34" charset="-122"/>
                  <a:ea typeface="微软雅黑" panose="020B0503020204020204" pitchFamily="34" charset="-122"/>
                </a:rPr>
                <a:t>价值</a:t>
              </a:r>
              <a:endParaRPr lang="zh-CN" altLang="en-US" sz="1400" b="1" dirty="0">
                <a:latin typeface="微软雅黑" panose="020B0503020204020204" pitchFamily="34" charset="-122"/>
                <a:ea typeface="微软雅黑" panose="020B0503020204020204" pitchFamily="34" charset="-122"/>
              </a:endParaRPr>
            </a:p>
          </p:txBody>
        </p:sp>
        <p:sp>
          <p:nvSpPr>
            <p:cNvPr id="28" name="任意多边形: 形状 27"/>
            <p:cNvSpPr/>
            <p:nvPr/>
          </p:nvSpPr>
          <p:spPr>
            <a:xfrm>
              <a:off x="1465026" y="4699381"/>
              <a:ext cx="480362" cy="364524"/>
            </a:xfrm>
            <a:custGeom>
              <a:avLst/>
              <a:gdLst>
                <a:gd name="T0" fmla="*/ 2065 w 5739"/>
                <a:gd name="T1" fmla="*/ 4866 h 5340"/>
                <a:gd name="T2" fmla="*/ 376 w 5739"/>
                <a:gd name="T3" fmla="*/ 4579 h 5340"/>
                <a:gd name="T4" fmla="*/ 1719 w 5739"/>
                <a:gd name="T5" fmla="*/ 4682 h 5340"/>
                <a:gd name="T6" fmla="*/ 1950 w 5739"/>
                <a:gd name="T7" fmla="*/ 4762 h 5340"/>
                <a:gd name="T8" fmla="*/ 1719 w 5739"/>
                <a:gd name="T9" fmla="*/ 4682 h 5340"/>
                <a:gd name="T10" fmla="*/ 1254 w 5739"/>
                <a:gd name="T11" fmla="*/ 2349 h 5340"/>
                <a:gd name="T12" fmla="*/ 1254 w 5739"/>
                <a:gd name="T13" fmla="*/ 2535 h 5340"/>
                <a:gd name="T14" fmla="*/ 1764 w 5739"/>
                <a:gd name="T15" fmla="*/ 2442 h 5340"/>
                <a:gd name="T16" fmla="*/ 1950 w 5739"/>
                <a:gd name="T17" fmla="*/ 2442 h 5340"/>
                <a:gd name="T18" fmla="*/ 1764 w 5739"/>
                <a:gd name="T19" fmla="*/ 2442 h 5340"/>
                <a:gd name="T20" fmla="*/ 2065 w 5739"/>
                <a:gd name="T21" fmla="*/ 4111 h 5340"/>
                <a:gd name="T22" fmla="*/ 376 w 5739"/>
                <a:gd name="T23" fmla="*/ 3824 h 5340"/>
                <a:gd name="T24" fmla="*/ 1719 w 5739"/>
                <a:gd name="T25" fmla="*/ 3927 h 5340"/>
                <a:gd name="T26" fmla="*/ 1950 w 5739"/>
                <a:gd name="T27" fmla="*/ 4007 h 5340"/>
                <a:gd name="T28" fmla="*/ 1719 w 5739"/>
                <a:gd name="T29" fmla="*/ 3927 h 5340"/>
                <a:gd name="T30" fmla="*/ 2415 w 5739"/>
                <a:gd name="T31" fmla="*/ 5340 h 5340"/>
                <a:gd name="T32" fmla="*/ 0 w 5739"/>
                <a:gd name="T33" fmla="*/ 1949 h 5340"/>
                <a:gd name="T34" fmla="*/ 1857 w 5739"/>
                <a:gd name="T35" fmla="*/ 2197 h 5340"/>
                <a:gd name="T36" fmla="*/ 1857 w 5739"/>
                <a:gd name="T37" fmla="*/ 2687 h 5340"/>
                <a:gd name="T38" fmla="*/ 1857 w 5739"/>
                <a:gd name="T39" fmla="*/ 2197 h 5340"/>
                <a:gd name="T40" fmla="*/ 1499 w 5739"/>
                <a:gd name="T41" fmla="*/ 2442 h 5340"/>
                <a:gd name="T42" fmla="*/ 1009 w 5739"/>
                <a:gd name="T43" fmla="*/ 2442 h 5340"/>
                <a:gd name="T44" fmla="*/ 224 w 5739"/>
                <a:gd name="T45" fmla="*/ 2906 h 5340"/>
                <a:gd name="T46" fmla="*/ 2217 w 5739"/>
                <a:gd name="T47" fmla="*/ 3498 h 5340"/>
                <a:gd name="T48" fmla="*/ 224 w 5739"/>
                <a:gd name="T49" fmla="*/ 2906 h 5340"/>
                <a:gd name="T50" fmla="*/ 2217 w 5739"/>
                <a:gd name="T51" fmla="*/ 3672 h 5340"/>
                <a:gd name="T52" fmla="*/ 224 w 5739"/>
                <a:gd name="T53" fmla="*/ 4263 h 5340"/>
                <a:gd name="T54" fmla="*/ 224 w 5739"/>
                <a:gd name="T55" fmla="*/ 4427 h 5340"/>
                <a:gd name="T56" fmla="*/ 2217 w 5739"/>
                <a:gd name="T57" fmla="*/ 5018 h 5340"/>
                <a:gd name="T58" fmla="*/ 224 w 5739"/>
                <a:gd name="T59" fmla="*/ 4427 h 5340"/>
                <a:gd name="T60" fmla="*/ 2065 w 5739"/>
                <a:gd name="T61" fmla="*/ 3346 h 5340"/>
                <a:gd name="T62" fmla="*/ 376 w 5739"/>
                <a:gd name="T63" fmla="*/ 3058 h 5340"/>
                <a:gd name="T64" fmla="*/ 1719 w 5739"/>
                <a:gd name="T65" fmla="*/ 3151 h 5340"/>
                <a:gd name="T66" fmla="*/ 1950 w 5739"/>
                <a:gd name="T67" fmla="*/ 3232 h 5340"/>
                <a:gd name="T68" fmla="*/ 1719 w 5739"/>
                <a:gd name="T69" fmla="*/ 3151 h 5340"/>
                <a:gd name="T70" fmla="*/ 5701 w 5739"/>
                <a:gd name="T71" fmla="*/ 2979 h 5340"/>
                <a:gd name="T72" fmla="*/ 3196 w 5739"/>
                <a:gd name="T73" fmla="*/ 5087 h 5340"/>
                <a:gd name="T74" fmla="*/ 2756 w 5739"/>
                <a:gd name="T75" fmla="*/ 3533 h 5340"/>
                <a:gd name="T76" fmla="*/ 3266 w 5739"/>
                <a:gd name="T77" fmla="*/ 3673 h 5340"/>
                <a:gd name="T78" fmla="*/ 3702 w 5739"/>
                <a:gd name="T79" fmla="*/ 4594 h 5340"/>
                <a:gd name="T80" fmla="*/ 4683 w 5739"/>
                <a:gd name="T81" fmla="*/ 4254 h 5340"/>
                <a:gd name="T82" fmla="*/ 5428 w 5739"/>
                <a:gd name="T83" fmla="*/ 2943 h 5340"/>
                <a:gd name="T84" fmla="*/ 4302 w 5739"/>
                <a:gd name="T85" fmla="*/ 564 h 5340"/>
                <a:gd name="T86" fmla="*/ 4610 w 5739"/>
                <a:gd name="T87" fmla="*/ 1592 h 5340"/>
                <a:gd name="T88" fmla="*/ 4542 w 5739"/>
                <a:gd name="T89" fmla="*/ 2400 h 5340"/>
                <a:gd name="T90" fmla="*/ 3545 w 5739"/>
                <a:gd name="T91" fmla="*/ 1936 h 5340"/>
                <a:gd name="T92" fmla="*/ 2756 w 5739"/>
                <a:gd name="T93" fmla="*/ 2638 h 5340"/>
                <a:gd name="T94" fmla="*/ 2431 w 5739"/>
                <a:gd name="T95" fmla="*/ 1620 h 5340"/>
                <a:gd name="T96" fmla="*/ 1126 w 5739"/>
                <a:gd name="T97" fmla="*/ 1620 h 5340"/>
                <a:gd name="T98" fmla="*/ 3196 w 5739"/>
                <a:gd name="T99" fmla="*/ 0 h 5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739" h="5340">
                  <a:moveTo>
                    <a:pt x="376" y="4866"/>
                  </a:moveTo>
                  <a:lnTo>
                    <a:pt x="2065" y="4866"/>
                  </a:lnTo>
                  <a:lnTo>
                    <a:pt x="2065" y="4579"/>
                  </a:lnTo>
                  <a:lnTo>
                    <a:pt x="376" y="4579"/>
                  </a:lnTo>
                  <a:lnTo>
                    <a:pt x="376" y="4866"/>
                  </a:lnTo>
                  <a:close/>
                  <a:moveTo>
                    <a:pt x="1719" y="4682"/>
                  </a:moveTo>
                  <a:lnTo>
                    <a:pt x="1950" y="4682"/>
                  </a:lnTo>
                  <a:lnTo>
                    <a:pt x="1950" y="4762"/>
                  </a:lnTo>
                  <a:lnTo>
                    <a:pt x="1719" y="4762"/>
                  </a:lnTo>
                  <a:lnTo>
                    <a:pt x="1719" y="4682"/>
                  </a:lnTo>
                  <a:close/>
                  <a:moveTo>
                    <a:pt x="1161" y="2442"/>
                  </a:moveTo>
                  <a:cubicBezTo>
                    <a:pt x="1161" y="2391"/>
                    <a:pt x="1203" y="2349"/>
                    <a:pt x="1254" y="2349"/>
                  </a:cubicBezTo>
                  <a:cubicBezTo>
                    <a:pt x="1305" y="2349"/>
                    <a:pt x="1347" y="2391"/>
                    <a:pt x="1347" y="2442"/>
                  </a:cubicBezTo>
                  <a:cubicBezTo>
                    <a:pt x="1347" y="2493"/>
                    <a:pt x="1305" y="2535"/>
                    <a:pt x="1254" y="2535"/>
                  </a:cubicBezTo>
                  <a:cubicBezTo>
                    <a:pt x="1203" y="2535"/>
                    <a:pt x="1161" y="2493"/>
                    <a:pt x="1161" y="2442"/>
                  </a:cubicBezTo>
                  <a:close/>
                  <a:moveTo>
                    <a:pt x="1764" y="2442"/>
                  </a:moveTo>
                  <a:cubicBezTo>
                    <a:pt x="1764" y="2391"/>
                    <a:pt x="1806" y="2349"/>
                    <a:pt x="1857" y="2349"/>
                  </a:cubicBezTo>
                  <a:cubicBezTo>
                    <a:pt x="1908" y="2349"/>
                    <a:pt x="1950" y="2391"/>
                    <a:pt x="1950" y="2442"/>
                  </a:cubicBezTo>
                  <a:cubicBezTo>
                    <a:pt x="1950" y="2493"/>
                    <a:pt x="1908" y="2535"/>
                    <a:pt x="1857" y="2535"/>
                  </a:cubicBezTo>
                  <a:cubicBezTo>
                    <a:pt x="1806" y="2535"/>
                    <a:pt x="1764" y="2493"/>
                    <a:pt x="1764" y="2442"/>
                  </a:cubicBezTo>
                  <a:close/>
                  <a:moveTo>
                    <a:pt x="376" y="4111"/>
                  </a:moveTo>
                  <a:lnTo>
                    <a:pt x="2065" y="4111"/>
                  </a:lnTo>
                  <a:lnTo>
                    <a:pt x="2065" y="3824"/>
                  </a:lnTo>
                  <a:lnTo>
                    <a:pt x="376" y="3824"/>
                  </a:lnTo>
                  <a:lnTo>
                    <a:pt x="376" y="4111"/>
                  </a:lnTo>
                  <a:close/>
                  <a:moveTo>
                    <a:pt x="1719" y="3927"/>
                  </a:moveTo>
                  <a:lnTo>
                    <a:pt x="1950" y="3927"/>
                  </a:lnTo>
                  <a:lnTo>
                    <a:pt x="1950" y="4007"/>
                  </a:lnTo>
                  <a:lnTo>
                    <a:pt x="1719" y="4007"/>
                  </a:lnTo>
                  <a:lnTo>
                    <a:pt x="1719" y="3927"/>
                  </a:lnTo>
                  <a:close/>
                  <a:moveTo>
                    <a:pt x="0" y="5340"/>
                  </a:moveTo>
                  <a:lnTo>
                    <a:pt x="2415" y="5340"/>
                  </a:lnTo>
                  <a:lnTo>
                    <a:pt x="2415" y="1949"/>
                  </a:lnTo>
                  <a:lnTo>
                    <a:pt x="0" y="1949"/>
                  </a:lnTo>
                  <a:lnTo>
                    <a:pt x="0" y="5340"/>
                  </a:lnTo>
                  <a:close/>
                  <a:moveTo>
                    <a:pt x="1857" y="2197"/>
                  </a:moveTo>
                  <a:cubicBezTo>
                    <a:pt x="1992" y="2197"/>
                    <a:pt x="2102" y="2307"/>
                    <a:pt x="2102" y="2442"/>
                  </a:cubicBezTo>
                  <a:cubicBezTo>
                    <a:pt x="2102" y="2577"/>
                    <a:pt x="1992" y="2687"/>
                    <a:pt x="1857" y="2687"/>
                  </a:cubicBezTo>
                  <a:cubicBezTo>
                    <a:pt x="1722" y="2687"/>
                    <a:pt x="1612" y="2577"/>
                    <a:pt x="1612" y="2442"/>
                  </a:cubicBezTo>
                  <a:cubicBezTo>
                    <a:pt x="1612" y="2307"/>
                    <a:pt x="1722" y="2197"/>
                    <a:pt x="1857" y="2197"/>
                  </a:cubicBezTo>
                  <a:close/>
                  <a:moveTo>
                    <a:pt x="1254" y="2197"/>
                  </a:moveTo>
                  <a:cubicBezTo>
                    <a:pt x="1389" y="2197"/>
                    <a:pt x="1499" y="2307"/>
                    <a:pt x="1499" y="2442"/>
                  </a:cubicBezTo>
                  <a:cubicBezTo>
                    <a:pt x="1499" y="2577"/>
                    <a:pt x="1389" y="2687"/>
                    <a:pt x="1254" y="2687"/>
                  </a:cubicBezTo>
                  <a:cubicBezTo>
                    <a:pt x="1119" y="2687"/>
                    <a:pt x="1009" y="2577"/>
                    <a:pt x="1009" y="2442"/>
                  </a:cubicBezTo>
                  <a:cubicBezTo>
                    <a:pt x="1009" y="2307"/>
                    <a:pt x="1119" y="2197"/>
                    <a:pt x="1254" y="2197"/>
                  </a:cubicBezTo>
                  <a:close/>
                  <a:moveTo>
                    <a:pt x="224" y="2906"/>
                  </a:moveTo>
                  <a:lnTo>
                    <a:pt x="2217" y="2906"/>
                  </a:lnTo>
                  <a:lnTo>
                    <a:pt x="2217" y="3498"/>
                  </a:lnTo>
                  <a:lnTo>
                    <a:pt x="224" y="3498"/>
                  </a:lnTo>
                  <a:lnTo>
                    <a:pt x="224" y="2906"/>
                  </a:lnTo>
                  <a:close/>
                  <a:moveTo>
                    <a:pt x="224" y="3672"/>
                  </a:moveTo>
                  <a:lnTo>
                    <a:pt x="2217" y="3672"/>
                  </a:lnTo>
                  <a:lnTo>
                    <a:pt x="2217" y="4263"/>
                  </a:lnTo>
                  <a:lnTo>
                    <a:pt x="224" y="4263"/>
                  </a:lnTo>
                  <a:lnTo>
                    <a:pt x="224" y="3672"/>
                  </a:lnTo>
                  <a:close/>
                  <a:moveTo>
                    <a:pt x="224" y="4427"/>
                  </a:moveTo>
                  <a:lnTo>
                    <a:pt x="2217" y="4427"/>
                  </a:lnTo>
                  <a:lnTo>
                    <a:pt x="2217" y="5018"/>
                  </a:lnTo>
                  <a:lnTo>
                    <a:pt x="224" y="5018"/>
                  </a:lnTo>
                  <a:lnTo>
                    <a:pt x="224" y="4427"/>
                  </a:lnTo>
                  <a:close/>
                  <a:moveTo>
                    <a:pt x="376" y="3346"/>
                  </a:moveTo>
                  <a:lnTo>
                    <a:pt x="2065" y="3346"/>
                  </a:lnTo>
                  <a:lnTo>
                    <a:pt x="2065" y="3058"/>
                  </a:lnTo>
                  <a:lnTo>
                    <a:pt x="376" y="3058"/>
                  </a:lnTo>
                  <a:lnTo>
                    <a:pt x="376" y="3346"/>
                  </a:lnTo>
                  <a:close/>
                  <a:moveTo>
                    <a:pt x="1719" y="3151"/>
                  </a:moveTo>
                  <a:lnTo>
                    <a:pt x="1950" y="3151"/>
                  </a:lnTo>
                  <a:lnTo>
                    <a:pt x="1950" y="3232"/>
                  </a:lnTo>
                  <a:lnTo>
                    <a:pt x="1719" y="3232"/>
                  </a:lnTo>
                  <a:lnTo>
                    <a:pt x="1719" y="3151"/>
                  </a:lnTo>
                  <a:close/>
                  <a:moveTo>
                    <a:pt x="5739" y="2543"/>
                  </a:moveTo>
                  <a:cubicBezTo>
                    <a:pt x="5739" y="2692"/>
                    <a:pt x="5726" y="2838"/>
                    <a:pt x="5701" y="2979"/>
                  </a:cubicBezTo>
                  <a:lnTo>
                    <a:pt x="5657" y="3187"/>
                  </a:lnTo>
                  <a:cubicBezTo>
                    <a:pt x="5371" y="4279"/>
                    <a:pt x="4376" y="5087"/>
                    <a:pt x="3196" y="5087"/>
                  </a:cubicBezTo>
                  <a:cubicBezTo>
                    <a:pt x="3046" y="5087"/>
                    <a:pt x="2899" y="5073"/>
                    <a:pt x="2756" y="5048"/>
                  </a:cubicBezTo>
                  <a:lnTo>
                    <a:pt x="2756" y="3533"/>
                  </a:lnTo>
                  <a:cubicBezTo>
                    <a:pt x="2823" y="3561"/>
                    <a:pt x="2877" y="3609"/>
                    <a:pt x="2938" y="3657"/>
                  </a:cubicBezTo>
                  <a:cubicBezTo>
                    <a:pt x="3027" y="3727"/>
                    <a:pt x="3162" y="3669"/>
                    <a:pt x="3266" y="3673"/>
                  </a:cubicBezTo>
                  <a:cubicBezTo>
                    <a:pt x="3526" y="3681"/>
                    <a:pt x="3571" y="3962"/>
                    <a:pt x="3589" y="4165"/>
                  </a:cubicBezTo>
                  <a:cubicBezTo>
                    <a:pt x="3602" y="4315"/>
                    <a:pt x="3740" y="4438"/>
                    <a:pt x="3702" y="4594"/>
                  </a:cubicBezTo>
                  <a:cubicBezTo>
                    <a:pt x="3685" y="4663"/>
                    <a:pt x="3649" y="4734"/>
                    <a:pt x="3590" y="4777"/>
                  </a:cubicBezTo>
                  <a:cubicBezTo>
                    <a:pt x="4004" y="4704"/>
                    <a:pt x="4379" y="4519"/>
                    <a:pt x="4683" y="4254"/>
                  </a:cubicBezTo>
                  <a:cubicBezTo>
                    <a:pt x="4578" y="3990"/>
                    <a:pt x="4274" y="3829"/>
                    <a:pt x="4301" y="3482"/>
                  </a:cubicBezTo>
                  <a:cubicBezTo>
                    <a:pt x="4363" y="2891"/>
                    <a:pt x="5045" y="3145"/>
                    <a:pt x="5428" y="2943"/>
                  </a:cubicBezTo>
                  <a:cubicBezTo>
                    <a:pt x="5452" y="2813"/>
                    <a:pt x="5464" y="2680"/>
                    <a:pt x="5464" y="2543"/>
                  </a:cubicBezTo>
                  <a:cubicBezTo>
                    <a:pt x="5464" y="1694"/>
                    <a:pt x="4995" y="953"/>
                    <a:pt x="4302" y="564"/>
                  </a:cubicBezTo>
                  <a:cubicBezTo>
                    <a:pt x="4314" y="574"/>
                    <a:pt x="4325" y="585"/>
                    <a:pt x="4335" y="595"/>
                  </a:cubicBezTo>
                  <a:cubicBezTo>
                    <a:pt x="4782" y="1042"/>
                    <a:pt x="4542" y="1076"/>
                    <a:pt x="4610" y="1592"/>
                  </a:cubicBezTo>
                  <a:cubicBezTo>
                    <a:pt x="4610" y="1764"/>
                    <a:pt x="4966" y="1735"/>
                    <a:pt x="4931" y="2045"/>
                  </a:cubicBezTo>
                  <a:cubicBezTo>
                    <a:pt x="4862" y="2354"/>
                    <a:pt x="4851" y="2657"/>
                    <a:pt x="4542" y="2400"/>
                  </a:cubicBezTo>
                  <a:cubicBezTo>
                    <a:pt x="4232" y="2142"/>
                    <a:pt x="4026" y="2348"/>
                    <a:pt x="3923" y="2314"/>
                  </a:cubicBezTo>
                  <a:cubicBezTo>
                    <a:pt x="3785" y="2245"/>
                    <a:pt x="3717" y="1936"/>
                    <a:pt x="3545" y="1936"/>
                  </a:cubicBezTo>
                  <a:cubicBezTo>
                    <a:pt x="3064" y="1970"/>
                    <a:pt x="3373" y="2932"/>
                    <a:pt x="2788" y="2657"/>
                  </a:cubicBezTo>
                  <a:cubicBezTo>
                    <a:pt x="2777" y="2651"/>
                    <a:pt x="2767" y="2645"/>
                    <a:pt x="2756" y="2638"/>
                  </a:cubicBezTo>
                  <a:lnTo>
                    <a:pt x="2756" y="1620"/>
                  </a:lnTo>
                  <a:lnTo>
                    <a:pt x="2431" y="1620"/>
                  </a:lnTo>
                  <a:cubicBezTo>
                    <a:pt x="2420" y="1230"/>
                    <a:pt x="2389" y="830"/>
                    <a:pt x="2052" y="586"/>
                  </a:cubicBezTo>
                  <a:cubicBezTo>
                    <a:pt x="1645" y="824"/>
                    <a:pt x="1321" y="1186"/>
                    <a:pt x="1126" y="1620"/>
                  </a:cubicBezTo>
                  <a:lnTo>
                    <a:pt x="826" y="1620"/>
                  </a:lnTo>
                  <a:cubicBezTo>
                    <a:pt x="1197" y="672"/>
                    <a:pt x="2119" y="0"/>
                    <a:pt x="3196" y="0"/>
                  </a:cubicBezTo>
                  <a:cubicBezTo>
                    <a:pt x="4598" y="0"/>
                    <a:pt x="5739" y="1141"/>
                    <a:pt x="5739" y="2543"/>
                  </a:cubicBezTo>
                  <a:close/>
                </a:path>
              </a:pathLst>
            </a:custGeom>
            <a:solidFill>
              <a:srgbClr val="305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组合 37"/>
          <p:cNvGrpSpPr/>
          <p:nvPr/>
        </p:nvGrpSpPr>
        <p:grpSpPr>
          <a:xfrm>
            <a:off x="7383679" y="1579003"/>
            <a:ext cx="650240" cy="1207770"/>
            <a:chOff x="7391353" y="2400032"/>
            <a:chExt cx="650240" cy="1207770"/>
          </a:xfrm>
        </p:grpSpPr>
        <p:sp>
          <p:nvSpPr>
            <p:cNvPr id="33" name="文本框 32"/>
            <p:cNvSpPr txBox="1"/>
            <p:nvPr/>
          </p:nvSpPr>
          <p:spPr>
            <a:xfrm>
              <a:off x="7391353" y="2870567"/>
              <a:ext cx="650240" cy="737235"/>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cs typeface="华文宋体" panose="02010600040101010101" charset="-122"/>
                </a:rPr>
                <a:t>忽视技术</a:t>
              </a:r>
              <a:r>
                <a:rPr lang="zh-CN" altLang="en-US" sz="1400" b="1" dirty="0">
                  <a:latin typeface="微软雅黑" panose="020B0503020204020204" pitchFamily="34" charset="-122"/>
                  <a:ea typeface="微软雅黑" panose="020B0503020204020204" pitchFamily="34" charset="-122"/>
                  <a:cs typeface="华文宋体" panose="02010600040101010101" charset="-122"/>
                </a:rPr>
                <a:t>价值</a:t>
              </a:r>
              <a:endParaRPr lang="zh-CN" altLang="en-US" sz="1400" b="1" dirty="0">
                <a:latin typeface="微软雅黑" panose="020B0503020204020204" pitchFamily="34" charset="-122"/>
                <a:ea typeface="微软雅黑" panose="020B0503020204020204" pitchFamily="34" charset="-122"/>
                <a:cs typeface="华文宋体" panose="02010600040101010101" charset="-122"/>
              </a:endParaRPr>
            </a:p>
          </p:txBody>
        </p:sp>
        <p:sp>
          <p:nvSpPr>
            <p:cNvPr id="36" name="任意多边形: 形状 35"/>
            <p:cNvSpPr/>
            <p:nvPr/>
          </p:nvSpPr>
          <p:spPr>
            <a:xfrm>
              <a:off x="7509463" y="2400032"/>
              <a:ext cx="422910" cy="455295"/>
            </a:xfrm>
            <a:custGeom>
              <a:avLst/>
              <a:gdLst>
                <a:gd name="connsiteX0" fmla="*/ 321836 w 515715"/>
                <a:gd name="connsiteY0" fmla="*/ 443835 h 606722"/>
                <a:gd name="connsiteX1" fmla="*/ 262293 w 515715"/>
                <a:gd name="connsiteY1" fmla="*/ 555004 h 606722"/>
                <a:gd name="connsiteX2" fmla="*/ 262382 w 515715"/>
                <a:gd name="connsiteY2" fmla="*/ 557047 h 606722"/>
                <a:gd name="connsiteX3" fmla="*/ 465220 w 515715"/>
                <a:gd name="connsiteY3" fmla="*/ 557047 h 606722"/>
                <a:gd name="connsiteX4" fmla="*/ 465843 w 515715"/>
                <a:gd name="connsiteY4" fmla="*/ 555981 h 606722"/>
                <a:gd name="connsiteX5" fmla="*/ 451246 w 515715"/>
                <a:gd name="connsiteY5" fmla="*/ 528700 h 606722"/>
                <a:gd name="connsiteX6" fmla="*/ 395441 w 515715"/>
                <a:gd name="connsiteY6" fmla="*/ 528700 h 606722"/>
                <a:gd name="connsiteX7" fmla="*/ 370610 w 515715"/>
                <a:gd name="connsiteY7" fmla="*/ 503907 h 606722"/>
                <a:gd name="connsiteX8" fmla="*/ 395441 w 515715"/>
                <a:gd name="connsiteY8" fmla="*/ 479114 h 606722"/>
                <a:gd name="connsiteX9" fmla="*/ 424635 w 515715"/>
                <a:gd name="connsiteY9" fmla="*/ 479114 h 606722"/>
                <a:gd name="connsiteX10" fmla="*/ 405766 w 515715"/>
                <a:gd name="connsiteY10" fmla="*/ 443835 h 606722"/>
                <a:gd name="connsiteX11" fmla="*/ 96925 w 515715"/>
                <a:gd name="connsiteY11" fmla="*/ 368568 h 606722"/>
                <a:gd name="connsiteX12" fmla="*/ 52512 w 515715"/>
                <a:gd name="connsiteY12" fmla="*/ 394161 h 606722"/>
                <a:gd name="connsiteX13" fmla="*/ 49753 w 515715"/>
                <a:gd name="connsiteY13" fmla="*/ 398959 h 606722"/>
                <a:gd name="connsiteX14" fmla="*/ 49753 w 515715"/>
                <a:gd name="connsiteY14" fmla="*/ 531277 h 606722"/>
                <a:gd name="connsiteX15" fmla="*/ 55271 w 515715"/>
                <a:gd name="connsiteY15" fmla="*/ 536875 h 606722"/>
                <a:gd name="connsiteX16" fmla="*/ 215833 w 515715"/>
                <a:gd name="connsiteY16" fmla="*/ 536875 h 606722"/>
                <a:gd name="connsiteX17" fmla="*/ 282051 w 515715"/>
                <a:gd name="connsiteY17" fmla="*/ 412822 h 606722"/>
                <a:gd name="connsiteX18" fmla="*/ 282051 w 515715"/>
                <a:gd name="connsiteY18" fmla="*/ 392383 h 606722"/>
                <a:gd name="connsiteX19" fmla="*/ 240754 w 515715"/>
                <a:gd name="connsiteY19" fmla="*/ 368568 h 606722"/>
                <a:gd name="connsiteX20" fmla="*/ 191802 w 515715"/>
                <a:gd name="connsiteY20" fmla="*/ 487023 h 606722"/>
                <a:gd name="connsiteX21" fmla="*/ 145876 w 515715"/>
                <a:gd name="connsiteY21" fmla="*/ 487023 h 606722"/>
                <a:gd name="connsiteX22" fmla="*/ 166080 w 515715"/>
                <a:gd name="connsiteY22" fmla="*/ 328668 h 606722"/>
                <a:gd name="connsiteX23" fmla="*/ 140269 w 515715"/>
                <a:gd name="connsiteY23" fmla="*/ 343597 h 606722"/>
                <a:gd name="connsiteX24" fmla="*/ 168839 w 515715"/>
                <a:gd name="connsiteY24" fmla="*/ 412555 h 606722"/>
                <a:gd name="connsiteX25" fmla="*/ 197409 w 515715"/>
                <a:gd name="connsiteY25" fmla="*/ 343597 h 606722"/>
                <a:gd name="connsiteX26" fmla="*/ 171598 w 515715"/>
                <a:gd name="connsiteY26" fmla="*/ 328668 h 606722"/>
                <a:gd name="connsiteX27" fmla="*/ 166080 w 515715"/>
                <a:gd name="connsiteY27" fmla="*/ 328668 h 606722"/>
                <a:gd name="connsiteX28" fmla="*/ 331715 w 515715"/>
                <a:gd name="connsiteY28" fmla="*/ 288680 h 606722"/>
                <a:gd name="connsiteX29" fmla="*/ 331715 w 515715"/>
                <a:gd name="connsiteY29" fmla="*/ 394161 h 606722"/>
                <a:gd name="connsiteX30" fmla="*/ 395797 w 515715"/>
                <a:gd name="connsiteY30" fmla="*/ 394161 h 606722"/>
                <a:gd name="connsiteX31" fmla="*/ 395797 w 515715"/>
                <a:gd name="connsiteY31" fmla="*/ 288680 h 606722"/>
                <a:gd name="connsiteX32" fmla="*/ 271371 w 515715"/>
                <a:gd name="connsiteY32" fmla="*/ 239005 h 606722"/>
                <a:gd name="connsiteX33" fmla="*/ 456231 w 515715"/>
                <a:gd name="connsiteY33" fmla="*/ 239005 h 606722"/>
                <a:gd name="connsiteX34" fmla="*/ 481063 w 515715"/>
                <a:gd name="connsiteY34" fmla="*/ 263887 h 606722"/>
                <a:gd name="connsiteX35" fmla="*/ 456231 w 515715"/>
                <a:gd name="connsiteY35" fmla="*/ 288680 h 606722"/>
                <a:gd name="connsiteX36" fmla="*/ 445550 w 515715"/>
                <a:gd name="connsiteY36" fmla="*/ 288680 h 606722"/>
                <a:gd name="connsiteX37" fmla="*/ 445550 w 515715"/>
                <a:gd name="connsiteY37" fmla="*/ 412822 h 606722"/>
                <a:gd name="connsiteX38" fmla="*/ 508832 w 515715"/>
                <a:gd name="connsiteY38" fmla="*/ 531188 h 606722"/>
                <a:gd name="connsiteX39" fmla="*/ 465220 w 515715"/>
                <a:gd name="connsiteY39" fmla="*/ 606722 h 606722"/>
                <a:gd name="connsiteX40" fmla="*/ 262382 w 515715"/>
                <a:gd name="connsiteY40" fmla="*/ 606722 h 606722"/>
                <a:gd name="connsiteX41" fmla="*/ 221885 w 515715"/>
                <a:gd name="connsiteY41" fmla="*/ 586461 h 606722"/>
                <a:gd name="connsiteX42" fmla="*/ 55271 w 515715"/>
                <a:gd name="connsiteY42" fmla="*/ 586461 h 606722"/>
                <a:gd name="connsiteX43" fmla="*/ 0 w 515715"/>
                <a:gd name="connsiteY43" fmla="*/ 531277 h 606722"/>
                <a:gd name="connsiteX44" fmla="*/ 0 w 515715"/>
                <a:gd name="connsiteY44" fmla="*/ 398959 h 606722"/>
                <a:gd name="connsiteX45" fmla="*/ 27680 w 515715"/>
                <a:gd name="connsiteY45" fmla="*/ 351240 h 606722"/>
                <a:gd name="connsiteX46" fmla="*/ 141248 w 515715"/>
                <a:gd name="connsiteY46" fmla="*/ 285747 h 606722"/>
                <a:gd name="connsiteX47" fmla="*/ 196430 w 515715"/>
                <a:gd name="connsiteY47" fmla="*/ 285747 h 606722"/>
                <a:gd name="connsiteX48" fmla="*/ 282051 w 515715"/>
                <a:gd name="connsiteY48" fmla="*/ 335066 h 606722"/>
                <a:gd name="connsiteX49" fmla="*/ 282051 w 515715"/>
                <a:gd name="connsiteY49" fmla="*/ 288680 h 606722"/>
                <a:gd name="connsiteX50" fmla="*/ 271371 w 515715"/>
                <a:gd name="connsiteY50" fmla="*/ 288680 h 606722"/>
                <a:gd name="connsiteX51" fmla="*/ 246539 w 515715"/>
                <a:gd name="connsiteY51" fmla="*/ 263887 h 606722"/>
                <a:gd name="connsiteX52" fmla="*/ 271371 w 515715"/>
                <a:gd name="connsiteY52" fmla="*/ 239005 h 606722"/>
                <a:gd name="connsiteX53" fmla="*/ 168828 w 515715"/>
                <a:gd name="connsiteY53" fmla="*/ 49587 h 606722"/>
                <a:gd name="connsiteX54" fmla="*/ 85161 w 515715"/>
                <a:gd name="connsiteY54" fmla="*/ 133122 h 606722"/>
                <a:gd name="connsiteX55" fmla="*/ 168828 w 515715"/>
                <a:gd name="connsiteY55" fmla="*/ 216656 h 606722"/>
                <a:gd name="connsiteX56" fmla="*/ 252495 w 515715"/>
                <a:gd name="connsiteY56" fmla="*/ 133122 h 606722"/>
                <a:gd name="connsiteX57" fmla="*/ 168828 w 515715"/>
                <a:gd name="connsiteY57" fmla="*/ 49587 h 606722"/>
                <a:gd name="connsiteX58" fmla="*/ 168828 w 515715"/>
                <a:gd name="connsiteY58" fmla="*/ 0 h 606722"/>
                <a:gd name="connsiteX59" fmla="*/ 302161 w 515715"/>
                <a:gd name="connsiteY59" fmla="*/ 133122 h 606722"/>
                <a:gd name="connsiteX60" fmla="*/ 168828 w 515715"/>
                <a:gd name="connsiteY60" fmla="*/ 266244 h 606722"/>
                <a:gd name="connsiteX61" fmla="*/ 35494 w 515715"/>
                <a:gd name="connsiteY61" fmla="*/ 133122 h 606722"/>
                <a:gd name="connsiteX62" fmla="*/ 168828 w 515715"/>
                <a:gd name="connsiteY62"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15715" h="606722">
                  <a:moveTo>
                    <a:pt x="321836" y="443835"/>
                  </a:moveTo>
                  <a:lnTo>
                    <a:pt x="262293" y="555004"/>
                  </a:lnTo>
                  <a:cubicBezTo>
                    <a:pt x="261759" y="556070"/>
                    <a:pt x="260958" y="557047"/>
                    <a:pt x="262382" y="557047"/>
                  </a:cubicBezTo>
                  <a:lnTo>
                    <a:pt x="465220" y="557047"/>
                  </a:lnTo>
                  <a:cubicBezTo>
                    <a:pt x="465843" y="557047"/>
                    <a:pt x="466110" y="556514"/>
                    <a:pt x="465843" y="555981"/>
                  </a:cubicBezTo>
                  <a:cubicBezTo>
                    <a:pt x="465398" y="555181"/>
                    <a:pt x="451691" y="529500"/>
                    <a:pt x="451246" y="528700"/>
                  </a:cubicBezTo>
                  <a:lnTo>
                    <a:pt x="395441" y="528700"/>
                  </a:lnTo>
                  <a:cubicBezTo>
                    <a:pt x="381735" y="528700"/>
                    <a:pt x="370610" y="517592"/>
                    <a:pt x="370610" y="503907"/>
                  </a:cubicBezTo>
                  <a:cubicBezTo>
                    <a:pt x="370610" y="490222"/>
                    <a:pt x="381735" y="479114"/>
                    <a:pt x="395441" y="479114"/>
                  </a:cubicBezTo>
                  <a:lnTo>
                    <a:pt x="424635" y="479114"/>
                  </a:lnTo>
                  <a:lnTo>
                    <a:pt x="405766" y="443835"/>
                  </a:lnTo>
                  <a:close/>
                  <a:moveTo>
                    <a:pt x="96925" y="368568"/>
                  </a:moveTo>
                  <a:lnTo>
                    <a:pt x="52512" y="394161"/>
                  </a:lnTo>
                  <a:cubicBezTo>
                    <a:pt x="50821" y="395138"/>
                    <a:pt x="49753" y="397004"/>
                    <a:pt x="49753" y="398959"/>
                  </a:cubicBezTo>
                  <a:lnTo>
                    <a:pt x="49753" y="531277"/>
                  </a:lnTo>
                  <a:cubicBezTo>
                    <a:pt x="49753" y="534298"/>
                    <a:pt x="52245" y="536875"/>
                    <a:pt x="55271" y="536875"/>
                  </a:cubicBezTo>
                  <a:lnTo>
                    <a:pt x="215833" y="536875"/>
                  </a:lnTo>
                  <a:cubicBezTo>
                    <a:pt x="217257" y="533587"/>
                    <a:pt x="212718" y="542296"/>
                    <a:pt x="282051" y="412822"/>
                  </a:cubicBezTo>
                  <a:lnTo>
                    <a:pt x="282051" y="392383"/>
                  </a:lnTo>
                  <a:lnTo>
                    <a:pt x="240754" y="368568"/>
                  </a:lnTo>
                  <a:lnTo>
                    <a:pt x="191802" y="487023"/>
                  </a:lnTo>
                  <a:cubicBezTo>
                    <a:pt x="183347" y="507462"/>
                    <a:pt x="154332" y="507373"/>
                    <a:pt x="145876" y="487023"/>
                  </a:cubicBezTo>
                  <a:close/>
                  <a:moveTo>
                    <a:pt x="166080" y="328668"/>
                  </a:moveTo>
                  <a:lnTo>
                    <a:pt x="140269" y="343597"/>
                  </a:lnTo>
                  <a:lnTo>
                    <a:pt x="168839" y="412555"/>
                  </a:lnTo>
                  <a:lnTo>
                    <a:pt x="197409" y="343597"/>
                  </a:lnTo>
                  <a:lnTo>
                    <a:pt x="171598" y="328668"/>
                  </a:lnTo>
                  <a:cubicBezTo>
                    <a:pt x="169907" y="327691"/>
                    <a:pt x="167771" y="327691"/>
                    <a:pt x="166080" y="328668"/>
                  </a:cubicBezTo>
                  <a:close/>
                  <a:moveTo>
                    <a:pt x="331715" y="288680"/>
                  </a:moveTo>
                  <a:lnTo>
                    <a:pt x="331715" y="394161"/>
                  </a:lnTo>
                  <a:lnTo>
                    <a:pt x="395797" y="394161"/>
                  </a:lnTo>
                  <a:lnTo>
                    <a:pt x="395797" y="288680"/>
                  </a:lnTo>
                  <a:close/>
                  <a:moveTo>
                    <a:pt x="271371" y="239005"/>
                  </a:moveTo>
                  <a:lnTo>
                    <a:pt x="456231" y="239005"/>
                  </a:lnTo>
                  <a:cubicBezTo>
                    <a:pt x="469937" y="239005"/>
                    <a:pt x="481063" y="250113"/>
                    <a:pt x="481063" y="263887"/>
                  </a:cubicBezTo>
                  <a:cubicBezTo>
                    <a:pt x="481063" y="277572"/>
                    <a:pt x="469937" y="288680"/>
                    <a:pt x="456231" y="288680"/>
                  </a:cubicBezTo>
                  <a:lnTo>
                    <a:pt x="445550" y="288680"/>
                  </a:lnTo>
                  <a:lnTo>
                    <a:pt x="445550" y="412822"/>
                  </a:lnTo>
                  <a:cubicBezTo>
                    <a:pt x="447775" y="416999"/>
                    <a:pt x="505716" y="525234"/>
                    <a:pt x="508832" y="531188"/>
                  </a:cubicBezTo>
                  <a:cubicBezTo>
                    <a:pt x="528323" y="564690"/>
                    <a:pt x="504114" y="606722"/>
                    <a:pt x="465220" y="606722"/>
                  </a:cubicBezTo>
                  <a:lnTo>
                    <a:pt x="262382" y="606722"/>
                  </a:lnTo>
                  <a:cubicBezTo>
                    <a:pt x="245916" y="606722"/>
                    <a:pt x="231142" y="598902"/>
                    <a:pt x="221885" y="586461"/>
                  </a:cubicBezTo>
                  <a:lnTo>
                    <a:pt x="55271" y="586461"/>
                  </a:lnTo>
                  <a:cubicBezTo>
                    <a:pt x="24832" y="586461"/>
                    <a:pt x="0" y="561668"/>
                    <a:pt x="0" y="531277"/>
                  </a:cubicBezTo>
                  <a:lnTo>
                    <a:pt x="0" y="398959"/>
                  </a:lnTo>
                  <a:cubicBezTo>
                    <a:pt x="0" y="379320"/>
                    <a:pt x="10592" y="361015"/>
                    <a:pt x="27680" y="351240"/>
                  </a:cubicBezTo>
                  <a:lnTo>
                    <a:pt x="141248" y="285747"/>
                  </a:lnTo>
                  <a:cubicBezTo>
                    <a:pt x="158248" y="275883"/>
                    <a:pt x="179431" y="275883"/>
                    <a:pt x="196430" y="285747"/>
                  </a:cubicBezTo>
                  <a:lnTo>
                    <a:pt x="282051" y="335066"/>
                  </a:lnTo>
                  <a:lnTo>
                    <a:pt x="282051" y="288680"/>
                  </a:lnTo>
                  <a:lnTo>
                    <a:pt x="271371" y="288680"/>
                  </a:lnTo>
                  <a:cubicBezTo>
                    <a:pt x="257665" y="288680"/>
                    <a:pt x="246539" y="277572"/>
                    <a:pt x="246539" y="263887"/>
                  </a:cubicBezTo>
                  <a:cubicBezTo>
                    <a:pt x="246539" y="250113"/>
                    <a:pt x="257665" y="239005"/>
                    <a:pt x="271371" y="239005"/>
                  </a:cubicBezTo>
                  <a:close/>
                  <a:moveTo>
                    <a:pt x="168828" y="49587"/>
                  </a:moveTo>
                  <a:cubicBezTo>
                    <a:pt x="122722" y="49587"/>
                    <a:pt x="85161" y="87089"/>
                    <a:pt x="85161" y="133122"/>
                  </a:cubicBezTo>
                  <a:cubicBezTo>
                    <a:pt x="85161" y="179155"/>
                    <a:pt x="122722" y="216656"/>
                    <a:pt x="168828" y="216656"/>
                  </a:cubicBezTo>
                  <a:cubicBezTo>
                    <a:pt x="214934" y="216656"/>
                    <a:pt x="252495" y="179155"/>
                    <a:pt x="252495" y="133122"/>
                  </a:cubicBezTo>
                  <a:cubicBezTo>
                    <a:pt x="252495" y="87089"/>
                    <a:pt x="214934" y="49587"/>
                    <a:pt x="168828" y="49587"/>
                  </a:cubicBezTo>
                  <a:close/>
                  <a:moveTo>
                    <a:pt x="168828" y="0"/>
                  </a:moveTo>
                  <a:cubicBezTo>
                    <a:pt x="242348" y="0"/>
                    <a:pt x="302161" y="59718"/>
                    <a:pt x="302161" y="133122"/>
                  </a:cubicBezTo>
                  <a:cubicBezTo>
                    <a:pt x="302161" y="206526"/>
                    <a:pt x="242348" y="266244"/>
                    <a:pt x="168828" y="266244"/>
                  </a:cubicBezTo>
                  <a:cubicBezTo>
                    <a:pt x="95307" y="266244"/>
                    <a:pt x="35494" y="206526"/>
                    <a:pt x="35494" y="133122"/>
                  </a:cubicBezTo>
                  <a:cubicBezTo>
                    <a:pt x="35494" y="59718"/>
                    <a:pt x="95307" y="0"/>
                    <a:pt x="168828" y="0"/>
                  </a:cubicBezTo>
                  <a:close/>
                </a:path>
              </a:pathLst>
            </a:custGeom>
            <a:solidFill>
              <a:srgbClr val="305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组合 41"/>
          <p:cNvGrpSpPr/>
          <p:nvPr/>
        </p:nvGrpSpPr>
        <p:grpSpPr>
          <a:xfrm>
            <a:off x="7383679" y="2983182"/>
            <a:ext cx="650114" cy="1110552"/>
            <a:chOff x="7384314" y="4471721"/>
            <a:chExt cx="650114" cy="1110552"/>
          </a:xfrm>
        </p:grpSpPr>
        <p:sp>
          <p:nvSpPr>
            <p:cNvPr id="34" name="文本框 33"/>
            <p:cNvSpPr txBox="1"/>
            <p:nvPr/>
          </p:nvSpPr>
          <p:spPr>
            <a:xfrm>
              <a:off x="7384314" y="4845038"/>
              <a:ext cx="650114" cy="737235"/>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rPr>
                <a:t>忽视收益</a:t>
              </a:r>
              <a:r>
                <a:rPr lang="zh-CN" altLang="en-US" sz="1400" b="1" dirty="0">
                  <a:latin typeface="微软雅黑" panose="020B0503020204020204" pitchFamily="34" charset="-122"/>
                  <a:ea typeface="微软雅黑" panose="020B0503020204020204" pitchFamily="34" charset="-122"/>
                </a:rPr>
                <a:t>结构</a:t>
              </a:r>
              <a:endParaRPr lang="zh-CN" altLang="en-US" sz="1400" b="1" dirty="0">
                <a:latin typeface="微软雅黑" panose="020B0503020204020204" pitchFamily="34" charset="-122"/>
                <a:ea typeface="微软雅黑" panose="020B0503020204020204" pitchFamily="34" charset="-122"/>
              </a:endParaRPr>
            </a:p>
          </p:txBody>
        </p:sp>
        <p:sp>
          <p:nvSpPr>
            <p:cNvPr id="40" name="任意多边形: 形状 39"/>
            <p:cNvSpPr/>
            <p:nvPr/>
          </p:nvSpPr>
          <p:spPr>
            <a:xfrm>
              <a:off x="7532269" y="4471721"/>
              <a:ext cx="393065" cy="390525"/>
            </a:xfrm>
            <a:custGeom>
              <a:avLst/>
              <a:gdLst>
                <a:gd name="T0" fmla="*/ 4570 w 7681"/>
                <a:gd name="T1" fmla="*/ 5547 h 6827"/>
                <a:gd name="T2" fmla="*/ 2686 w 7681"/>
                <a:gd name="T3" fmla="*/ 5547 h 6827"/>
                <a:gd name="T4" fmla="*/ 1708 w 7681"/>
                <a:gd name="T5" fmla="*/ 4906 h 6827"/>
                <a:gd name="T6" fmla="*/ 730 w 7681"/>
                <a:gd name="T7" fmla="*/ 5547 h 6827"/>
                <a:gd name="T8" fmla="*/ 425 w 7681"/>
                <a:gd name="T9" fmla="*/ 5547 h 6827"/>
                <a:gd name="T10" fmla="*/ 1 w 7681"/>
                <a:gd name="T11" fmla="*/ 5121 h 6827"/>
                <a:gd name="T12" fmla="*/ 1 w 7681"/>
                <a:gd name="T13" fmla="*/ 427 h 6827"/>
                <a:gd name="T14" fmla="*/ 431 w 7681"/>
                <a:gd name="T15" fmla="*/ 0 h 6827"/>
                <a:gd name="T16" fmla="*/ 5545 w 7681"/>
                <a:gd name="T17" fmla="*/ 0 h 6827"/>
                <a:gd name="T18" fmla="*/ 5974 w 7681"/>
                <a:gd name="T19" fmla="*/ 431 h 6827"/>
                <a:gd name="T20" fmla="*/ 5974 w 7681"/>
                <a:gd name="T21" fmla="*/ 1707 h 6827"/>
                <a:gd name="T22" fmla="*/ 6828 w 7681"/>
                <a:gd name="T23" fmla="*/ 1707 h 6827"/>
                <a:gd name="T24" fmla="*/ 7681 w 7681"/>
                <a:gd name="T25" fmla="*/ 2987 h 6827"/>
                <a:gd name="T26" fmla="*/ 7681 w 7681"/>
                <a:gd name="T27" fmla="*/ 5125 h 6827"/>
                <a:gd name="T28" fmla="*/ 7257 w 7681"/>
                <a:gd name="T29" fmla="*/ 5547 h 6827"/>
                <a:gd name="T30" fmla="*/ 6526 w 7681"/>
                <a:gd name="T31" fmla="*/ 5547 h 6827"/>
                <a:gd name="T32" fmla="*/ 5548 w 7681"/>
                <a:gd name="T33" fmla="*/ 4906 h 6827"/>
                <a:gd name="T34" fmla="*/ 4570 w 7681"/>
                <a:gd name="T35" fmla="*/ 5547 h 6827"/>
                <a:gd name="T36" fmla="*/ 5974 w 7681"/>
                <a:gd name="T37" fmla="*/ 2560 h 6827"/>
                <a:gd name="T38" fmla="*/ 5974 w 7681"/>
                <a:gd name="T39" fmla="*/ 3840 h 6827"/>
                <a:gd name="T40" fmla="*/ 6401 w 7681"/>
                <a:gd name="T41" fmla="*/ 3840 h 6827"/>
                <a:gd name="T42" fmla="*/ 6401 w 7681"/>
                <a:gd name="T43" fmla="*/ 2560 h 6827"/>
                <a:gd name="T44" fmla="*/ 5974 w 7681"/>
                <a:gd name="T45" fmla="*/ 2560 h 6827"/>
                <a:gd name="T46" fmla="*/ 2555 w 7681"/>
                <a:gd name="T47" fmla="*/ 2850 h 6827"/>
                <a:gd name="T48" fmla="*/ 1978 w 7681"/>
                <a:gd name="T49" fmla="*/ 2270 h 6827"/>
                <a:gd name="T50" fmla="*/ 1400 w 7681"/>
                <a:gd name="T51" fmla="*/ 2270 h 6827"/>
                <a:gd name="T52" fmla="*/ 1400 w 7681"/>
                <a:gd name="T53" fmla="*/ 2850 h 6827"/>
                <a:gd name="T54" fmla="*/ 2267 w 7681"/>
                <a:gd name="T55" fmla="*/ 3720 h 6827"/>
                <a:gd name="T56" fmla="*/ 2843 w 7681"/>
                <a:gd name="T57" fmla="*/ 3720 h 6827"/>
                <a:gd name="T58" fmla="*/ 4575 w 7681"/>
                <a:gd name="T59" fmla="*/ 1980 h 6827"/>
                <a:gd name="T60" fmla="*/ 4575 w 7681"/>
                <a:gd name="T61" fmla="*/ 1400 h 6827"/>
                <a:gd name="T62" fmla="*/ 3998 w 7681"/>
                <a:gd name="T63" fmla="*/ 1400 h 6827"/>
                <a:gd name="T64" fmla="*/ 2555 w 7681"/>
                <a:gd name="T65" fmla="*/ 2850 h 6827"/>
                <a:gd name="T66" fmla="*/ 1708 w 7681"/>
                <a:gd name="T67" fmla="*/ 6827 h 6827"/>
                <a:gd name="T68" fmla="*/ 854 w 7681"/>
                <a:gd name="T69" fmla="*/ 5974 h 6827"/>
                <a:gd name="T70" fmla="*/ 1708 w 7681"/>
                <a:gd name="T71" fmla="*/ 5120 h 6827"/>
                <a:gd name="T72" fmla="*/ 2561 w 7681"/>
                <a:gd name="T73" fmla="*/ 5974 h 6827"/>
                <a:gd name="T74" fmla="*/ 1708 w 7681"/>
                <a:gd name="T75" fmla="*/ 6827 h 6827"/>
                <a:gd name="T76" fmla="*/ 5548 w 7681"/>
                <a:gd name="T77" fmla="*/ 6827 h 6827"/>
                <a:gd name="T78" fmla="*/ 4694 w 7681"/>
                <a:gd name="T79" fmla="*/ 5974 h 6827"/>
                <a:gd name="T80" fmla="*/ 5548 w 7681"/>
                <a:gd name="T81" fmla="*/ 5120 h 6827"/>
                <a:gd name="T82" fmla="*/ 6401 w 7681"/>
                <a:gd name="T83" fmla="*/ 5974 h 6827"/>
                <a:gd name="T84" fmla="*/ 5548 w 7681"/>
                <a:gd name="T85" fmla="*/ 6827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681" h="6827">
                  <a:moveTo>
                    <a:pt x="4570" y="5547"/>
                  </a:moveTo>
                  <a:lnTo>
                    <a:pt x="2686" y="5547"/>
                  </a:lnTo>
                  <a:cubicBezTo>
                    <a:pt x="2516" y="5158"/>
                    <a:pt x="2132" y="4906"/>
                    <a:pt x="1708" y="4906"/>
                  </a:cubicBezTo>
                  <a:cubicBezTo>
                    <a:pt x="1283" y="4906"/>
                    <a:pt x="899" y="5158"/>
                    <a:pt x="730" y="5547"/>
                  </a:cubicBezTo>
                  <a:lnTo>
                    <a:pt x="425" y="5547"/>
                  </a:lnTo>
                  <a:cubicBezTo>
                    <a:pt x="190" y="5546"/>
                    <a:pt x="0" y="5355"/>
                    <a:pt x="1" y="5121"/>
                  </a:cubicBezTo>
                  <a:lnTo>
                    <a:pt x="1" y="427"/>
                  </a:lnTo>
                  <a:cubicBezTo>
                    <a:pt x="1" y="191"/>
                    <a:pt x="193" y="0"/>
                    <a:pt x="431" y="0"/>
                  </a:cubicBezTo>
                  <a:lnTo>
                    <a:pt x="5545" y="0"/>
                  </a:lnTo>
                  <a:cubicBezTo>
                    <a:pt x="5782" y="0"/>
                    <a:pt x="5974" y="189"/>
                    <a:pt x="5974" y="431"/>
                  </a:cubicBezTo>
                  <a:lnTo>
                    <a:pt x="5974" y="1707"/>
                  </a:lnTo>
                  <a:lnTo>
                    <a:pt x="6828" y="1707"/>
                  </a:lnTo>
                  <a:lnTo>
                    <a:pt x="7681" y="2987"/>
                  </a:lnTo>
                  <a:lnTo>
                    <a:pt x="7681" y="5125"/>
                  </a:lnTo>
                  <a:cubicBezTo>
                    <a:pt x="7681" y="5358"/>
                    <a:pt x="7491" y="5547"/>
                    <a:pt x="7257" y="5547"/>
                  </a:cubicBezTo>
                  <a:lnTo>
                    <a:pt x="6526" y="5547"/>
                  </a:lnTo>
                  <a:cubicBezTo>
                    <a:pt x="6356" y="5158"/>
                    <a:pt x="5972" y="4906"/>
                    <a:pt x="5548" y="4906"/>
                  </a:cubicBezTo>
                  <a:cubicBezTo>
                    <a:pt x="5123" y="4906"/>
                    <a:pt x="4739" y="5158"/>
                    <a:pt x="4570" y="5547"/>
                  </a:cubicBezTo>
                  <a:close/>
                  <a:moveTo>
                    <a:pt x="5974" y="2560"/>
                  </a:moveTo>
                  <a:lnTo>
                    <a:pt x="5974" y="3840"/>
                  </a:lnTo>
                  <a:lnTo>
                    <a:pt x="6401" y="3840"/>
                  </a:lnTo>
                  <a:lnTo>
                    <a:pt x="6401" y="2560"/>
                  </a:lnTo>
                  <a:lnTo>
                    <a:pt x="5974" y="2560"/>
                  </a:lnTo>
                  <a:close/>
                  <a:moveTo>
                    <a:pt x="2555" y="2850"/>
                  </a:moveTo>
                  <a:lnTo>
                    <a:pt x="1978" y="2270"/>
                  </a:lnTo>
                  <a:cubicBezTo>
                    <a:pt x="1819" y="2110"/>
                    <a:pt x="1560" y="2110"/>
                    <a:pt x="1400" y="2270"/>
                  </a:cubicBezTo>
                  <a:cubicBezTo>
                    <a:pt x="1241" y="2431"/>
                    <a:pt x="1241" y="2690"/>
                    <a:pt x="1400" y="2850"/>
                  </a:cubicBezTo>
                  <a:lnTo>
                    <a:pt x="2267" y="3720"/>
                  </a:lnTo>
                  <a:cubicBezTo>
                    <a:pt x="2426" y="3880"/>
                    <a:pt x="2684" y="3880"/>
                    <a:pt x="2843" y="3720"/>
                  </a:cubicBezTo>
                  <a:lnTo>
                    <a:pt x="4575" y="1980"/>
                  </a:lnTo>
                  <a:cubicBezTo>
                    <a:pt x="4735" y="1820"/>
                    <a:pt x="4735" y="1561"/>
                    <a:pt x="4575" y="1400"/>
                  </a:cubicBezTo>
                  <a:cubicBezTo>
                    <a:pt x="4416" y="1240"/>
                    <a:pt x="4157" y="1240"/>
                    <a:pt x="3998" y="1400"/>
                  </a:cubicBezTo>
                  <a:lnTo>
                    <a:pt x="2555" y="2850"/>
                  </a:lnTo>
                  <a:close/>
                  <a:moveTo>
                    <a:pt x="1708" y="6827"/>
                  </a:moveTo>
                  <a:cubicBezTo>
                    <a:pt x="1236" y="6827"/>
                    <a:pt x="854" y="6445"/>
                    <a:pt x="854" y="5974"/>
                  </a:cubicBezTo>
                  <a:cubicBezTo>
                    <a:pt x="854" y="5502"/>
                    <a:pt x="1236" y="5120"/>
                    <a:pt x="1708" y="5120"/>
                  </a:cubicBezTo>
                  <a:cubicBezTo>
                    <a:pt x="2179" y="5120"/>
                    <a:pt x="2561" y="5502"/>
                    <a:pt x="2561" y="5974"/>
                  </a:cubicBezTo>
                  <a:cubicBezTo>
                    <a:pt x="2561" y="6445"/>
                    <a:pt x="2179" y="6827"/>
                    <a:pt x="1708" y="6827"/>
                  </a:cubicBezTo>
                  <a:close/>
                  <a:moveTo>
                    <a:pt x="5548" y="6827"/>
                  </a:moveTo>
                  <a:cubicBezTo>
                    <a:pt x="5076" y="6827"/>
                    <a:pt x="4694" y="6445"/>
                    <a:pt x="4694" y="5974"/>
                  </a:cubicBezTo>
                  <a:cubicBezTo>
                    <a:pt x="4694" y="5502"/>
                    <a:pt x="5076" y="5120"/>
                    <a:pt x="5548" y="5120"/>
                  </a:cubicBezTo>
                  <a:cubicBezTo>
                    <a:pt x="6019" y="5120"/>
                    <a:pt x="6401" y="5502"/>
                    <a:pt x="6401" y="5974"/>
                  </a:cubicBezTo>
                  <a:cubicBezTo>
                    <a:pt x="6401" y="6445"/>
                    <a:pt x="6019" y="6827"/>
                    <a:pt x="5548" y="6827"/>
                  </a:cubicBezTo>
                  <a:close/>
                </a:path>
              </a:pathLst>
            </a:custGeom>
            <a:solidFill>
              <a:srgbClr val="305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文本框 43"/>
          <p:cNvSpPr txBox="1"/>
          <p:nvPr/>
        </p:nvSpPr>
        <p:spPr>
          <a:xfrm>
            <a:off x="1891661" y="1790930"/>
            <a:ext cx="3727875" cy="1565910"/>
          </a:xfrm>
          <a:prstGeom prst="rect">
            <a:avLst/>
          </a:prstGeom>
          <a:noFill/>
        </p:spPr>
        <p:txBody>
          <a:bodyPr wrap="square" rtlCol="0">
            <a:spAutoFit/>
          </a:bodyPr>
          <a:lstStyle/>
          <a:p>
            <a:pPr marL="571500" indent="-285750" algn="just">
              <a:lnSpc>
                <a:spcPts val="2300"/>
              </a:lnSpc>
              <a:buFont typeface="Wingdings" panose="05000000000000000000" pitchFamily="2" charset="2"/>
              <a:buChar char="n"/>
            </a:pPr>
            <a:r>
              <a:rPr lang="zh-CN" altLang="en-US" sz="1400" dirty="0">
                <a:latin typeface="微软雅黑" panose="020B0503020204020204" pitchFamily="34" charset="-122"/>
                <a:ea typeface="微软雅黑" panose="020B0503020204020204" pitchFamily="34" charset="-122"/>
              </a:rPr>
              <a:t>国家发展改革委、国家能源局于</a:t>
            </a:r>
            <a:r>
              <a:rPr lang="en-US" altLang="zh-CN" sz="1400" dirty="0">
                <a:latin typeface="微软雅黑" panose="020B0503020204020204" pitchFamily="34" charset="-122"/>
                <a:ea typeface="微软雅黑" panose="020B0503020204020204" pitchFamily="34" charset="-122"/>
              </a:rPr>
              <a:t>2026</a:t>
            </a:r>
            <a:r>
              <a:rPr lang="zh-CN" altLang="en-US" sz="1400" dirty="0">
                <a:latin typeface="微软雅黑" panose="020B0503020204020204" pitchFamily="34" charset="-122"/>
                <a:ea typeface="微软雅黑" panose="020B0503020204020204" pitchFamily="34" charset="-122"/>
              </a:rPr>
              <a:t>年</a:t>
            </a: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月印发《关于完善发电侧容量电价机制的通知》，进一步加</a:t>
            </a:r>
            <a:r>
              <a:rPr lang="zh-CN" altLang="en-US" sz="1400" dirty="0">
                <a:latin typeface="微软雅黑" panose="020B0503020204020204" pitchFamily="34" charset="-122"/>
                <a:ea typeface="微软雅黑" panose="020B0503020204020204" pitchFamily="34" charset="-122"/>
              </a:rPr>
              <a:t>深了行业对储能项目的依赖和</a:t>
            </a:r>
            <a:r>
              <a:rPr lang="zh-CN" altLang="en-US" sz="1400" dirty="0">
                <a:latin typeface="微软雅黑" panose="020B0503020204020204" pitchFamily="34" charset="-122"/>
                <a:ea typeface="微软雅黑" panose="020B0503020204020204" pitchFamily="34" charset="-122"/>
              </a:rPr>
              <a:t>需求。</a:t>
            </a:r>
            <a:endParaRPr lang="zh-CN" altLang="en-US" sz="1400" dirty="0">
              <a:latin typeface="微软雅黑" panose="020B0503020204020204" pitchFamily="34" charset="-122"/>
              <a:ea typeface="微软雅黑" panose="020B0503020204020204" pitchFamily="34" charset="-122"/>
            </a:endParaRPr>
          </a:p>
          <a:p>
            <a:pPr marL="571500" indent="-285750" algn="just">
              <a:lnSpc>
                <a:spcPts val="2300"/>
              </a:lnSpc>
              <a:buFont typeface="Wingdings" panose="05000000000000000000" pitchFamily="2" charset="2"/>
              <a:buChar char="n"/>
            </a:pPr>
            <a:endParaRPr lang="zh-CN" altLang="en-US" sz="1400" dirty="0">
              <a:latin typeface="微软雅黑" panose="020B0503020204020204" pitchFamily="34" charset="-122"/>
              <a:ea typeface="微软雅黑" panose="020B0503020204020204" pitchFamily="34" charset="-122"/>
            </a:endParaRPr>
          </a:p>
        </p:txBody>
      </p:sp>
      <p:sp>
        <p:nvSpPr>
          <p:cNvPr id="45" name="文本框 44"/>
          <p:cNvSpPr txBox="1"/>
          <p:nvPr/>
        </p:nvSpPr>
        <p:spPr>
          <a:xfrm>
            <a:off x="1891665" y="3618865"/>
            <a:ext cx="3599815" cy="1861185"/>
          </a:xfrm>
          <a:prstGeom prst="rect">
            <a:avLst/>
          </a:prstGeom>
          <a:noFill/>
        </p:spPr>
        <p:txBody>
          <a:bodyPr wrap="square" rtlCol="0">
            <a:spAutoFit/>
          </a:bodyPr>
          <a:lstStyle/>
          <a:p>
            <a:pPr marL="571500" indent="-285750" algn="just">
              <a:lnSpc>
                <a:spcPts val="2300"/>
              </a:lnSpc>
              <a:buFont typeface="Wingdings" panose="05000000000000000000" pitchFamily="2" charset="2"/>
              <a:buChar char="n"/>
            </a:pPr>
            <a:r>
              <a:rPr lang="zh-CN" altLang="en-US" sz="1400" dirty="0">
                <a:latin typeface="微软雅黑" panose="020B0503020204020204" pitchFamily="34" charset="-122"/>
                <a:ea typeface="微软雅黑" panose="020B0503020204020204" pitchFamily="34" charset="-122"/>
              </a:rPr>
              <a:t>储能项目高度依赖企业信用，而传统评级方法对项目</a:t>
            </a:r>
            <a:r>
              <a:rPr lang="zh-CN" altLang="en-US" sz="1400" dirty="0">
                <a:latin typeface="微软雅黑" panose="020B0503020204020204" pitchFamily="34" charset="-122"/>
                <a:ea typeface="微软雅黑" panose="020B0503020204020204" pitchFamily="34" charset="-122"/>
              </a:rPr>
              <a:t>的信用识别不足。</a:t>
            </a:r>
            <a:endParaRPr lang="zh-CN" altLang="en-US" sz="1400" dirty="0">
              <a:latin typeface="微软雅黑" panose="020B0503020204020204" pitchFamily="34" charset="-122"/>
              <a:ea typeface="微软雅黑" panose="020B0503020204020204" pitchFamily="34" charset="-122"/>
            </a:endParaRPr>
          </a:p>
          <a:p>
            <a:pPr marL="571500" indent="-285750" algn="just">
              <a:lnSpc>
                <a:spcPts val="2300"/>
              </a:lnSpc>
              <a:buFont typeface="Wingdings" panose="05000000000000000000" pitchFamily="2" charset="2"/>
              <a:buChar char="n"/>
            </a:pPr>
            <a:r>
              <a:rPr lang="zh-CN" altLang="en-US" sz="1400" dirty="0">
                <a:latin typeface="微软雅黑" panose="020B0503020204020204" pitchFamily="34" charset="-122"/>
                <a:ea typeface="微软雅黑" panose="020B0503020204020204" pitchFamily="34" charset="-122"/>
              </a:rPr>
              <a:t>储能行业的社会资本进入不足，其对市场</a:t>
            </a:r>
            <a:r>
              <a:rPr lang="zh-CN" altLang="en-US" sz="1400" dirty="0">
                <a:latin typeface="微软雅黑" panose="020B0503020204020204" pitchFamily="34" charset="-122"/>
                <a:ea typeface="微软雅黑" panose="020B0503020204020204" pitchFamily="34" charset="-122"/>
              </a:rPr>
              <a:t>的吸引力有限。</a:t>
            </a:r>
            <a:endParaRPr lang="en-US" altLang="en-US" sz="1400" dirty="0">
              <a:latin typeface="微软雅黑" panose="020B0503020204020204" pitchFamily="34" charset="-122"/>
              <a:ea typeface="微软雅黑" panose="020B0503020204020204" pitchFamily="34" charset="-122"/>
            </a:endParaRPr>
          </a:p>
          <a:p>
            <a:pPr marL="571500" indent="-285750" algn="just">
              <a:lnSpc>
                <a:spcPts val="2300"/>
              </a:lnSpc>
              <a:buFont typeface="Wingdings" panose="05000000000000000000" pitchFamily="2" charset="2"/>
              <a:buChar char="n"/>
            </a:pPr>
            <a:r>
              <a:rPr lang="zh-CN" altLang="en-US" sz="1400" dirty="0">
                <a:latin typeface="微软雅黑" panose="020B0503020204020204" pitchFamily="34" charset="-122"/>
                <a:ea typeface="微软雅黑" panose="020B0503020204020204" pitchFamily="34" charset="-122"/>
              </a:rPr>
              <a:t>储能行业</a:t>
            </a:r>
            <a:r>
              <a:rPr lang="zh-CN" altLang="en-US" sz="1400" dirty="0">
                <a:latin typeface="微软雅黑" panose="020B0503020204020204" pitchFamily="34" charset="-122"/>
                <a:ea typeface="微软雅黑" panose="020B0503020204020204" pitchFamily="34" charset="-122"/>
              </a:rPr>
              <a:t>的融资成本偏高，资本结构约束明显。</a:t>
            </a:r>
            <a:endParaRPr lang="zh-CN" altLang="en-US" sz="1400" dirty="0">
              <a:latin typeface="微软雅黑" panose="020B0503020204020204" pitchFamily="34" charset="-122"/>
              <a:ea typeface="微软雅黑" panose="020B0503020204020204" pitchFamily="34" charset="-122"/>
            </a:endParaRPr>
          </a:p>
        </p:txBody>
      </p:sp>
      <p:sp>
        <p:nvSpPr>
          <p:cNvPr id="46" name="文本框 45"/>
          <p:cNvSpPr txBox="1"/>
          <p:nvPr/>
        </p:nvSpPr>
        <p:spPr>
          <a:xfrm>
            <a:off x="7924165" y="4267835"/>
            <a:ext cx="3371850" cy="1565910"/>
          </a:xfrm>
          <a:prstGeom prst="rect">
            <a:avLst/>
          </a:prstGeom>
          <a:noFill/>
        </p:spPr>
        <p:txBody>
          <a:bodyPr wrap="square" rtlCol="0">
            <a:spAutoFit/>
          </a:bodyPr>
          <a:lstStyle/>
          <a:p>
            <a:pPr marL="571500" indent="-285750" algn="just">
              <a:lnSpc>
                <a:spcPts val="2300"/>
              </a:lnSpc>
              <a:buFont typeface="Wingdings" panose="05000000000000000000" pitchFamily="2" charset="2"/>
              <a:buChar char="n"/>
            </a:pPr>
            <a:r>
              <a:rPr lang="zh-CN" altLang="en-US" sz="1400" dirty="0">
                <a:latin typeface="微软雅黑" panose="020B0503020204020204" pitchFamily="34" charset="-122"/>
                <a:ea typeface="微软雅黑" panose="020B0503020204020204" pitchFamily="34" charset="-122"/>
              </a:rPr>
              <a:t>储能项目能够有效提升清洁能源的实际消纳水平</a:t>
            </a:r>
            <a:r>
              <a:rPr lang="zh-CN" altLang="en-US" sz="1400" dirty="0">
                <a:latin typeface="微软雅黑" panose="020B0503020204020204" pitchFamily="34" charset="-122"/>
                <a:ea typeface="微软雅黑" panose="020B0503020204020204" pitchFamily="34" charset="-122"/>
              </a:rPr>
              <a:t>以减少碳排放，但传统评级体系缺乏科学的量化方法，无法计算其碳减排价值</a:t>
            </a:r>
            <a:endParaRPr lang="zh-CN" altLang="en-US" sz="1400" dirty="0">
              <a:latin typeface="微软雅黑" panose="020B0503020204020204" pitchFamily="34" charset="-122"/>
              <a:ea typeface="微软雅黑" panose="020B0503020204020204" pitchFamily="34" charset="-122"/>
            </a:endParaRPr>
          </a:p>
          <a:p>
            <a:pPr marL="571500" indent="-285750" algn="just">
              <a:lnSpc>
                <a:spcPts val="2300"/>
              </a:lnSpc>
              <a:buFont typeface="Wingdings" panose="05000000000000000000" pitchFamily="2" charset="2"/>
              <a:buChar char="n"/>
            </a:pPr>
            <a:endParaRPr lang="zh-CN" altLang="en-US" sz="1400" dirty="0">
              <a:latin typeface="微软雅黑" panose="020B0503020204020204" pitchFamily="34" charset="-122"/>
              <a:ea typeface="微软雅黑" panose="020B0503020204020204" pitchFamily="34" charset="-122"/>
            </a:endParaRPr>
          </a:p>
        </p:txBody>
      </p:sp>
      <p:sp>
        <p:nvSpPr>
          <p:cNvPr id="47" name="文本框 46"/>
          <p:cNvSpPr txBox="1"/>
          <p:nvPr/>
        </p:nvSpPr>
        <p:spPr>
          <a:xfrm>
            <a:off x="7924800" y="1445895"/>
            <a:ext cx="3385185" cy="1271270"/>
          </a:xfrm>
          <a:prstGeom prst="rect">
            <a:avLst/>
          </a:prstGeom>
          <a:noFill/>
        </p:spPr>
        <p:txBody>
          <a:bodyPr wrap="square" rtlCol="0">
            <a:spAutoFit/>
          </a:bodyPr>
          <a:lstStyle/>
          <a:p>
            <a:pPr marL="571500" indent="-285750" algn="just">
              <a:lnSpc>
                <a:spcPts val="2300"/>
              </a:lnSpc>
              <a:buFont typeface="Wingdings" panose="05000000000000000000" pitchFamily="2" charset="2"/>
              <a:buChar char="n"/>
            </a:pPr>
            <a:r>
              <a:rPr lang="zh-CN" altLang="en-US" sz="1400" dirty="0">
                <a:latin typeface="微软雅黑" panose="020B0503020204020204" pitchFamily="34" charset="-122"/>
                <a:ea typeface="微软雅黑" panose="020B0503020204020204" pitchFamily="34" charset="-122"/>
              </a:rPr>
              <a:t>传统评级模型难以有效评估储能项目在破解新能源发电强间歇性、</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随机波动性与弱可预测性难题方面的作用。</a:t>
            </a:r>
            <a:endParaRPr lang="zh-CN" altLang="en-US" sz="1400" dirty="0">
              <a:latin typeface="微软雅黑" panose="020B0503020204020204" pitchFamily="34" charset="-122"/>
              <a:ea typeface="微软雅黑" panose="020B0503020204020204" pitchFamily="34" charset="-122"/>
            </a:endParaRPr>
          </a:p>
        </p:txBody>
      </p:sp>
      <p:sp>
        <p:nvSpPr>
          <p:cNvPr id="48" name="文本框 47"/>
          <p:cNvSpPr txBox="1"/>
          <p:nvPr/>
        </p:nvSpPr>
        <p:spPr>
          <a:xfrm>
            <a:off x="7924165" y="2875280"/>
            <a:ext cx="3371215" cy="1271270"/>
          </a:xfrm>
          <a:prstGeom prst="rect">
            <a:avLst/>
          </a:prstGeom>
          <a:noFill/>
        </p:spPr>
        <p:txBody>
          <a:bodyPr wrap="square" rtlCol="0">
            <a:spAutoFit/>
          </a:bodyPr>
          <a:lstStyle/>
          <a:p>
            <a:pPr marL="571500" indent="-285750" algn="just">
              <a:lnSpc>
                <a:spcPts val="2300"/>
              </a:lnSpc>
              <a:buFont typeface="Wingdings" panose="05000000000000000000" pitchFamily="2" charset="2"/>
              <a:buChar char="n"/>
            </a:pPr>
            <a:r>
              <a:rPr lang="zh-CN" altLang="en-US" sz="1400" dirty="0">
                <a:latin typeface="微软雅黑" panose="020B0503020204020204" pitchFamily="34" charset="-122"/>
                <a:ea typeface="微软雅黑" panose="020B0503020204020204" pitchFamily="34" charset="-122"/>
              </a:rPr>
              <a:t>传统评级模型难以全面衡量储能项目</a:t>
            </a:r>
            <a:r>
              <a:rPr lang="zh-CN" altLang="en-US" sz="1400" dirty="0">
                <a:latin typeface="微软雅黑" panose="020B0503020204020204" pitchFamily="34" charset="-122"/>
                <a:ea typeface="微软雅黑" panose="020B0503020204020204" pitchFamily="34" charset="-122"/>
              </a:rPr>
              <a:t>的电价套利、辅助服务、容量补偿、环境价值四类收益变现的实际能力 </a:t>
            </a:r>
            <a:r>
              <a:rPr lang="en-US" altLang="zh-CN" sz="1400" dirty="0">
                <a:latin typeface="微软雅黑" panose="020B0503020204020204" pitchFamily="34" charset="-122"/>
                <a:ea typeface="微软雅黑" panose="020B0503020204020204" pitchFamily="34" charset="-122"/>
              </a:rPr>
              <a:t> </a:t>
            </a:r>
            <a:endParaRPr lang="zh-CN" altLang="en-US" sz="1400" dirty="0">
              <a:latin typeface="微软雅黑" panose="020B0503020204020204" pitchFamily="34" charset="-122"/>
              <a:ea typeface="微软雅黑" panose="020B0503020204020204" pitchFamily="34" charset="-122"/>
            </a:endParaRPr>
          </a:p>
        </p:txBody>
      </p:sp>
      <p:sp>
        <p:nvSpPr>
          <p:cNvPr id="16" name="文本框 15"/>
          <p:cNvSpPr txBox="1"/>
          <p:nvPr/>
        </p:nvSpPr>
        <p:spPr>
          <a:xfrm>
            <a:off x="895350" y="6035675"/>
            <a:ext cx="10627360" cy="368300"/>
          </a:xfrm>
          <a:prstGeom prst="rect">
            <a:avLst/>
          </a:prstGeom>
          <a:noFill/>
          <a:ln>
            <a:noFill/>
          </a:ln>
        </p:spPr>
        <p:txBody>
          <a:bodyPr wrap="square" rtlCol="0">
            <a:spAutoFit/>
          </a:bodyPr>
          <a:lstStyle/>
          <a:p>
            <a:pPr algn="ctr"/>
            <a:r>
              <a:rPr lang="zh-CN" altLang="en-US" dirty="0">
                <a:latin typeface="黑体" panose="02010609060101010101" pitchFamily="49" charset="-122"/>
                <a:ea typeface="黑体" panose="02010609060101010101" pitchFamily="49" charset="-122"/>
                <a:cs typeface="黑体" panose="02010609060101010101" pitchFamily="49" charset="-122"/>
              </a:rPr>
              <a:t>因此，我们构建了一套储能项目信用评分模型（</a:t>
            </a:r>
            <a:r>
              <a:rPr lang="en-US" altLang="zh-CN" dirty="0">
                <a:latin typeface="黑体" panose="02010609060101010101" pitchFamily="49" charset="-122"/>
                <a:ea typeface="黑体" panose="02010609060101010101" pitchFamily="49" charset="-122"/>
                <a:cs typeface="黑体" panose="02010609060101010101" pitchFamily="49" charset="-122"/>
              </a:rPr>
              <a:t>ESCS</a:t>
            </a:r>
            <a:r>
              <a:rPr lang="zh-CN" altLang="en-US" dirty="0">
                <a:latin typeface="黑体" panose="02010609060101010101" pitchFamily="49" charset="-122"/>
                <a:ea typeface="黑体" panose="02010609060101010101" pitchFamily="49" charset="-122"/>
                <a:cs typeface="黑体" panose="02010609060101010101" pitchFamily="49" charset="-122"/>
              </a:rPr>
              <a:t>模型），以更全面地对储能资产进行信用评级</a:t>
            </a:r>
            <a:endParaRPr lang="zh-CN" altLang="en-US" dirty="0">
              <a:latin typeface="黑体" panose="02010609060101010101" pitchFamily="49" charset="-122"/>
              <a:ea typeface="黑体" panose="02010609060101010101" pitchFamily="49" charset="-122"/>
              <a:cs typeface="黑体" panose="02010609060101010101" pitchFamily="49" charset="-122"/>
            </a:endParaRPr>
          </a:p>
        </p:txBody>
      </p:sp>
      <p:sp>
        <p:nvSpPr>
          <p:cNvPr id="35" name="文本框 34"/>
          <p:cNvSpPr txBox="1"/>
          <p:nvPr/>
        </p:nvSpPr>
        <p:spPr>
          <a:xfrm>
            <a:off x="810883" y="1633"/>
            <a:ext cx="540381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305921"/>
                </a:solidFill>
                <a:effectLst/>
                <a:uLnTx/>
                <a:uFillTx/>
                <a:latin typeface="微软雅黑" panose="020B0503020204020204" pitchFamily="34" charset="-122"/>
                <a:ea typeface="微软雅黑" panose="020B0503020204020204" pitchFamily="34" charset="-122"/>
                <a:cs typeface="华文宋体" panose="02010600040101010101" charset="-122"/>
              </a:rPr>
              <a:t>储能行业的金融机会</a:t>
            </a:r>
            <a:endParaRPr kumimoji="0" lang="zh-CN" altLang="en-US" sz="3200" b="1" i="0" u="none" strike="noStrike" kern="1200" cap="none" spc="0" normalizeH="0" baseline="0" noProof="0" dirty="0">
              <a:ln>
                <a:noFill/>
              </a:ln>
              <a:solidFill>
                <a:srgbClr val="305921"/>
              </a:solidFill>
              <a:effectLst/>
              <a:uLnTx/>
              <a:uFillTx/>
              <a:latin typeface="微软雅黑" panose="020B0503020204020204" pitchFamily="34" charset="-122"/>
              <a:ea typeface="微软雅黑" panose="020B0503020204020204" pitchFamily="34" charset="-122"/>
              <a:cs typeface="华文宋体" panose="02010600040101010101" charset="-122"/>
            </a:endParaRPr>
          </a:p>
        </p:txBody>
      </p:sp>
      <p:sp>
        <p:nvSpPr>
          <p:cNvPr id="37" name="文本框 36"/>
          <p:cNvSpPr txBox="1"/>
          <p:nvPr/>
        </p:nvSpPr>
        <p:spPr>
          <a:xfrm>
            <a:off x="810895" y="503555"/>
            <a:ext cx="7327265" cy="36830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储能行业使用</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ESCS</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模型进行信用评级的原因和传统信用评级的</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局限性</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9" name="图片 48" descr="储能"/>
          <p:cNvPicPr>
            <a:picLocks noChangeAspect="1"/>
          </p:cNvPicPr>
          <p:nvPr/>
        </p:nvPicPr>
        <p:blipFill>
          <a:blip r:embed="rId4"/>
          <a:stretch>
            <a:fillRect/>
          </a:stretch>
        </p:blipFill>
        <p:spPr>
          <a:xfrm>
            <a:off x="6314440" y="3183890"/>
            <a:ext cx="530860" cy="690880"/>
          </a:xfrm>
          <a:prstGeom prst="rect">
            <a:avLst/>
          </a:prstGeom>
        </p:spPr>
      </p:pic>
      <p:sp>
        <p:nvSpPr>
          <p:cNvPr id="51" name="矩形 50"/>
          <p:cNvSpPr/>
          <p:nvPr/>
        </p:nvSpPr>
        <p:spPr>
          <a:xfrm>
            <a:off x="-12700" y="3501019"/>
            <a:ext cx="431321" cy="966158"/>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F7F7F"/>
              </a:solidFill>
            </a:endParaRPr>
          </a:p>
        </p:txBody>
      </p:sp>
      <p:sp>
        <p:nvSpPr>
          <p:cNvPr id="54" name="矩形 53"/>
          <p:cNvSpPr/>
          <p:nvPr/>
        </p:nvSpPr>
        <p:spPr>
          <a:xfrm>
            <a:off x="-6350" y="2338334"/>
            <a:ext cx="431321" cy="966158"/>
          </a:xfrm>
          <a:prstGeom prst="rect">
            <a:avLst/>
          </a:prstGeom>
          <a:solidFill>
            <a:srgbClr val="3059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nvSpPr>
        <p:spPr>
          <a:xfrm>
            <a:off x="-6350" y="1185174"/>
            <a:ext cx="431321" cy="966158"/>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noFill/>
              </a:ln>
              <a:solidFill>
                <a:srgbClr val="7F7F7F"/>
              </a:solidFill>
            </a:endParaRPr>
          </a:p>
        </p:txBody>
      </p:sp>
      <p:sp>
        <p:nvSpPr>
          <p:cNvPr id="56" name="文本框 55"/>
          <p:cNvSpPr txBox="1"/>
          <p:nvPr/>
        </p:nvSpPr>
        <p:spPr>
          <a:xfrm rot="16200000">
            <a:off x="-295536" y="3815604"/>
            <a:ext cx="996991" cy="306705"/>
          </a:xfrm>
          <a:prstGeom prst="rect">
            <a:avLst/>
          </a:prstGeom>
          <a:noFill/>
        </p:spPr>
        <p:txBody>
          <a:bodyPr wrap="square" rtlCol="0">
            <a:spAutoFit/>
          </a:bodyPr>
          <a:lstStyle/>
          <a:p>
            <a:pPr algn="ctr"/>
            <a:r>
              <a:rPr lang="en-US" altLang="zh-CN" sz="1400" b="1" dirty="0">
                <a:solidFill>
                  <a:schemeClr val="bg1"/>
                </a:solidFill>
                <a:latin typeface="微软雅黑" panose="020B0503020204020204" pitchFamily="34" charset="-122"/>
                <a:ea typeface="微软雅黑" panose="020B0503020204020204" pitchFamily="34" charset="-122"/>
              </a:rPr>
              <a:t>ESCS</a:t>
            </a:r>
            <a:r>
              <a:rPr lang="zh-CN" altLang="en-US" sz="1400" b="1" dirty="0">
                <a:solidFill>
                  <a:schemeClr val="bg1"/>
                </a:solidFill>
                <a:latin typeface="微软雅黑" panose="020B0503020204020204" pitchFamily="34" charset="-122"/>
                <a:ea typeface="微软雅黑" panose="020B0503020204020204" pitchFamily="34" charset="-122"/>
              </a:rPr>
              <a:t>模型</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58" name="文本框 57"/>
          <p:cNvSpPr txBox="1"/>
          <p:nvPr/>
        </p:nvSpPr>
        <p:spPr>
          <a:xfrm rot="16200000">
            <a:off x="-295536" y="2667524"/>
            <a:ext cx="996991" cy="306705"/>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行业机会</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60" name="文本框 59"/>
          <p:cNvSpPr txBox="1"/>
          <p:nvPr/>
        </p:nvSpPr>
        <p:spPr>
          <a:xfrm rot="16200000">
            <a:off x="-289187" y="1537224"/>
            <a:ext cx="996991" cy="306705"/>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行业</a:t>
            </a:r>
            <a:r>
              <a:rPr lang="zh-CN" altLang="en-US" sz="1400" b="1" dirty="0">
                <a:solidFill>
                  <a:schemeClr val="bg1"/>
                </a:solidFill>
                <a:latin typeface="微软雅黑" panose="020B0503020204020204" pitchFamily="34" charset="-122"/>
                <a:ea typeface="微软雅黑" panose="020B0503020204020204" pitchFamily="34" charset="-122"/>
              </a:rPr>
              <a:t>背景</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61" name="矩形 60"/>
          <p:cNvSpPr/>
          <p:nvPr/>
        </p:nvSpPr>
        <p:spPr>
          <a:xfrm>
            <a:off x="-6350" y="4655449"/>
            <a:ext cx="431321" cy="966158"/>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F7F7F"/>
              </a:solidFill>
            </a:endParaRPr>
          </a:p>
        </p:txBody>
      </p:sp>
      <p:sp>
        <p:nvSpPr>
          <p:cNvPr id="62" name="文本框 61"/>
          <p:cNvSpPr txBox="1"/>
          <p:nvPr/>
        </p:nvSpPr>
        <p:spPr>
          <a:xfrm rot="16200000">
            <a:off x="-289186" y="4970034"/>
            <a:ext cx="996991" cy="306705"/>
          </a:xfrm>
          <a:prstGeom prst="rect">
            <a:avLst/>
          </a:prstGeom>
          <a:noFill/>
        </p:spPr>
        <p:txBody>
          <a:bodyPr wrap="square" rtlCol="0">
            <a:spAutoFit/>
          </a:bodyPr>
          <a:lstStyle/>
          <a:p>
            <a:pPr algn="ctr"/>
            <a:r>
              <a:rPr lang="en-US" altLang="zh-CN" sz="1400" b="1" dirty="0">
                <a:solidFill>
                  <a:schemeClr val="bg1"/>
                </a:solidFill>
                <a:latin typeface="微软雅黑" panose="020B0503020204020204" pitchFamily="34" charset="-122"/>
                <a:ea typeface="微软雅黑" panose="020B0503020204020204" pitchFamily="34" charset="-122"/>
              </a:rPr>
              <a:t>ESCS</a:t>
            </a:r>
            <a:r>
              <a:rPr lang="zh-CN" altLang="en-US" sz="1400" b="1" dirty="0">
                <a:solidFill>
                  <a:schemeClr val="bg1"/>
                </a:solidFill>
                <a:latin typeface="微软雅黑" panose="020B0503020204020204" pitchFamily="34" charset="-122"/>
                <a:ea typeface="微软雅黑" panose="020B0503020204020204" pitchFamily="34" charset="-122"/>
              </a:rPr>
              <a:t>应用</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r="28133" b="-93818"/>
          <a:stretch>
            <a:fillRect/>
          </a:stretch>
        </p:blipFill>
        <p:spPr>
          <a:xfrm>
            <a:off x="4926965" y="1337945"/>
            <a:ext cx="2571750" cy="480060"/>
          </a:xfrm>
          <a:prstGeom prst="rect">
            <a:avLst/>
          </a:prstGeom>
        </p:spPr>
      </p:pic>
      <p:sp>
        <p:nvSpPr>
          <p:cNvPr id="60" name="流程图: 终止 59"/>
          <p:cNvSpPr/>
          <p:nvPr/>
        </p:nvSpPr>
        <p:spPr>
          <a:xfrm>
            <a:off x="7871460" y="1468120"/>
            <a:ext cx="936000" cy="504000"/>
          </a:xfrm>
          <a:prstGeom prst="flowChartTerminator">
            <a:avLst/>
          </a:prstGeom>
          <a:solidFill>
            <a:srgbClr val="63BC7A"/>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AAA</a:t>
            </a:r>
            <a:endParaRPr lang="en-US" altLang="zh-CN"/>
          </a:p>
        </p:txBody>
      </p:sp>
      <p:sp>
        <p:nvSpPr>
          <p:cNvPr id="58" name="流程图: 终止 57"/>
          <p:cNvSpPr/>
          <p:nvPr/>
        </p:nvSpPr>
        <p:spPr>
          <a:xfrm>
            <a:off x="11061700" y="1468120"/>
            <a:ext cx="936000" cy="504000"/>
          </a:xfrm>
          <a:prstGeom prst="flowChartTerminator">
            <a:avLst/>
          </a:prstGeom>
          <a:solidFill>
            <a:srgbClr val="FDBE7A"/>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BB</a:t>
            </a:r>
            <a:endParaRPr lang="en-US" altLang="zh-CN"/>
          </a:p>
        </p:txBody>
      </p:sp>
      <p:sp>
        <p:nvSpPr>
          <p:cNvPr id="34" name="矩形 33"/>
          <p:cNvSpPr/>
          <p:nvPr/>
        </p:nvSpPr>
        <p:spPr>
          <a:xfrm>
            <a:off x="4923790" y="4794250"/>
            <a:ext cx="2574925" cy="1668145"/>
          </a:xfrm>
          <a:prstGeom prst="rect">
            <a:avLst/>
          </a:prstGeom>
          <a:noFill/>
          <a:ln>
            <a:solidFill>
              <a:schemeClr val="tx1"/>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表 2"/>
          <p:cNvPicPr/>
          <p:nvPr/>
        </p:nvPicPr>
        <p:blipFill>
          <a:blip r:embed="rId4"/>
          <a:stretch>
            <a:fillRect/>
          </a:stretch>
        </p:blipFill>
        <p:spPr>
          <a:xfrm>
            <a:off x="196215" y="1035685"/>
            <a:ext cx="4850765" cy="2464435"/>
          </a:xfrm>
          <a:prstGeom prst="rect">
            <a:avLst/>
          </a:prstGeom>
          <a:ln>
            <a:noFill/>
          </a:ln>
          <a:extLst>
            <a:ext uri="{8CAD56D8-0F58-4FB8-B24C-77498146470C}">
              <wpswe:webExtensionRef xmlns:wpswe="http://www.wps.cn/officeDocument/2018/webExtension" r:id="rId3"/>
            </a:ext>
            <wpswe:webExtensionRef xmlns:wpswe="http://www.wps.cn/officeDocument/2018/webExtension" r:id="rId3"/>
          </a:extLst>
        </p:spPr>
      </p:pic>
      <p:sp>
        <p:nvSpPr>
          <p:cNvPr id="21" name="文本框 20"/>
          <p:cNvSpPr txBox="1"/>
          <p:nvPr/>
        </p:nvSpPr>
        <p:spPr>
          <a:xfrm>
            <a:off x="810895" y="1905"/>
            <a:ext cx="5953125" cy="583565"/>
          </a:xfrm>
          <a:prstGeom prst="rect">
            <a:avLst/>
          </a:prstGeom>
          <a:noFill/>
        </p:spPr>
        <p:txBody>
          <a:bodyPr wrap="square" rtlCol="0">
            <a:spAutoFit/>
          </a:bodyPr>
          <a:p>
            <a:r>
              <a:rPr lang="zh-CN" altLang="en-US" sz="3200" b="1" dirty="0">
                <a:solidFill>
                  <a:srgbClr val="305921"/>
                </a:solidFill>
                <a:latin typeface="微软雅黑" panose="020B0503020204020204" pitchFamily="34" charset="-122"/>
                <a:ea typeface="微软雅黑" panose="020B0503020204020204" pitchFamily="34" charset="-122"/>
                <a:cs typeface="华文宋体" panose="02010600040101010101" charset="-122"/>
              </a:rPr>
              <a:t>储能项目信用评分模型（</a:t>
            </a:r>
            <a:r>
              <a:rPr lang="en-US" altLang="zh-CN" sz="3200" b="1" dirty="0">
                <a:solidFill>
                  <a:srgbClr val="305921"/>
                </a:solidFill>
                <a:latin typeface="微软雅黑" panose="020B0503020204020204" pitchFamily="34" charset="-122"/>
                <a:ea typeface="微软雅黑" panose="020B0503020204020204" pitchFamily="34" charset="-122"/>
                <a:cs typeface="华文宋体" panose="02010600040101010101" charset="-122"/>
              </a:rPr>
              <a:t>ESCS</a:t>
            </a:r>
            <a:r>
              <a:rPr lang="zh-CN" altLang="en-US" sz="3200" b="1" dirty="0">
                <a:solidFill>
                  <a:srgbClr val="305921"/>
                </a:solidFill>
                <a:latin typeface="微软雅黑" panose="020B0503020204020204" pitchFamily="34" charset="-122"/>
                <a:ea typeface="微软雅黑" panose="020B0503020204020204" pitchFamily="34" charset="-122"/>
                <a:cs typeface="华文宋体" panose="02010600040101010101" charset="-122"/>
              </a:rPr>
              <a:t>）</a:t>
            </a:r>
            <a:endParaRPr lang="zh-CN" altLang="en-US" sz="3200" b="1" dirty="0">
              <a:solidFill>
                <a:srgbClr val="305921"/>
              </a:solidFill>
              <a:latin typeface="微软雅黑" panose="020B0503020204020204" pitchFamily="34" charset="-122"/>
              <a:ea typeface="微软雅黑" panose="020B0503020204020204" pitchFamily="34" charset="-122"/>
              <a:cs typeface="华文宋体" panose="02010600040101010101" charset="-122"/>
            </a:endParaRPr>
          </a:p>
        </p:txBody>
      </p:sp>
      <p:sp>
        <p:nvSpPr>
          <p:cNvPr id="23" name="矩形 22"/>
          <p:cNvSpPr/>
          <p:nvPr/>
        </p:nvSpPr>
        <p:spPr>
          <a:xfrm>
            <a:off x="0" y="0"/>
            <a:ext cx="810883" cy="851140"/>
          </a:xfrm>
          <a:prstGeom prst="rect">
            <a:avLst/>
          </a:prstGeom>
          <a:solidFill>
            <a:srgbClr val="305921"/>
          </a:solidFill>
          <a:ln>
            <a:solidFill>
              <a:srgbClr val="3059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矩形 26"/>
          <p:cNvSpPr/>
          <p:nvPr/>
        </p:nvSpPr>
        <p:spPr>
          <a:xfrm>
            <a:off x="5392420" y="4641215"/>
            <a:ext cx="1739265" cy="321310"/>
          </a:xfrm>
          <a:prstGeom prst="rect">
            <a:avLst/>
          </a:prstGeom>
          <a:solidFill>
            <a:srgbClr val="305921"/>
          </a:solidFill>
          <a:ln>
            <a:solidFill>
              <a:srgbClr val="3059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sz="1400" b="1" dirty="0">
                <a:latin typeface="微软雅黑" panose="020B0503020204020204" pitchFamily="34" charset="-122"/>
                <a:ea typeface="微软雅黑" panose="020B0503020204020204" pitchFamily="34" charset="-122"/>
              </a:rPr>
              <a:t>风险调整</a:t>
            </a:r>
            <a:r>
              <a:rPr lang="zh-CN" altLang="en-US" sz="1400" b="1" dirty="0">
                <a:latin typeface="微软雅黑" panose="020B0503020204020204" pitchFamily="34" charset="-122"/>
                <a:ea typeface="微软雅黑" panose="020B0503020204020204" pitchFamily="34" charset="-122"/>
              </a:rPr>
              <a:t>机制</a:t>
            </a:r>
            <a:endParaRPr lang="zh-CN" altLang="en-US" sz="1400" b="1" dirty="0">
              <a:latin typeface="微软雅黑" panose="020B0503020204020204" pitchFamily="34" charset="-122"/>
              <a:ea typeface="微软雅黑" panose="020B0503020204020204" pitchFamily="34" charset="-122"/>
            </a:endParaRPr>
          </a:p>
        </p:txBody>
      </p:sp>
      <p:sp>
        <p:nvSpPr>
          <p:cNvPr id="31" name="矩形 30"/>
          <p:cNvSpPr/>
          <p:nvPr/>
        </p:nvSpPr>
        <p:spPr>
          <a:xfrm>
            <a:off x="4772660" y="889635"/>
            <a:ext cx="2810510" cy="5718175"/>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2" name="矩形 31"/>
          <p:cNvSpPr/>
          <p:nvPr/>
        </p:nvSpPr>
        <p:spPr>
          <a:xfrm>
            <a:off x="4905375" y="1107440"/>
            <a:ext cx="2587625" cy="1558925"/>
          </a:xfrm>
          <a:prstGeom prst="rect">
            <a:avLst/>
          </a:prstGeom>
          <a:noFill/>
          <a:ln>
            <a:solidFill>
              <a:schemeClr val="tx1"/>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5" name="矩形 304"/>
          <p:cNvSpPr/>
          <p:nvPr/>
        </p:nvSpPr>
        <p:spPr>
          <a:xfrm>
            <a:off x="5341620" y="972185"/>
            <a:ext cx="1739265" cy="321310"/>
          </a:xfrm>
          <a:prstGeom prst="rect">
            <a:avLst/>
          </a:prstGeom>
          <a:solidFill>
            <a:srgbClr val="305921"/>
          </a:solidFill>
          <a:ln>
            <a:solidFill>
              <a:srgbClr val="3059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sz="1400" b="1" dirty="0">
                <a:latin typeface="微软雅黑" panose="020B0503020204020204" pitchFamily="34" charset="-122"/>
                <a:ea typeface="微软雅黑" panose="020B0503020204020204" pitchFamily="34" charset="-122"/>
              </a:rPr>
              <a:t>主模型结构</a:t>
            </a:r>
            <a:endParaRPr lang="zh-CN" altLang="en-US" sz="1400" b="1" dirty="0">
              <a:latin typeface="微软雅黑" panose="020B0503020204020204" pitchFamily="34" charset="-122"/>
              <a:ea typeface="微软雅黑" panose="020B0503020204020204" pitchFamily="34" charset="-122"/>
            </a:endParaRPr>
          </a:p>
        </p:txBody>
      </p:sp>
      <p:sp>
        <p:nvSpPr>
          <p:cNvPr id="33" name="矩形 32"/>
          <p:cNvSpPr/>
          <p:nvPr/>
        </p:nvSpPr>
        <p:spPr>
          <a:xfrm>
            <a:off x="4905375" y="2938780"/>
            <a:ext cx="2586990" cy="1601470"/>
          </a:xfrm>
          <a:prstGeom prst="rect">
            <a:avLst/>
          </a:prstGeom>
          <a:noFill/>
          <a:ln>
            <a:solidFill>
              <a:schemeClr val="tx1"/>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矩形 25"/>
          <p:cNvSpPr/>
          <p:nvPr/>
        </p:nvSpPr>
        <p:spPr>
          <a:xfrm>
            <a:off x="5392420" y="2773045"/>
            <a:ext cx="1739265" cy="321310"/>
          </a:xfrm>
          <a:prstGeom prst="rect">
            <a:avLst/>
          </a:prstGeom>
          <a:solidFill>
            <a:srgbClr val="305921"/>
          </a:solidFill>
          <a:ln>
            <a:solidFill>
              <a:srgbClr val="3059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sz="1400" b="1" dirty="0">
                <a:latin typeface="微软雅黑" panose="020B0503020204020204" pitchFamily="34" charset="-122"/>
                <a:ea typeface="微软雅黑" panose="020B0503020204020204" pitchFamily="34" charset="-122"/>
              </a:rPr>
              <a:t>极差标准化</a:t>
            </a:r>
            <a:r>
              <a:rPr lang="zh-CN" altLang="en-US" sz="1400" b="1" dirty="0">
                <a:latin typeface="微软雅黑" panose="020B0503020204020204" pitchFamily="34" charset="-122"/>
                <a:ea typeface="微软雅黑" panose="020B0503020204020204" pitchFamily="34" charset="-122"/>
              </a:rPr>
              <a:t>处理</a:t>
            </a:r>
            <a:endParaRPr lang="zh-CN" altLang="en-US" sz="1400" b="1" dirty="0">
              <a:latin typeface="微软雅黑" panose="020B0503020204020204" pitchFamily="34" charset="-122"/>
              <a:ea typeface="微软雅黑" panose="020B0503020204020204" pitchFamily="34" charset="-122"/>
            </a:endParaRPr>
          </a:p>
        </p:txBody>
      </p:sp>
      <p:sp>
        <p:nvSpPr>
          <p:cNvPr id="35" name="梯形 34"/>
          <p:cNvSpPr/>
          <p:nvPr/>
        </p:nvSpPr>
        <p:spPr>
          <a:xfrm rot="16200000">
            <a:off x="1813560" y="3649980"/>
            <a:ext cx="5720080" cy="198755"/>
          </a:xfrm>
          <a:prstGeom prst="trapezoid">
            <a:avLst>
              <a:gd name="adj" fmla="val 153482"/>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39" name="直接连接符 38"/>
          <p:cNvCxnSpPr/>
          <p:nvPr/>
        </p:nvCxnSpPr>
        <p:spPr>
          <a:xfrm flipV="1">
            <a:off x="976431" y="1149436"/>
            <a:ext cx="3627120"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04" name="矩形 303"/>
          <p:cNvSpPr/>
          <p:nvPr/>
        </p:nvSpPr>
        <p:spPr>
          <a:xfrm>
            <a:off x="1728470" y="972185"/>
            <a:ext cx="1814830" cy="321310"/>
          </a:xfrm>
          <a:prstGeom prst="rect">
            <a:avLst/>
          </a:prstGeom>
          <a:solidFill>
            <a:srgbClr val="305921"/>
          </a:solidFill>
          <a:ln>
            <a:solidFill>
              <a:srgbClr val="3059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sz="1400" b="1" dirty="0">
                <a:latin typeface="微软雅黑" panose="020B0503020204020204" pitchFamily="34" charset="-122"/>
                <a:ea typeface="微软雅黑" panose="020B0503020204020204" pitchFamily="34" charset="-122"/>
              </a:rPr>
              <a:t>权重</a:t>
            </a:r>
            <a:r>
              <a:rPr lang="zh-CN" altLang="en-US" sz="1400" b="1" dirty="0">
                <a:latin typeface="微软雅黑" panose="020B0503020204020204" pitchFamily="34" charset="-122"/>
                <a:ea typeface="微软雅黑" panose="020B0503020204020204" pitchFamily="34" charset="-122"/>
              </a:rPr>
              <a:t>构成</a:t>
            </a:r>
            <a:endParaRPr lang="zh-CN" altLang="en-US" sz="1400" b="1" dirty="0">
              <a:latin typeface="微软雅黑" panose="020B0503020204020204" pitchFamily="34" charset="-122"/>
              <a:ea typeface="微软雅黑" panose="020B0503020204020204" pitchFamily="34" charset="-122"/>
            </a:endParaRPr>
          </a:p>
        </p:txBody>
      </p:sp>
      <p:cxnSp>
        <p:nvCxnSpPr>
          <p:cNvPr id="40" name="直接连接符 39"/>
          <p:cNvCxnSpPr/>
          <p:nvPr/>
        </p:nvCxnSpPr>
        <p:spPr>
          <a:xfrm>
            <a:off x="958797" y="6299287"/>
            <a:ext cx="36201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8" name="表格 47"/>
          <p:cNvGraphicFramePr/>
          <p:nvPr>
            <p:custDataLst>
              <p:tags r:id="rId5"/>
            </p:custDataLst>
          </p:nvPr>
        </p:nvGraphicFramePr>
        <p:xfrm>
          <a:off x="7751445" y="2286000"/>
          <a:ext cx="4309110" cy="4324350"/>
        </p:xfrm>
        <a:graphic>
          <a:graphicData uri="http://schemas.openxmlformats.org/drawingml/2006/table">
            <a:tbl>
              <a:tblPr firstRow="1" bandRow="1">
                <a:tableStyleId>{5C22544A-7EE6-4342-B048-85BDC9FD1C3A}</a:tableStyleId>
              </a:tblPr>
              <a:tblGrid>
                <a:gridCol w="903605"/>
                <a:gridCol w="1136015"/>
                <a:gridCol w="2269490"/>
              </a:tblGrid>
              <a:tr h="720725">
                <a:tc>
                  <a:txBody>
                    <a:bodyPr/>
                    <a:p>
                      <a:pPr>
                        <a:buNone/>
                      </a:pPr>
                      <a:r>
                        <a:rPr lang="zh-CN" altLang="en-US" sz="1400" dirty="0">
                          <a:latin typeface="微软雅黑" panose="020B0503020204020204" pitchFamily="34" charset="-122"/>
                          <a:ea typeface="微软雅黑" panose="020B0503020204020204" pitchFamily="34" charset="-122"/>
                        </a:rPr>
                        <a:t>信用等级</a:t>
                      </a:r>
                      <a:endParaRPr lang="zh-CN" altLang="en-US" sz="1400" dirty="0">
                        <a:latin typeface="微软雅黑" panose="020B0503020204020204" pitchFamily="34" charset="-122"/>
                        <a:ea typeface="微软雅黑" panose="020B0503020204020204" pitchFamily="34" charset="-122"/>
                      </a:endParaRPr>
                    </a:p>
                  </a:txBody>
                  <a:tcPr anchor="ctr" anchorCtr="1">
                    <a:solidFill>
                      <a:srgbClr val="305921"/>
                    </a:solidFill>
                  </a:tcPr>
                </a:tc>
                <a:tc>
                  <a:txBody>
                    <a:bodyPr/>
                    <a:p>
                      <a:pPr>
                        <a:buNone/>
                      </a:pPr>
                      <a:r>
                        <a:rPr lang="zh-CN" altLang="en-US" sz="1400" dirty="0">
                          <a:latin typeface="微软雅黑" panose="020B0503020204020204" pitchFamily="34" charset="-122"/>
                          <a:ea typeface="微软雅黑" panose="020B0503020204020204" pitchFamily="34" charset="-122"/>
                        </a:rPr>
                        <a:t>ESCS</a:t>
                      </a:r>
                      <a:r>
                        <a:rPr lang="zh-CN" altLang="en-US" sz="700" dirty="0">
                          <a:latin typeface="微软雅黑" panose="020B0503020204020204" pitchFamily="34" charset="-122"/>
                          <a:ea typeface="微软雅黑" panose="020B0503020204020204" pitchFamily="34" charset="-122"/>
                        </a:rPr>
                        <a:t>adj</a:t>
                      </a:r>
                      <a:r>
                        <a:rPr lang="zh-CN" altLang="en-US" sz="1400" dirty="0">
                          <a:latin typeface="微软雅黑" panose="020B0503020204020204" pitchFamily="34" charset="-122"/>
                          <a:ea typeface="微软雅黑" panose="020B0503020204020204" pitchFamily="34" charset="-122"/>
                        </a:rPr>
                        <a:t>区间</a:t>
                      </a:r>
                      <a:endParaRPr lang="zh-CN" altLang="en-US" sz="1400" dirty="0">
                        <a:latin typeface="微软雅黑" panose="020B0503020204020204" pitchFamily="34" charset="-122"/>
                        <a:ea typeface="微软雅黑" panose="020B0503020204020204" pitchFamily="34" charset="-122"/>
                      </a:endParaRPr>
                    </a:p>
                  </a:txBody>
                  <a:tcPr anchor="ctr" anchorCtr="1">
                    <a:solidFill>
                      <a:srgbClr val="305921"/>
                    </a:solidFill>
                  </a:tcPr>
                </a:tc>
                <a:tc>
                  <a:txBody>
                    <a:bodyPr/>
                    <a:p>
                      <a:pPr>
                        <a:buNone/>
                      </a:pP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适用融资工具</a:t>
                      </a:r>
                      <a:endParaRPr lang="zh-CN" altLang="en-US" sz="1600"/>
                    </a:p>
                  </a:txBody>
                  <a:tcPr anchor="ctr" anchorCtr="1">
                    <a:solidFill>
                      <a:srgbClr val="305921"/>
                    </a:solidFill>
                  </a:tcPr>
                </a:tc>
              </a:tr>
              <a:tr h="720725">
                <a:tc>
                  <a:txBody>
                    <a:bodyPr/>
                    <a:p>
                      <a:pPr>
                        <a:buNone/>
                      </a:pPr>
                      <a:r>
                        <a:rPr lang="en-US" altLang="zh-CN" sz="1400"/>
                        <a:t>AAA</a:t>
                      </a:r>
                      <a:endParaRPr lang="en-US" altLang="zh-CN" sz="1400"/>
                    </a:p>
                  </a:txBody>
                  <a:tcPr anchor="ctr" anchorCtr="1">
                    <a:solidFill>
                      <a:srgbClr val="305921">
                        <a:alpha val="31000"/>
                      </a:srgbClr>
                    </a:solidFill>
                  </a:tcPr>
                </a:tc>
                <a:tc>
                  <a:txBody>
                    <a:bodyPr/>
                    <a:p>
                      <a:pPr>
                        <a:buNone/>
                      </a:pPr>
                      <a:r>
                        <a:rPr lang="en-US" altLang="zh-CN" sz="1400"/>
                        <a:t>≥ 85</a:t>
                      </a:r>
                      <a:endParaRPr lang="en-US" altLang="zh-CN" sz="1400"/>
                    </a:p>
                  </a:txBody>
                  <a:tcPr anchor="ctr" anchorCtr="1">
                    <a:solidFill>
                      <a:srgbClr val="BFCCBA"/>
                    </a:solidFill>
                  </a:tcPr>
                </a:tc>
                <a:tc>
                  <a:txBody>
                    <a:bodyPr/>
                    <a:p>
                      <a:pPr algn="ctr">
                        <a:buNone/>
                      </a:pPr>
                      <a:r>
                        <a:rPr lang="zh-CN" altLang="en-US" sz="1200">
                          <a:latin typeface="+mn-ea"/>
                          <a:cs typeface="+mn-ea"/>
                        </a:rPr>
                        <a:t>可发行优先级</a:t>
                      </a:r>
                      <a:r>
                        <a:rPr lang="en-US" altLang="zh-CN" sz="1200">
                          <a:latin typeface="+mn-ea"/>
                          <a:cs typeface="+mn-ea"/>
                        </a:rPr>
                        <a:t> ABS</a:t>
                      </a:r>
                      <a:r>
                        <a:rPr lang="zh-CN" altLang="en-US" sz="1200">
                          <a:latin typeface="+mn-ea"/>
                          <a:cs typeface="+mn-ea"/>
                        </a:rPr>
                        <a:t>；</a:t>
                      </a:r>
                      <a:r>
                        <a:rPr lang="en-US" altLang="zh-CN" sz="1200">
                          <a:latin typeface="+mn-ea"/>
                          <a:cs typeface="+mn-ea"/>
                        </a:rPr>
                        <a:t>REITs</a:t>
                      </a:r>
                      <a:r>
                        <a:rPr lang="zh-CN" altLang="en-US" sz="1200">
                          <a:latin typeface="+mn-ea"/>
                          <a:cs typeface="+mn-ea"/>
                        </a:rPr>
                        <a:t>上市；绿色债券（</a:t>
                      </a:r>
                      <a:r>
                        <a:rPr lang="en-US" altLang="zh-CN" sz="1200">
                          <a:latin typeface="+mn-ea"/>
                          <a:cs typeface="+mn-ea"/>
                        </a:rPr>
                        <a:t>AAA </a:t>
                      </a:r>
                      <a:r>
                        <a:rPr lang="zh-CN" altLang="en-US" sz="1200">
                          <a:latin typeface="+mn-ea"/>
                          <a:cs typeface="+mn-ea"/>
                        </a:rPr>
                        <a:t>级）</a:t>
                      </a:r>
                      <a:endParaRPr lang="zh-CN" altLang="en-US" sz="1200">
                        <a:latin typeface="+mn-ea"/>
                        <a:cs typeface="+mn-ea"/>
                      </a:endParaRPr>
                    </a:p>
                  </a:txBody>
                  <a:tcPr anchor="ctr" anchorCtr="1">
                    <a:solidFill>
                      <a:srgbClr val="BFCCBA"/>
                    </a:solidFill>
                  </a:tcPr>
                </a:tc>
              </a:tr>
              <a:tr h="720725">
                <a:tc>
                  <a:txBody>
                    <a:bodyPr/>
                    <a:p>
                      <a:pPr>
                        <a:buNone/>
                      </a:pPr>
                      <a:r>
                        <a:rPr lang="en-US" altLang="zh-CN" sz="1400"/>
                        <a:t>AA</a:t>
                      </a:r>
                      <a:endParaRPr lang="en-US" altLang="zh-CN" sz="1400"/>
                    </a:p>
                  </a:txBody>
                  <a:tcPr anchor="ctr" anchorCtr="1">
                    <a:solidFill>
                      <a:srgbClr val="92D050">
                        <a:alpha val="25000"/>
                      </a:srgbClr>
                    </a:solidFill>
                  </a:tcPr>
                </a:tc>
                <a:tc>
                  <a:txBody>
                    <a:bodyPr/>
                    <a:p>
                      <a:pPr>
                        <a:buNone/>
                      </a:pPr>
                      <a:r>
                        <a:rPr lang="en-US" altLang="zh-CN" sz="1400"/>
                        <a:t>75 ~ 84</a:t>
                      </a:r>
                      <a:endParaRPr lang="en-US" altLang="zh-CN" sz="1400"/>
                    </a:p>
                  </a:txBody>
                  <a:tcPr anchor="ctr" anchorCtr="1">
                    <a:solidFill>
                      <a:srgbClr val="E4F3D3"/>
                    </a:solidFill>
                  </a:tcPr>
                </a:tc>
                <a:tc>
                  <a:txBody>
                    <a:bodyPr/>
                    <a:p>
                      <a:pPr algn="ctr">
                        <a:buNone/>
                      </a:pPr>
                      <a:r>
                        <a:rPr lang="zh-CN" altLang="en-US" sz="1200">
                          <a:latin typeface="+mn-ea"/>
                          <a:cs typeface="+mn-ea"/>
                        </a:rPr>
                        <a:t>夹层 ABS；绿色债券；</a:t>
                      </a:r>
                      <a:endParaRPr lang="zh-CN" altLang="en-US" sz="1200">
                        <a:latin typeface="+mn-ea"/>
                        <a:cs typeface="+mn-ea"/>
                      </a:endParaRPr>
                    </a:p>
                    <a:p>
                      <a:pPr algn="ctr">
                        <a:buNone/>
                      </a:pPr>
                      <a:r>
                        <a:rPr lang="zh-CN" altLang="en-US" sz="1200">
                          <a:latin typeface="+mn-ea"/>
                          <a:cs typeface="+mn-ea"/>
                        </a:rPr>
                        <a:t>项目融资（标准条款）</a:t>
                      </a:r>
                      <a:endParaRPr lang="zh-CN" altLang="en-US" sz="1200">
                        <a:latin typeface="+mn-ea"/>
                        <a:cs typeface="+mn-ea"/>
                      </a:endParaRPr>
                    </a:p>
                  </a:txBody>
                  <a:tcPr anchor="ctr" anchorCtr="1">
                    <a:solidFill>
                      <a:srgbClr val="E4F3D3"/>
                    </a:solidFill>
                  </a:tcPr>
                </a:tc>
              </a:tr>
              <a:tr h="720725">
                <a:tc>
                  <a:txBody>
                    <a:bodyPr/>
                    <a:p>
                      <a:pPr>
                        <a:buNone/>
                      </a:pPr>
                      <a:r>
                        <a:rPr lang="en-US" altLang="zh-CN" sz="1400"/>
                        <a:t>A</a:t>
                      </a:r>
                      <a:endParaRPr lang="en-US" altLang="zh-CN" sz="1400"/>
                    </a:p>
                  </a:txBody>
                  <a:tcPr anchor="ctr" anchorCtr="1">
                    <a:solidFill>
                      <a:srgbClr val="BFCCBA"/>
                    </a:solidFill>
                  </a:tcPr>
                </a:tc>
                <a:tc>
                  <a:txBody>
                    <a:bodyPr/>
                    <a:p>
                      <a:pPr>
                        <a:buNone/>
                      </a:pPr>
                      <a:r>
                        <a:rPr lang="en-US" altLang="zh-CN" sz="1400"/>
                        <a:t>65 ~ 74</a:t>
                      </a:r>
                      <a:endParaRPr lang="en-US" altLang="zh-CN" sz="1400"/>
                    </a:p>
                  </a:txBody>
                  <a:tcPr anchor="ctr" anchorCtr="1">
                    <a:solidFill>
                      <a:srgbClr val="BFCCBA"/>
                    </a:solidFill>
                  </a:tcPr>
                </a:tc>
                <a:tc>
                  <a:txBody>
                    <a:bodyPr/>
                    <a:p>
                      <a:pPr algn="ctr">
                        <a:buNone/>
                      </a:pPr>
                      <a:r>
                        <a:rPr lang="zh-CN" altLang="en-US" sz="1200">
                          <a:latin typeface="+mn-ea"/>
                          <a:cs typeface="+mn-ea"/>
                        </a:rPr>
                        <a:t>需部分增信的银行贷款；融资租赁；绿色债券（A级）</a:t>
                      </a:r>
                      <a:endParaRPr lang="zh-CN" altLang="en-US" sz="1200">
                        <a:latin typeface="+mn-ea"/>
                        <a:cs typeface="+mn-ea"/>
                      </a:endParaRPr>
                    </a:p>
                  </a:txBody>
                  <a:tcPr anchor="ctr" anchorCtr="1">
                    <a:solidFill>
                      <a:srgbClr val="BFCCBA"/>
                    </a:solidFill>
                  </a:tcPr>
                </a:tc>
              </a:tr>
              <a:tr h="720725">
                <a:tc>
                  <a:txBody>
                    <a:bodyPr/>
                    <a:p>
                      <a:pPr>
                        <a:buNone/>
                      </a:pPr>
                      <a:r>
                        <a:rPr lang="en-US" altLang="zh-CN" sz="1400"/>
                        <a:t>BBB</a:t>
                      </a:r>
                      <a:endParaRPr lang="en-US" altLang="zh-CN" sz="1400"/>
                    </a:p>
                  </a:txBody>
                  <a:tcPr anchor="ctr" anchorCtr="1">
                    <a:solidFill>
                      <a:srgbClr val="E4F3D3"/>
                    </a:solidFill>
                  </a:tcPr>
                </a:tc>
                <a:tc>
                  <a:txBody>
                    <a:bodyPr/>
                    <a:p>
                      <a:pPr>
                        <a:buNone/>
                      </a:pPr>
                      <a:r>
                        <a:rPr lang="en-US" altLang="zh-CN" sz="1400"/>
                        <a:t>55 ~ 64</a:t>
                      </a:r>
                      <a:endParaRPr lang="en-US" altLang="zh-CN" sz="1400"/>
                    </a:p>
                  </a:txBody>
                  <a:tcPr anchor="ctr" anchorCtr="1">
                    <a:solidFill>
                      <a:srgbClr val="E4F3D3"/>
                    </a:solidFill>
                  </a:tcPr>
                </a:tc>
                <a:tc>
                  <a:txBody>
                    <a:bodyPr/>
                    <a:p>
                      <a:pPr algn="ctr">
                        <a:buNone/>
                      </a:pPr>
                      <a:r>
                        <a:rPr lang="zh-CN" altLang="en-US" sz="1200">
                          <a:latin typeface="+mn-ea"/>
                          <a:cs typeface="+mn-ea"/>
                        </a:rPr>
                        <a:t>需强增信（担保/质押）的银行贷款；股权+债权混合</a:t>
                      </a:r>
                      <a:endParaRPr lang="zh-CN" altLang="en-US" sz="1200">
                        <a:latin typeface="+mn-ea"/>
                        <a:cs typeface="+mn-ea"/>
                      </a:endParaRPr>
                    </a:p>
                  </a:txBody>
                  <a:tcPr anchor="ctr" anchorCtr="1">
                    <a:solidFill>
                      <a:srgbClr val="E4F3D3"/>
                    </a:solidFill>
                  </a:tcPr>
                </a:tc>
              </a:tr>
              <a:tr h="720725">
                <a:tc>
                  <a:txBody>
                    <a:bodyPr/>
                    <a:p>
                      <a:pPr>
                        <a:buNone/>
                      </a:pPr>
                      <a:endParaRPr lang="zh-CN" altLang="en-US" sz="1400"/>
                    </a:p>
                  </a:txBody>
                  <a:tcPr anchor="ctr" anchorCtr="1">
                    <a:solidFill>
                      <a:srgbClr val="BFCCBA"/>
                    </a:solidFill>
                  </a:tcPr>
                </a:tc>
                <a:tc>
                  <a:txBody>
                    <a:bodyPr/>
                    <a:p>
                      <a:pPr>
                        <a:buNone/>
                      </a:pPr>
                      <a:r>
                        <a:rPr lang="en-US" altLang="zh-CN" sz="1400"/>
                        <a:t>&lt; 55</a:t>
                      </a:r>
                      <a:endParaRPr lang="en-US" altLang="zh-CN" sz="1400"/>
                    </a:p>
                  </a:txBody>
                  <a:tcPr anchor="ctr" anchorCtr="1">
                    <a:solidFill>
                      <a:srgbClr val="BFCCBA"/>
                    </a:solidFill>
                  </a:tcPr>
                </a:tc>
                <a:tc>
                  <a:txBody>
                    <a:bodyPr/>
                    <a:p>
                      <a:pPr algn="ctr">
                        <a:buNone/>
                      </a:pPr>
                      <a:r>
                        <a:rPr lang="zh-CN" altLang="en-US" sz="1200">
                          <a:latin typeface="+mn-ea"/>
                          <a:cs typeface="+mn-ea"/>
                        </a:rPr>
                        <a:t>融资受限；需结构性重组或引入战略投资者</a:t>
                      </a:r>
                      <a:endParaRPr lang="zh-CN" altLang="en-US" sz="1200">
                        <a:latin typeface="+mn-ea"/>
                        <a:cs typeface="+mn-ea"/>
                      </a:endParaRPr>
                    </a:p>
                  </a:txBody>
                  <a:tcPr anchor="ctr" anchorCtr="1">
                    <a:solidFill>
                      <a:srgbClr val="BFCCBA"/>
                    </a:solidFill>
                  </a:tcPr>
                </a:tc>
              </a:tr>
            </a:tbl>
          </a:graphicData>
        </a:graphic>
      </p:graphicFrame>
      <p:sp>
        <p:nvSpPr>
          <p:cNvPr id="49" name="矩形 48"/>
          <p:cNvSpPr/>
          <p:nvPr/>
        </p:nvSpPr>
        <p:spPr>
          <a:xfrm>
            <a:off x="7752080" y="1131570"/>
            <a:ext cx="4304030" cy="5488940"/>
          </a:xfrm>
          <a:prstGeom prst="rect">
            <a:avLst/>
          </a:prstGeom>
          <a:noFill/>
          <a:ln w="15875">
            <a:solidFill>
              <a:srgbClr val="305921"/>
            </a:solidFill>
          </a:ln>
          <a:effectLst>
            <a:outerShdw blurRad="50800" dist="38100" dir="2700000" algn="tl" rotWithShape="0">
              <a:prstClr val="black">
                <a:alpha val="3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6" name="矩形 305"/>
          <p:cNvSpPr/>
          <p:nvPr/>
        </p:nvSpPr>
        <p:spPr>
          <a:xfrm>
            <a:off x="8565515" y="972185"/>
            <a:ext cx="2708910" cy="321310"/>
          </a:xfrm>
          <a:prstGeom prst="rect">
            <a:avLst/>
          </a:prstGeom>
          <a:solidFill>
            <a:srgbClr val="305921"/>
          </a:solidFill>
          <a:ln>
            <a:solidFill>
              <a:srgbClr val="3059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sz="1400" b="1" dirty="0">
                <a:latin typeface="微软雅黑" panose="020B0503020204020204" pitchFamily="34" charset="-122"/>
                <a:ea typeface="微软雅黑" panose="020B0503020204020204" pitchFamily="34" charset="-122"/>
              </a:rPr>
              <a:t>信用评级划分与</a:t>
            </a:r>
            <a:r>
              <a:rPr lang="zh-CN" altLang="en-US" sz="1400" b="1" dirty="0">
                <a:latin typeface="微软雅黑" panose="020B0503020204020204" pitchFamily="34" charset="-122"/>
                <a:ea typeface="微软雅黑" panose="020B0503020204020204" pitchFamily="34" charset="-122"/>
              </a:rPr>
              <a:t>融资映射</a:t>
            </a:r>
            <a:endParaRPr lang="zh-CN" altLang="en-US" sz="1400" b="1" dirty="0">
              <a:latin typeface="微软雅黑" panose="020B0503020204020204" pitchFamily="34" charset="-122"/>
              <a:ea typeface="微软雅黑" panose="020B0503020204020204" pitchFamily="34" charset="-122"/>
            </a:endParaRPr>
          </a:p>
        </p:txBody>
      </p:sp>
      <p:sp>
        <p:nvSpPr>
          <p:cNvPr id="51" name="等腰三角形 50"/>
          <p:cNvSpPr/>
          <p:nvPr/>
        </p:nvSpPr>
        <p:spPr>
          <a:xfrm rot="5400000">
            <a:off x="7385252" y="1087654"/>
            <a:ext cx="684000" cy="288000"/>
          </a:xfrm>
          <a:prstGeom prst="triangle">
            <a:avLst>
              <a:gd name="adj" fmla="val 50000"/>
            </a:avLst>
          </a:prstGeom>
          <a:solidFill>
            <a:srgbClr val="305921"/>
          </a:solidFill>
          <a:ln>
            <a:solidFill>
              <a:srgbClr val="3059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4" name="矩形 53"/>
          <p:cNvSpPr/>
          <p:nvPr/>
        </p:nvSpPr>
        <p:spPr>
          <a:xfrm>
            <a:off x="8677910" y="1468120"/>
            <a:ext cx="828000" cy="504000"/>
          </a:xfrm>
          <a:prstGeom prst="rect">
            <a:avLst/>
          </a:prstGeom>
          <a:solidFill>
            <a:srgbClr val="94CC83"/>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AA</a:t>
            </a:r>
            <a:endParaRPr lang="en-US" altLang="zh-CN"/>
          </a:p>
        </p:txBody>
      </p:sp>
      <p:sp>
        <p:nvSpPr>
          <p:cNvPr id="55" name="矩形 54"/>
          <p:cNvSpPr/>
          <p:nvPr/>
        </p:nvSpPr>
        <p:spPr>
          <a:xfrm>
            <a:off x="9505950" y="1468120"/>
            <a:ext cx="828000" cy="504000"/>
          </a:xfrm>
          <a:prstGeom prst="rect">
            <a:avLst/>
          </a:prstGeom>
          <a:solidFill>
            <a:srgbClr val="D4DD8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A</a:t>
            </a:r>
            <a:endParaRPr lang="en-US" altLang="zh-CN"/>
          </a:p>
        </p:txBody>
      </p:sp>
      <p:sp>
        <p:nvSpPr>
          <p:cNvPr id="56" name="矩形 55"/>
          <p:cNvSpPr/>
          <p:nvPr/>
        </p:nvSpPr>
        <p:spPr>
          <a:xfrm>
            <a:off x="10332085" y="1468120"/>
            <a:ext cx="828000" cy="504000"/>
          </a:xfrm>
          <a:prstGeom prst="rect">
            <a:avLst/>
          </a:prstGeom>
          <a:solidFill>
            <a:srgbClr val="F9DF8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BBB</a:t>
            </a:r>
            <a:endParaRPr lang="en-US" altLang="zh-CN"/>
          </a:p>
        </p:txBody>
      </p:sp>
      <p:sp>
        <p:nvSpPr>
          <p:cNvPr id="61" name="椭圆 60"/>
          <p:cNvSpPr/>
          <p:nvPr/>
        </p:nvSpPr>
        <p:spPr>
          <a:xfrm>
            <a:off x="7871460" y="3173730"/>
            <a:ext cx="704215" cy="457200"/>
          </a:xfrm>
          <a:prstGeom prst="ellipse">
            <a:avLst/>
          </a:prstGeom>
          <a:solidFill>
            <a:srgbClr val="63BC7A"/>
          </a:soli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t>AAA</a:t>
            </a:r>
            <a:endParaRPr lang="en-US" altLang="zh-CN" sz="1200"/>
          </a:p>
        </p:txBody>
      </p:sp>
      <p:sp>
        <p:nvSpPr>
          <p:cNvPr id="62" name="椭圆 61"/>
          <p:cNvSpPr/>
          <p:nvPr/>
        </p:nvSpPr>
        <p:spPr>
          <a:xfrm>
            <a:off x="7872730" y="3862705"/>
            <a:ext cx="704215" cy="457200"/>
          </a:xfrm>
          <a:prstGeom prst="ellipse">
            <a:avLst/>
          </a:prstGeom>
          <a:solidFill>
            <a:srgbClr val="94CC83"/>
          </a:soli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t>AA</a:t>
            </a:r>
            <a:endParaRPr lang="en-US" altLang="zh-CN" sz="1200"/>
          </a:p>
        </p:txBody>
      </p:sp>
      <p:sp>
        <p:nvSpPr>
          <p:cNvPr id="63" name="椭圆 62"/>
          <p:cNvSpPr/>
          <p:nvPr/>
        </p:nvSpPr>
        <p:spPr>
          <a:xfrm>
            <a:off x="7874000" y="4551680"/>
            <a:ext cx="704215" cy="457200"/>
          </a:xfrm>
          <a:prstGeom prst="ellipse">
            <a:avLst/>
          </a:prstGeom>
          <a:solidFill>
            <a:srgbClr val="D4DD82"/>
          </a:soli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t>A</a:t>
            </a:r>
            <a:endParaRPr lang="en-US" altLang="zh-CN" sz="1200"/>
          </a:p>
        </p:txBody>
      </p:sp>
      <p:sp>
        <p:nvSpPr>
          <p:cNvPr id="64" name="椭圆 63"/>
          <p:cNvSpPr/>
          <p:nvPr/>
        </p:nvSpPr>
        <p:spPr>
          <a:xfrm>
            <a:off x="7869555" y="5308600"/>
            <a:ext cx="704215" cy="457200"/>
          </a:xfrm>
          <a:prstGeom prst="ellipse">
            <a:avLst/>
          </a:prstGeom>
          <a:solidFill>
            <a:srgbClr val="F9DF82"/>
          </a:soli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t>BBB</a:t>
            </a:r>
            <a:endParaRPr lang="en-US" altLang="zh-CN" sz="1200"/>
          </a:p>
        </p:txBody>
      </p:sp>
      <p:sp>
        <p:nvSpPr>
          <p:cNvPr id="65" name="椭圆 64"/>
          <p:cNvSpPr/>
          <p:nvPr/>
        </p:nvSpPr>
        <p:spPr>
          <a:xfrm>
            <a:off x="7870825" y="6065520"/>
            <a:ext cx="704215" cy="457200"/>
          </a:xfrm>
          <a:prstGeom prst="ellipse">
            <a:avLst/>
          </a:prstGeom>
          <a:solidFill>
            <a:srgbClr val="FDBE7A"/>
          </a:soli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000"/>
              <a:t>BB</a:t>
            </a:r>
            <a:r>
              <a:rPr lang="zh-CN" altLang="en-US" sz="1000"/>
              <a:t>及以下</a:t>
            </a:r>
            <a:endParaRPr lang="zh-CN" altLang="en-US" sz="1000"/>
          </a:p>
        </p:txBody>
      </p:sp>
      <p:graphicFrame>
        <p:nvGraphicFramePr>
          <p:cNvPr id="5" name="表格 4"/>
          <p:cNvGraphicFramePr/>
          <p:nvPr>
            <p:custDataLst>
              <p:tags r:id="rId6"/>
            </p:custDataLst>
          </p:nvPr>
        </p:nvGraphicFramePr>
        <p:xfrm>
          <a:off x="1025525" y="3786505"/>
          <a:ext cx="3492500" cy="2512060"/>
        </p:xfrm>
        <a:graphic>
          <a:graphicData uri="http://schemas.openxmlformats.org/drawingml/2006/table">
            <a:tbl>
              <a:tblPr/>
              <a:tblGrid>
                <a:gridCol w="674370"/>
                <a:gridCol w="2818130"/>
              </a:tblGrid>
              <a:tr h="619125">
                <a:tc>
                  <a:txBody>
                    <a:bodyPr/>
                    <a:p>
                      <a:pPr marL="0" indent="0" algn="just" fontAlgn="ctr">
                        <a:spcBef>
                          <a:spcPct val="0"/>
                        </a:spcBef>
                        <a:spcAft>
                          <a:spcPct val="0"/>
                        </a:spcAft>
                      </a:pPr>
                      <a:r>
                        <a:rPr lang="en-US" altLang="zh-CN" sz="1100">
                          <a:solidFill>
                            <a:srgbClr val="000000"/>
                          </a:solidFill>
                          <a:latin typeface="+mn-ea"/>
                          <a:cs typeface="+mn-ea"/>
                        </a:rPr>
                        <a:t>F</a:t>
                      </a:r>
                      <a:r>
                        <a:rPr lang="zh-CN" sz="1100">
                          <a:solidFill>
                            <a:srgbClr val="000000"/>
                          </a:solidFill>
                          <a:latin typeface="+mn-ea"/>
                          <a:cs typeface="+mn-ea"/>
                        </a:rPr>
                        <a:t>财务</a:t>
                      </a:r>
                      <a:endParaRPr lang="zh-CN" sz="1100">
                        <a:solidFill>
                          <a:srgbClr val="000000"/>
                        </a:solidFill>
                        <a:latin typeface="+mn-ea"/>
                        <a:cs typeface="+mn-ea"/>
                      </a:endParaRPr>
                    </a:p>
                  </a:txBody>
                  <a:tcPr marL="68580" marR="68580" marT="0" marB="0" anchor="ctr" anchorCtr="0">
                    <a:lnL>
                      <a:noFill/>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F3F8EF"/>
                    </a:solidFill>
                  </a:tcPr>
                </a:tc>
                <a:tc>
                  <a:txBody>
                    <a:bodyPr/>
                    <a:p>
                      <a:pPr marL="0" indent="0" algn="just" fontAlgn="ctr">
                        <a:spcBef>
                          <a:spcPct val="0"/>
                        </a:spcBef>
                        <a:spcAft>
                          <a:spcPct val="0"/>
                        </a:spcAft>
                      </a:pPr>
                      <a:r>
                        <a:rPr lang="en-US" altLang="zh-CN" sz="1100">
                          <a:solidFill>
                            <a:srgbClr val="000000"/>
                          </a:solidFill>
                          <a:latin typeface="+mn-ea"/>
                          <a:cs typeface="+mn-ea"/>
                        </a:rPr>
                        <a:t>DSCR</a:t>
                      </a:r>
                      <a:r>
                        <a:rPr lang="zh-CN" sz="1100">
                          <a:solidFill>
                            <a:srgbClr val="000000"/>
                          </a:solidFill>
                          <a:latin typeface="+mn-ea"/>
                          <a:cs typeface="+mn-ea"/>
                        </a:rPr>
                        <a:t>（债务偿付覆盖率）；</a:t>
                      </a:r>
                      <a:r>
                        <a:rPr lang="en-US" altLang="zh-CN" sz="1100">
                          <a:solidFill>
                            <a:srgbClr val="000000"/>
                          </a:solidFill>
                          <a:latin typeface="+mn-ea"/>
                          <a:cs typeface="+mn-ea"/>
                        </a:rPr>
                        <a:t>IRR</a:t>
                      </a:r>
                      <a:r>
                        <a:rPr lang="zh-CN" sz="1100">
                          <a:solidFill>
                            <a:srgbClr val="000000"/>
                          </a:solidFill>
                          <a:latin typeface="+mn-ea"/>
                          <a:cs typeface="+mn-ea"/>
                        </a:rPr>
                        <a:t>（全生命周期）；资产负债率</a:t>
                      </a:r>
                      <a:endParaRPr lang="zh-CN" sz="1100">
                        <a:solidFill>
                          <a:srgbClr val="000000"/>
                        </a:solidFill>
                        <a:latin typeface="+mn-ea"/>
                        <a:cs typeface="+mn-ea"/>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F3F8EF"/>
                    </a:solidFill>
                  </a:tcPr>
                </a:tc>
              </a:tr>
              <a:tr h="791210">
                <a:tc>
                  <a:txBody>
                    <a:bodyPr/>
                    <a:p>
                      <a:pPr marL="0" indent="0" algn="just" fontAlgn="ctr">
                        <a:spcBef>
                          <a:spcPct val="0"/>
                        </a:spcBef>
                        <a:spcAft>
                          <a:spcPct val="0"/>
                        </a:spcAft>
                      </a:pPr>
                      <a:r>
                        <a:rPr lang="en-US" altLang="zh-CN" sz="1100">
                          <a:solidFill>
                            <a:srgbClr val="000000"/>
                          </a:solidFill>
                          <a:latin typeface="+mn-ea"/>
                          <a:cs typeface="+mn-ea"/>
                        </a:rPr>
                        <a:t>T</a:t>
                      </a:r>
                      <a:r>
                        <a:rPr lang="zh-CN" sz="1100">
                          <a:solidFill>
                            <a:srgbClr val="000000"/>
                          </a:solidFill>
                          <a:latin typeface="+mn-ea"/>
                          <a:cs typeface="+mn-ea"/>
                        </a:rPr>
                        <a:t>技术</a:t>
                      </a:r>
                      <a:endParaRPr lang="zh-CN" sz="1100">
                        <a:solidFill>
                          <a:srgbClr val="000000"/>
                        </a:solidFill>
                        <a:latin typeface="+mn-ea"/>
                        <a:cs typeface="+mn-ea"/>
                      </a:endParaRPr>
                    </a:p>
                  </a:txBody>
                  <a:tcPr marL="68580" marR="68580" marT="0" marB="0"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FBFDF9"/>
                    </a:solidFill>
                  </a:tcPr>
                </a:tc>
                <a:tc>
                  <a:txBody>
                    <a:bodyPr/>
                    <a:p>
                      <a:pPr marL="0" indent="0" algn="just" fontAlgn="ctr">
                        <a:spcBef>
                          <a:spcPct val="0"/>
                        </a:spcBef>
                        <a:spcAft>
                          <a:spcPct val="0"/>
                        </a:spcAft>
                      </a:pPr>
                      <a:r>
                        <a:rPr lang="zh-CN" sz="1100">
                          <a:solidFill>
                            <a:srgbClr val="000000"/>
                          </a:solidFill>
                          <a:latin typeface="+mn-ea"/>
                          <a:cs typeface="+mn-ea"/>
                        </a:rPr>
                        <a:t>循环寿命（</a:t>
                      </a:r>
                      <a:r>
                        <a:rPr lang="en-US" altLang="zh-CN" sz="1100">
                          <a:solidFill>
                            <a:srgbClr val="000000"/>
                          </a:solidFill>
                          <a:latin typeface="+mn-ea"/>
                          <a:cs typeface="+mn-ea"/>
                        </a:rPr>
                        <a:t>Cycle Life</a:t>
                      </a:r>
                      <a:r>
                        <a:rPr lang="zh-CN" sz="1100">
                          <a:solidFill>
                            <a:srgbClr val="000000"/>
                          </a:solidFill>
                          <a:latin typeface="+mn-ea"/>
                          <a:cs typeface="+mn-ea"/>
                        </a:rPr>
                        <a:t>）；容量保持率衰减路径；系统效率（</a:t>
                      </a:r>
                      <a:r>
                        <a:rPr lang="en-US" altLang="zh-CN" sz="1100">
                          <a:solidFill>
                            <a:srgbClr val="000000"/>
                          </a:solidFill>
                          <a:latin typeface="+mn-ea"/>
                          <a:cs typeface="+mn-ea"/>
                        </a:rPr>
                        <a:t>RTE</a:t>
                      </a:r>
                      <a:r>
                        <a:rPr lang="zh-CN" sz="1100">
                          <a:solidFill>
                            <a:srgbClr val="000000"/>
                          </a:solidFill>
                          <a:latin typeface="+mn-ea"/>
                          <a:cs typeface="+mn-ea"/>
                        </a:rPr>
                        <a:t>）；安全性评级</a:t>
                      </a:r>
                      <a:endParaRPr lang="zh-CN" sz="1100">
                        <a:solidFill>
                          <a:srgbClr val="000000"/>
                        </a:solidFill>
                        <a:latin typeface="+mn-ea"/>
                        <a:cs typeface="+mn-ea"/>
                      </a:endParaRPr>
                    </a:p>
                  </a:txBody>
                  <a:tcPr marL="68580" marR="68580" marT="0" marB="0" anchor="ctr" anchorCtr="0">
                    <a:lnL w="6350" cap="flat" cmpd="sng">
                      <a:solidFill>
                        <a:srgbClr val="FFFFFF"/>
                      </a:solidFill>
                      <a:prstDash val="solid"/>
                      <a:headEnd type="none" w="med" len="med"/>
                      <a:tailEnd type="none" w="med" len="med"/>
                    </a:lnL>
                    <a:lnR>
                      <a:noFill/>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FBFDF9"/>
                    </a:solidFill>
                  </a:tcPr>
                </a:tc>
              </a:tr>
              <a:tr h="542290">
                <a:tc>
                  <a:txBody>
                    <a:bodyPr/>
                    <a:p>
                      <a:pPr marL="0" indent="0" algn="just" fontAlgn="ctr">
                        <a:spcBef>
                          <a:spcPct val="0"/>
                        </a:spcBef>
                        <a:spcAft>
                          <a:spcPct val="0"/>
                        </a:spcAft>
                      </a:pPr>
                      <a:r>
                        <a:rPr lang="en-US" altLang="zh-CN" sz="1100">
                          <a:solidFill>
                            <a:srgbClr val="000000"/>
                          </a:solidFill>
                          <a:latin typeface="+mn-ea"/>
                          <a:cs typeface="+mn-ea"/>
                        </a:rPr>
                        <a:t>M</a:t>
                      </a:r>
                      <a:r>
                        <a:rPr lang="zh-CN" sz="1100">
                          <a:solidFill>
                            <a:srgbClr val="000000"/>
                          </a:solidFill>
                          <a:latin typeface="+mn-ea"/>
                          <a:cs typeface="+mn-ea"/>
                        </a:rPr>
                        <a:t>市场</a:t>
                      </a:r>
                      <a:endParaRPr lang="zh-CN" sz="1100">
                        <a:solidFill>
                          <a:srgbClr val="000000"/>
                        </a:solidFill>
                        <a:latin typeface="+mn-ea"/>
                        <a:cs typeface="+mn-ea"/>
                      </a:endParaRPr>
                    </a:p>
                  </a:txBody>
                  <a:tcPr marL="68580" marR="68580" marT="0" marB="0" anchor="ctr" anchorCtr="0">
                    <a:lnL>
                      <a:noFill/>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F3F8EF"/>
                    </a:solidFill>
                  </a:tcPr>
                </a:tc>
                <a:tc>
                  <a:txBody>
                    <a:bodyPr/>
                    <a:p>
                      <a:pPr marL="0" indent="0" algn="just" fontAlgn="ctr">
                        <a:spcBef>
                          <a:spcPct val="0"/>
                        </a:spcBef>
                        <a:spcAft>
                          <a:spcPct val="0"/>
                        </a:spcAft>
                      </a:pPr>
                      <a:r>
                        <a:rPr lang="zh-CN" sz="1100">
                          <a:solidFill>
                            <a:srgbClr val="000000"/>
                          </a:solidFill>
                          <a:latin typeface="+mn-ea"/>
                        </a:rPr>
                        <a:t>收益多元化程度；容量电价获取能力；辅助服务市场准入；收益波动率</a:t>
                      </a:r>
                      <a:endParaRPr lang="zh-CN" sz="1100">
                        <a:solidFill>
                          <a:srgbClr val="000000"/>
                        </a:solidFill>
                        <a:latin typeface="+mn-ea"/>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F3F8EF"/>
                    </a:solidFill>
                  </a:tcPr>
                </a:tc>
              </a:tr>
              <a:tr h="559435">
                <a:tc>
                  <a:txBody>
                    <a:bodyPr/>
                    <a:p>
                      <a:pPr marL="0" indent="0" algn="just" fontAlgn="ctr">
                        <a:spcBef>
                          <a:spcPct val="0"/>
                        </a:spcBef>
                        <a:spcAft>
                          <a:spcPct val="0"/>
                        </a:spcAft>
                      </a:pPr>
                      <a:r>
                        <a:rPr lang="en-US" altLang="zh-CN" sz="1100">
                          <a:solidFill>
                            <a:srgbClr val="000000"/>
                          </a:solidFill>
                          <a:latin typeface="+mn-ea"/>
                          <a:cs typeface="+mn-ea"/>
                        </a:rPr>
                        <a:t>E</a:t>
                      </a:r>
                      <a:r>
                        <a:rPr lang="zh-CN" sz="1100">
                          <a:solidFill>
                            <a:srgbClr val="000000"/>
                          </a:solidFill>
                          <a:latin typeface="+mn-ea"/>
                          <a:cs typeface="+mn-ea"/>
                        </a:rPr>
                        <a:t>环境</a:t>
                      </a:r>
                      <a:endParaRPr lang="zh-CN" sz="1100">
                        <a:solidFill>
                          <a:srgbClr val="000000"/>
                        </a:solidFill>
                        <a:latin typeface="+mn-ea"/>
                        <a:cs typeface="+mn-ea"/>
                      </a:endParaRPr>
                    </a:p>
                  </a:txBody>
                  <a:tcPr marL="68580" marR="68580" marT="0" marB="0"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A9BD70"/>
                      </a:solidFill>
                      <a:prstDash val="solid"/>
                      <a:headEnd type="none" w="med" len="med"/>
                      <a:tailEnd type="none" w="med" len="med"/>
                    </a:lnB>
                    <a:solidFill>
                      <a:srgbClr val="FBFDF9"/>
                    </a:solidFill>
                  </a:tcPr>
                </a:tc>
                <a:tc>
                  <a:txBody>
                    <a:bodyPr/>
                    <a:p>
                      <a:pPr marL="0" indent="0" algn="just" fontAlgn="ctr">
                        <a:spcBef>
                          <a:spcPct val="0"/>
                        </a:spcBef>
                        <a:spcAft>
                          <a:spcPct val="0"/>
                        </a:spcAft>
                      </a:pPr>
                      <a:r>
                        <a:rPr lang="en-US" altLang="zh-CN" sz="1100">
                          <a:solidFill>
                            <a:srgbClr val="000000"/>
                          </a:solidFill>
                          <a:latin typeface="+mn-ea"/>
                          <a:cs typeface="+mn-ea"/>
                        </a:rPr>
                        <a:t>CCER</a:t>
                      </a:r>
                      <a:r>
                        <a:rPr lang="zh-CN" sz="1100">
                          <a:solidFill>
                            <a:srgbClr val="000000"/>
                          </a:solidFill>
                          <a:latin typeface="+mn-ea"/>
                          <a:cs typeface="+mn-ea"/>
                        </a:rPr>
                        <a:t>年均核发量（</a:t>
                      </a:r>
                      <a:r>
                        <a:rPr lang="en-US" altLang="zh-CN" sz="1100">
                          <a:solidFill>
                            <a:srgbClr val="000000"/>
                          </a:solidFill>
                          <a:latin typeface="+mn-ea"/>
                          <a:cs typeface="+mn-ea"/>
                        </a:rPr>
                        <a:t>tCO₂</a:t>
                      </a:r>
                      <a:r>
                        <a:rPr lang="zh-CN" sz="1100">
                          <a:solidFill>
                            <a:srgbClr val="000000"/>
                          </a:solidFill>
                          <a:latin typeface="+mn-ea"/>
                          <a:cs typeface="+mn-ea"/>
                        </a:rPr>
                        <a:t>）；绿证年均交易收益；</a:t>
                      </a:r>
                      <a:r>
                        <a:rPr lang="en-US" altLang="zh-CN" sz="1100">
                          <a:solidFill>
                            <a:srgbClr val="000000"/>
                          </a:solidFill>
                          <a:latin typeface="+mn-ea"/>
                          <a:cs typeface="+mn-ea"/>
                        </a:rPr>
                        <a:t>ESG</a:t>
                      </a:r>
                      <a:r>
                        <a:rPr lang="zh-CN" sz="1100">
                          <a:solidFill>
                            <a:srgbClr val="000000"/>
                          </a:solidFill>
                          <a:latin typeface="+mn-ea"/>
                          <a:cs typeface="+mn-ea"/>
                        </a:rPr>
                        <a:t>评级溢价</a:t>
                      </a:r>
                      <a:endParaRPr lang="zh-CN" sz="1100">
                        <a:solidFill>
                          <a:srgbClr val="000000"/>
                        </a:solidFill>
                        <a:latin typeface="+mn-ea"/>
                        <a:cs typeface="+mn-ea"/>
                      </a:endParaRPr>
                    </a:p>
                  </a:txBody>
                  <a:tcPr marL="68580" marR="68580" marT="0" marB="0" anchor="ctr" anchorCtr="0">
                    <a:lnL w="6350" cap="flat" cmpd="sng">
                      <a:solidFill>
                        <a:srgbClr val="FFFFFF"/>
                      </a:solidFill>
                      <a:prstDash val="solid"/>
                      <a:headEnd type="none" w="med" len="med"/>
                      <a:tailEnd type="none" w="med" len="med"/>
                    </a:lnL>
                    <a:lnR>
                      <a:noFill/>
                    </a:lnR>
                    <a:lnT w="12700" cap="flat" cmpd="sng">
                      <a:solidFill>
                        <a:srgbClr val="FFFFFF"/>
                      </a:solidFill>
                      <a:prstDash val="solid"/>
                      <a:headEnd type="none" w="med" len="med"/>
                      <a:tailEnd type="none" w="med" len="med"/>
                    </a:lnT>
                    <a:lnB w="12700" cap="flat" cmpd="sng">
                      <a:solidFill>
                        <a:srgbClr val="A9BD70"/>
                      </a:solidFill>
                      <a:prstDash val="solid"/>
                      <a:headEnd type="none" w="med" len="med"/>
                      <a:tailEnd type="none" w="med" len="med"/>
                    </a:lnB>
                    <a:solidFill>
                      <a:srgbClr val="FBFDF9"/>
                    </a:solidFill>
                  </a:tcPr>
                </a:tc>
              </a:tr>
            </a:tbl>
          </a:graphicData>
        </a:graphic>
      </p:graphicFrame>
      <p:sp>
        <p:nvSpPr>
          <p:cNvPr id="451" name="矩形 450"/>
          <p:cNvSpPr/>
          <p:nvPr/>
        </p:nvSpPr>
        <p:spPr>
          <a:xfrm>
            <a:off x="849508" y="3500503"/>
            <a:ext cx="1174389" cy="285092"/>
          </a:xfrm>
          <a:prstGeom prst="rect">
            <a:avLst/>
          </a:prstGeom>
          <a:solidFill>
            <a:srgbClr val="739719"/>
          </a:solidFill>
          <a:ln>
            <a:noFill/>
          </a:ln>
          <a:effectLst>
            <a:outerShdw blurRad="381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sz="1400" b="1" dirty="0">
                <a:latin typeface="微软雅黑" panose="020B0503020204020204" pitchFamily="34" charset="-122"/>
                <a:ea typeface="微软雅黑" panose="020B0503020204020204" pitchFamily="34" charset="-122"/>
              </a:rPr>
              <a:t>核心</a:t>
            </a:r>
            <a:r>
              <a:rPr lang="zh-CN" altLang="en-US" sz="1400" b="1" dirty="0">
                <a:latin typeface="微软雅黑" panose="020B0503020204020204" pitchFamily="34" charset="-122"/>
                <a:ea typeface="微软雅黑" panose="020B0503020204020204" pitchFamily="34" charset="-122"/>
              </a:rPr>
              <a:t>子指标</a:t>
            </a:r>
            <a:endParaRPr lang="zh-CN" altLang="en-US" sz="1400" b="1" dirty="0">
              <a:latin typeface="微软雅黑" panose="020B0503020204020204" pitchFamily="34" charset="-122"/>
              <a:ea typeface="微软雅黑" panose="020B0503020204020204" pitchFamily="34" charset="-122"/>
            </a:endParaRPr>
          </a:p>
        </p:txBody>
      </p:sp>
      <p:cxnSp>
        <p:nvCxnSpPr>
          <p:cNvPr id="459" name="直接连接符 458"/>
          <p:cNvCxnSpPr/>
          <p:nvPr/>
        </p:nvCxnSpPr>
        <p:spPr>
          <a:xfrm>
            <a:off x="2023485" y="3804540"/>
            <a:ext cx="2557812"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4566920" y="1131570"/>
            <a:ext cx="12065" cy="5204460"/>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sp>
        <p:nvSpPr>
          <p:cNvPr id="59" name="文本框 58"/>
          <p:cNvSpPr txBox="1"/>
          <p:nvPr/>
        </p:nvSpPr>
        <p:spPr>
          <a:xfrm>
            <a:off x="810883" y="501656"/>
            <a:ext cx="11127116" cy="337185"/>
          </a:xfrm>
          <a:prstGeom prst="rect">
            <a:avLst/>
          </a:prstGeom>
          <a:noFill/>
        </p:spPr>
        <p:txBody>
          <a:bodyPr wrap="square" rtlCol="0">
            <a:spAutoFit/>
          </a:bodyPr>
          <a:p>
            <a:r>
              <a:rPr lang="zh-CN" altLang="en-US" sz="1600" b="1" dirty="0">
                <a:latin typeface="微软雅黑" panose="020B0503020204020204" pitchFamily="34" charset="-122"/>
                <a:ea typeface="微软雅黑" panose="020B0503020204020204" pitchFamily="34" charset="-122"/>
              </a:rPr>
              <a:t>一种面向储能资产的多维信用评价体系</a:t>
            </a:r>
            <a:endParaRPr lang="zh-CN" altLang="en-US" sz="1600" b="1" dirty="0">
              <a:latin typeface="微软雅黑" panose="020B0503020204020204" pitchFamily="34" charset="-122"/>
              <a:ea typeface="微软雅黑" panose="020B0503020204020204" pitchFamily="34" charset="-122"/>
            </a:endParaRPr>
          </a:p>
        </p:txBody>
      </p:sp>
      <p:pic>
        <p:nvPicPr>
          <p:cNvPr id="13" name="图片 12"/>
          <p:cNvPicPr>
            <a:picLocks noChangeAspect="1"/>
          </p:cNvPicPr>
          <p:nvPr/>
        </p:nvPicPr>
        <p:blipFill>
          <a:blip r:embed="rId7"/>
          <a:srcRect r="58661" b="-19708"/>
          <a:stretch>
            <a:fillRect/>
          </a:stretch>
        </p:blipFill>
        <p:spPr>
          <a:xfrm>
            <a:off x="5046980" y="2045335"/>
            <a:ext cx="1363345" cy="272415"/>
          </a:xfrm>
          <a:prstGeom prst="rect">
            <a:avLst/>
          </a:prstGeom>
        </p:spPr>
      </p:pic>
      <p:pic>
        <p:nvPicPr>
          <p:cNvPr id="14" name="图片 13"/>
          <p:cNvPicPr>
            <a:picLocks noChangeAspect="1"/>
          </p:cNvPicPr>
          <p:nvPr/>
        </p:nvPicPr>
        <p:blipFill>
          <a:blip r:embed="rId1"/>
          <a:srcRect l="70455" t="-34615" r="10030" b="-10702"/>
          <a:stretch>
            <a:fillRect/>
          </a:stretch>
        </p:blipFill>
        <p:spPr>
          <a:xfrm>
            <a:off x="5523865" y="1490345"/>
            <a:ext cx="635000" cy="327660"/>
          </a:xfrm>
          <a:prstGeom prst="rect">
            <a:avLst/>
          </a:prstGeom>
        </p:spPr>
      </p:pic>
      <mc:AlternateContent xmlns:mc="http://schemas.openxmlformats.org/markup-compatibility/2006">
        <mc:Choice xmlns:a14="http://schemas.microsoft.com/office/drawing/2010/main" Requires="a14">
          <p:sp>
            <p:nvSpPr>
              <p:cNvPr id="16" name="文本框 15"/>
              <p:cNvSpPr txBox="1"/>
              <p:nvPr/>
            </p:nvSpPr>
            <p:spPr>
              <a:xfrm>
                <a:off x="4827905" y="1818005"/>
                <a:ext cx="2193925" cy="283210"/>
              </a:xfrm>
              <a:prstGeom prst="rect">
                <a:avLst/>
              </a:prstGeom>
            </p:spPr>
            <p:txBody>
              <a:bodyPr wrap="square">
                <a:noAutofit/>
              </a:bodyPr>
              <a:p>
                <a:pPr marL="0" indent="356870" algn="just" defTabSz="266700">
                  <a:spcBef>
                    <a:spcPct val="0"/>
                  </a:spcBef>
                  <a:spcAft>
                    <a:spcPct val="0"/>
                  </a:spcAft>
                </a:pPr>
                <a14:m>
                  <m:oMath xmlns:m="http://schemas.openxmlformats.org/officeDocument/2006/math">
                    <m:r>
                      <a:rPr lang="en-US" altLang="zh-CN" sz="1200" i="1">
                        <a:latin typeface="Cambria Math" panose="02040503050406030204" pitchFamily="18" charset="0"/>
                        <a:cs typeface="Cambria Math" panose="02040503050406030204" pitchFamily="18" charset="0"/>
                      </a:rPr>
                      <m:t>𝜔</m:t>
                    </m:r>
                  </m:oMath>
                </a14:m>
                <a:r>
                  <a:rPr lang="en-US" altLang="zh-CN" sz="1200">
                    <a:latin typeface="+mn-ea"/>
                  </a:rPr>
                  <a:t> </a:t>
                </a:r>
                <a:r>
                  <a:rPr lang="zh-CN" altLang="en-US" sz="1000">
                    <a:latin typeface="+mn-ea"/>
                  </a:rPr>
                  <a:t>代表每个维度的评分权重</a:t>
                </a:r>
                <a:endParaRPr lang="zh-CN" altLang="en-US" sz="1000">
                  <a:latin typeface="+mn-ea"/>
                </a:endParaRPr>
              </a:p>
            </p:txBody>
          </p:sp>
        </mc:Choice>
        <mc:Fallback>
          <p:sp>
            <p:nvSpPr>
              <p:cNvPr id="16" name="文本框 15"/>
              <p:cNvSpPr txBox="1">
                <a:spLocks noRot="1" noChangeAspect="1" noMove="1" noResize="1" noEditPoints="1" noAdjustHandles="1" noChangeArrowheads="1" noChangeShapeType="1" noTextEdit="1"/>
              </p:cNvSpPr>
              <p:nvPr/>
            </p:nvSpPr>
            <p:spPr>
              <a:xfrm>
                <a:off x="4827905" y="1818005"/>
                <a:ext cx="2193925" cy="283210"/>
              </a:xfrm>
              <a:prstGeom prst="rect">
                <a:avLst/>
              </a:prstGeom>
              <a:blipFill rotWithShape="1">
                <a:blip r:embed="rId8"/>
                <a:stretch>
                  <a:fillRect/>
                </a:stretch>
              </a:blipFill>
            </p:spPr>
            <p:txBody>
              <a:bodyPr/>
              <a:lstStyle/>
              <a:p>
                <a:r>
                  <a:rPr lang="zh-CN" altLang="en-US">
                    <a:noFill/>
                  </a:rPr>
                  <a:t> </a:t>
                </a:r>
              </a:p>
            </p:txBody>
          </p:sp>
        </mc:Fallback>
      </mc:AlternateContent>
      <p:pic>
        <p:nvPicPr>
          <p:cNvPr id="17" name="图片 16"/>
          <p:cNvPicPr>
            <a:picLocks noChangeAspect="1"/>
          </p:cNvPicPr>
          <p:nvPr/>
        </p:nvPicPr>
        <p:blipFill>
          <a:blip r:embed="rId7"/>
          <a:srcRect l="41339" t="-16423" r="9639" b="-16792"/>
          <a:stretch>
            <a:fillRect/>
          </a:stretch>
        </p:blipFill>
        <p:spPr>
          <a:xfrm>
            <a:off x="5553075" y="2231390"/>
            <a:ext cx="1614805" cy="302260"/>
          </a:xfrm>
          <a:prstGeom prst="rect">
            <a:avLst/>
          </a:prstGeom>
        </p:spPr>
      </p:pic>
      <p:pic>
        <p:nvPicPr>
          <p:cNvPr id="18" name="图片 17"/>
          <p:cNvPicPr>
            <a:picLocks noChangeAspect="1"/>
          </p:cNvPicPr>
          <p:nvPr/>
        </p:nvPicPr>
        <p:blipFill>
          <a:blip r:embed="rId9"/>
          <a:srcRect r="16424" b="-14268"/>
          <a:stretch>
            <a:fillRect/>
          </a:stretch>
        </p:blipFill>
        <p:spPr>
          <a:xfrm>
            <a:off x="5341620" y="3224530"/>
            <a:ext cx="1861185" cy="579755"/>
          </a:xfrm>
          <a:prstGeom prst="rect">
            <a:avLst/>
          </a:prstGeom>
        </p:spPr>
      </p:pic>
      <mc:AlternateContent xmlns:mc="http://schemas.openxmlformats.org/markup-compatibility/2006">
        <mc:Choice xmlns:a14="http://schemas.microsoft.com/office/drawing/2010/main" Requires="a14">
          <p:sp>
            <p:nvSpPr>
              <p:cNvPr id="19" name="文本框 18"/>
              <p:cNvSpPr txBox="1"/>
              <p:nvPr/>
            </p:nvSpPr>
            <p:spPr>
              <a:xfrm>
                <a:off x="5069840" y="3804285"/>
                <a:ext cx="2197735" cy="611505"/>
              </a:xfrm>
              <a:prstGeom prst="rect">
                <a:avLst/>
              </a:prstGeom>
              <a:noFill/>
            </p:spPr>
            <p:txBody>
              <a:bodyPr wrap="square" rtlCol="0">
                <a:noAutofit/>
              </a:bodyPr>
              <a:p>
                <a:pPr>
                  <a:lnSpc>
                    <a:spcPct val="120000"/>
                  </a:lnSpc>
                </a:pPr>
                <a14:m>
                  <m:oMath xmlns:m="http://schemas.openxmlformats.org/officeDocument/2006/math">
                    <m:sSub>
                      <m:sSubPr>
                        <m:ctrlPr>
                          <a:rPr lang="en-US" altLang="zh-CN" sz="1200" i="1">
                            <a:latin typeface="Cambria Math" panose="02040503050406030204" pitchFamily="18" charset="0"/>
                            <a:cs typeface="Cambria Math" panose="02040503050406030204" pitchFamily="18" charset="0"/>
                          </a:rPr>
                        </m:ctrlPr>
                      </m:sSubPr>
                      <m:e>
                        <m:r>
                          <a:rPr lang="en-US" altLang="zh-CN" sz="1200" i="1">
                            <a:latin typeface="Cambria Math" panose="02040503050406030204" pitchFamily="18" charset="0"/>
                            <a:cs typeface="Cambria Math" panose="02040503050406030204" pitchFamily="18" charset="0"/>
                          </a:rPr>
                          <m:t>𝑋</m:t>
                        </m:r>
                      </m:e>
                      <m:sub>
                        <m:r>
                          <a:rPr lang="en-US" altLang="zh-CN" sz="1200" i="1">
                            <a:latin typeface="Cambria Math" panose="02040503050406030204" pitchFamily="18" charset="0"/>
                            <a:cs typeface="Cambria Math" panose="02040503050406030204" pitchFamily="18" charset="0"/>
                          </a:rPr>
                          <m:t>𝑖</m:t>
                        </m:r>
                      </m:sub>
                    </m:sSub>
                  </m:oMath>
                </a14:m>
                <a:r>
                  <a:rPr lang="en-US" altLang="zh-CN" sz="1200">
                    <a:latin typeface="+mn-ea"/>
                  </a:rPr>
                  <a:t> </a:t>
                </a:r>
                <a:r>
                  <a:rPr lang="zh-CN" altLang="en-US" sz="1000">
                    <a:latin typeface="+mn-ea"/>
                  </a:rPr>
                  <a:t>为各指标实际评分</a:t>
                </a:r>
                <a:endParaRPr lang="zh-CN" altLang="en-US" sz="1000">
                  <a:latin typeface="+mn-ea"/>
                </a:endParaRPr>
              </a:p>
              <a:p>
                <a:pPr>
                  <a:lnSpc>
                    <a:spcPct val="120000"/>
                  </a:lnSpc>
                </a:pPr>
                <a14:m>
                  <m:oMath xmlns:m="http://schemas.openxmlformats.org/officeDocument/2006/math">
                    <m:sSub>
                      <m:sSubPr>
                        <m:ctrlPr>
                          <a:rPr lang="en-US" altLang="zh-CN" sz="1200" i="1">
                            <a:latin typeface="Cambria Math" panose="02040503050406030204" pitchFamily="18" charset="0"/>
                            <a:cs typeface="Cambria Math" panose="02040503050406030204" pitchFamily="18" charset="0"/>
                          </a:rPr>
                        </m:ctrlPr>
                      </m:sSubPr>
                      <m:e>
                        <m:r>
                          <a:rPr lang="en-US" altLang="zh-CN" sz="1200" i="1">
                            <a:latin typeface="Cambria Math" panose="02040503050406030204" pitchFamily="18" charset="0"/>
                            <a:cs typeface="Cambria Math" panose="02040503050406030204" pitchFamily="18" charset="0"/>
                          </a:rPr>
                          <m:t>𝑋</m:t>
                        </m:r>
                      </m:e>
                      <m:sub>
                        <m:r>
                          <a:rPr lang="en-US" altLang="zh-CN" sz="1200" i="1">
                            <a:latin typeface="Cambria Math" panose="02040503050406030204" pitchFamily="18" charset="0"/>
                            <a:cs typeface="Cambria Math" panose="02040503050406030204" pitchFamily="18" charset="0"/>
                          </a:rPr>
                          <m:t>𝑚𝑖𝑛</m:t>
                        </m:r>
                      </m:sub>
                    </m:sSub>
                  </m:oMath>
                </a14:m>
                <a:r>
                  <a:rPr lang="en-US" altLang="zh-CN" sz="1000">
                    <a:latin typeface="+mn-ea"/>
                  </a:rPr>
                  <a:t> </a:t>
                </a:r>
                <a:r>
                  <a:rPr lang="zh-CN" altLang="en-US" sz="1000">
                    <a:latin typeface="+mn-ea"/>
                  </a:rPr>
                  <a:t>为该指标所有结果的最小值</a:t>
                </a:r>
                <a:endParaRPr lang="zh-CN" altLang="en-US" sz="1000">
                  <a:latin typeface="+mn-ea"/>
                </a:endParaRPr>
              </a:p>
              <a:p>
                <a:pPr>
                  <a:lnSpc>
                    <a:spcPct val="120000"/>
                  </a:lnSpc>
                </a:pPr>
                <a14:m>
                  <m:oMath xmlns:m="http://schemas.openxmlformats.org/officeDocument/2006/math">
                    <m:sSub>
                      <m:sSubPr>
                        <m:ctrlPr>
                          <a:rPr lang="en-US" altLang="zh-CN" sz="1200" i="1">
                            <a:latin typeface="Cambria Math" panose="02040503050406030204" pitchFamily="18" charset="0"/>
                            <a:cs typeface="Cambria Math" panose="02040503050406030204" pitchFamily="18" charset="0"/>
                          </a:rPr>
                        </m:ctrlPr>
                      </m:sSubPr>
                      <m:e>
                        <m:r>
                          <a:rPr lang="en-US" altLang="zh-CN" sz="1200" i="1">
                            <a:latin typeface="Cambria Math" panose="02040503050406030204" pitchFamily="18" charset="0"/>
                            <a:cs typeface="Cambria Math" panose="02040503050406030204" pitchFamily="18" charset="0"/>
                          </a:rPr>
                          <m:t>𝑋</m:t>
                        </m:r>
                      </m:e>
                      <m:sub>
                        <m:r>
                          <a:rPr lang="en-US" altLang="zh-CN" sz="1200" i="1">
                            <a:latin typeface="Cambria Math" panose="02040503050406030204" pitchFamily="18" charset="0"/>
                            <a:cs typeface="Cambria Math" panose="02040503050406030204" pitchFamily="18" charset="0"/>
                          </a:rPr>
                          <m:t>𝑚𝑎𝑥</m:t>
                        </m:r>
                      </m:sub>
                    </m:sSub>
                  </m:oMath>
                </a14:m>
                <a:r>
                  <a:rPr lang="en-US" altLang="zh-CN" sz="1200">
                    <a:latin typeface="+mn-ea"/>
                  </a:rPr>
                  <a:t> </a:t>
                </a:r>
                <a:r>
                  <a:rPr lang="zh-CN" altLang="en-US" sz="1000">
                    <a:latin typeface="+mn-ea"/>
                  </a:rPr>
                  <a:t>为该指标所有结果的最大值</a:t>
                </a:r>
                <a:endParaRPr lang="zh-CN" altLang="en-US" sz="1000">
                  <a:latin typeface="+mn-ea"/>
                </a:endParaRPr>
              </a:p>
            </p:txBody>
          </p:sp>
        </mc:Choice>
        <mc:Fallback>
          <p:sp>
            <p:nvSpPr>
              <p:cNvPr id="19" name="文本框 18"/>
              <p:cNvSpPr txBox="1">
                <a:spLocks noRot="1" noChangeAspect="1" noMove="1" noResize="1" noEditPoints="1" noAdjustHandles="1" noChangeArrowheads="1" noChangeShapeType="1" noTextEdit="1"/>
              </p:cNvSpPr>
              <p:nvPr/>
            </p:nvSpPr>
            <p:spPr>
              <a:xfrm>
                <a:off x="5069840" y="3804285"/>
                <a:ext cx="2197735" cy="611505"/>
              </a:xfrm>
              <a:prstGeom prst="rect">
                <a:avLst/>
              </a:prstGeom>
              <a:blipFill rotWithShape="1">
                <a:blip r:embed="rId10"/>
                <a:stretch>
                  <a:fillRect b="-14953"/>
                </a:stretch>
              </a:blipFill>
            </p:spPr>
            <p:txBody>
              <a:bodyPr/>
              <a:lstStyle/>
              <a:p>
                <a:r>
                  <a:rPr lang="zh-CN" altLang="en-US">
                    <a:noFill/>
                  </a:rPr>
                  <a:t> </a:t>
                </a:r>
              </a:p>
            </p:txBody>
          </p:sp>
        </mc:Fallback>
      </mc:AlternateContent>
      <p:pic>
        <p:nvPicPr>
          <p:cNvPr id="25" name="图片 24"/>
          <p:cNvPicPr>
            <a:picLocks noChangeAspect="1"/>
          </p:cNvPicPr>
          <p:nvPr/>
        </p:nvPicPr>
        <p:blipFill>
          <a:blip r:embed="rId11"/>
          <a:srcRect r="13158" b="-12353"/>
          <a:stretch>
            <a:fillRect/>
          </a:stretch>
        </p:blipFill>
        <p:spPr>
          <a:xfrm>
            <a:off x="5255895" y="5173980"/>
            <a:ext cx="2011680" cy="242570"/>
          </a:xfrm>
          <a:prstGeom prst="rect">
            <a:avLst/>
          </a:prstGeom>
        </p:spPr>
      </p:pic>
      <mc:AlternateContent xmlns:mc="http://schemas.openxmlformats.org/markup-compatibility/2006">
        <mc:Choice xmlns:a14="http://schemas.microsoft.com/office/drawing/2010/main" Requires="a14">
          <p:sp>
            <p:nvSpPr>
              <p:cNvPr id="28" name="文本框 27"/>
              <p:cNvSpPr txBox="1"/>
              <p:nvPr/>
            </p:nvSpPr>
            <p:spPr>
              <a:xfrm>
                <a:off x="5011420" y="5568950"/>
                <a:ext cx="2351405" cy="801370"/>
              </a:xfrm>
              <a:prstGeom prst="rect">
                <a:avLst/>
              </a:prstGeom>
              <a:noFill/>
            </p:spPr>
            <p:txBody>
              <a:bodyPr wrap="square" rtlCol="0">
                <a:spAutoFit/>
              </a:bodyPr>
              <a:p>
                <a:pPr>
                  <a:lnSpc>
                    <a:spcPct val="110000"/>
                  </a:lnSpc>
                </a:pPr>
                <a:r>
                  <a:rPr lang="en-US" altLang="zh-CN" sz="1000">
                    <a:latin typeface="+mn-ea"/>
                  </a:rPr>
                  <a:t> </a:t>
                </a:r>
                <a:r>
                  <a:rPr lang="en-US" altLang="zh-CN" sz="1200">
                    <a:latin typeface="+mn-ea"/>
                  </a:rPr>
                  <a:t> </a:t>
                </a:r>
                <a14:m>
                  <m:oMath xmlns:m="http://schemas.openxmlformats.org/officeDocument/2006/math">
                    <m:sSub>
                      <m:sSubPr>
                        <m:ctrlPr>
                          <a:rPr lang="en-US" altLang="zh-CN" sz="1200" i="1">
                            <a:latin typeface="Cambria Math" panose="02040503050406030204" pitchFamily="18" charset="0"/>
                            <a:cs typeface="Cambria Math" panose="02040503050406030204" pitchFamily="18" charset="0"/>
                          </a:rPr>
                        </m:ctrlPr>
                      </m:sSubPr>
                      <m:e>
                        <m:r>
                          <a:rPr lang="en-US" altLang="zh-CN" sz="1200" i="1">
                            <a:latin typeface="Cambria Math" panose="02040503050406030204" pitchFamily="18" charset="0"/>
                            <a:cs typeface="Cambria Math" panose="02040503050406030204" pitchFamily="18" charset="0"/>
                          </a:rPr>
                          <m:t>𝜎</m:t>
                        </m:r>
                      </m:e>
                      <m:sub>
                        <m:r>
                          <a:rPr lang="en-US" altLang="zh-CN" sz="1200" i="1">
                            <a:latin typeface="Cambria Math" panose="02040503050406030204" pitchFamily="18" charset="0"/>
                            <a:cs typeface="Cambria Math" panose="02040503050406030204" pitchFamily="18" charset="0"/>
                          </a:rPr>
                          <m:t>𝑟𝑒𝑣𝑒𝑛𝑢𝑒</m:t>
                        </m:r>
                      </m:sub>
                    </m:sSub>
                  </m:oMath>
                </a14:m>
                <a:r>
                  <a:rPr lang="zh-CN" altLang="en-US" sz="1000">
                    <a:latin typeface="+mn-ea"/>
                  </a:rPr>
                  <a:t>为项目收益标准差，这是基于乐观、基准和悲观三情景进行现金流序列估算。</a:t>
                </a:r>
                <a:endParaRPr lang="zh-CN" altLang="en-US" sz="1000">
                  <a:latin typeface="+mn-ea"/>
                </a:endParaRPr>
              </a:p>
              <a:p>
                <a:pPr>
                  <a:lnSpc>
                    <a:spcPct val="110000"/>
                  </a:lnSpc>
                </a:pPr>
                <a:r>
                  <a:rPr lang="zh-CN" altLang="en-US" sz="1000">
                    <a:latin typeface="+mn-ea"/>
                  </a:rPr>
                  <a:t>λ 为风险厌恶系数（默认 λ = 0.5)</a:t>
                </a:r>
                <a:endParaRPr lang="zh-CN" altLang="en-US" sz="1000">
                  <a:latin typeface="+mn-ea"/>
                </a:endParaRPr>
              </a:p>
            </p:txBody>
          </p:sp>
        </mc:Choice>
        <mc:Fallback>
          <p:sp>
            <p:nvSpPr>
              <p:cNvPr id="28" name="文本框 27"/>
              <p:cNvSpPr txBox="1">
                <a:spLocks noRot="1" noChangeAspect="1" noMove="1" noResize="1" noEditPoints="1" noAdjustHandles="1" noChangeArrowheads="1" noChangeShapeType="1" noTextEdit="1"/>
              </p:cNvSpPr>
              <p:nvPr/>
            </p:nvSpPr>
            <p:spPr>
              <a:xfrm>
                <a:off x="5011420" y="5568950"/>
                <a:ext cx="2351405" cy="801370"/>
              </a:xfrm>
              <a:prstGeom prst="rect">
                <a:avLst/>
              </a:prstGeom>
              <a:blipFill rotWithShape="1">
                <a:blip r:embed="rId12"/>
                <a:stretch>
                  <a:fillRect/>
                </a:stretch>
              </a:blipFill>
            </p:spPr>
            <p:txBody>
              <a:bodyPr/>
              <a:lstStyle/>
              <a:p>
                <a:r>
                  <a:rPr lang="zh-CN" altLang="en-US">
                    <a:noFill/>
                  </a:rPr>
                  <a:t> </a:t>
                </a:r>
              </a:p>
            </p:txBody>
          </p:sp>
        </mc:Fallback>
      </mc:AlternateContent>
      <p:sp>
        <p:nvSpPr>
          <p:cNvPr id="30" name="文本框 29"/>
          <p:cNvSpPr txBox="1"/>
          <p:nvPr/>
        </p:nvSpPr>
        <p:spPr>
          <a:xfrm>
            <a:off x="7938135" y="2017395"/>
            <a:ext cx="2193290" cy="245110"/>
          </a:xfrm>
          <a:prstGeom prst="rect">
            <a:avLst/>
          </a:prstGeom>
        </p:spPr>
        <p:txBody>
          <a:bodyPr wrap="square">
            <a:spAutoFit/>
          </a:bodyPr>
          <a:p>
            <a:pPr marL="0" indent="0"/>
            <a:r>
              <a:rPr lang="zh-CN" altLang="en-US" sz="1000" b="0" i="0">
                <a:solidFill>
                  <a:srgbClr val="007770"/>
                </a:solidFill>
                <a:latin typeface="黑体" panose="02010609060101010101" pitchFamily="49" charset="-122"/>
                <a:ea typeface="黑体" panose="02010609060101010101" pitchFamily="49" charset="-122"/>
                <a:cs typeface="黑体" panose="02010609060101010101" pitchFamily="49" charset="-122"/>
              </a:rPr>
              <a:t>高信用</a:t>
            </a:r>
            <a:r>
              <a:rPr lang="en-US" altLang="zh-CN" sz="1000" b="0" i="0">
                <a:solidFill>
                  <a:srgbClr val="007770"/>
                </a:solidFill>
                <a:latin typeface="黑体" panose="02010609060101010101" pitchFamily="49" charset="-122"/>
                <a:ea typeface="黑体" panose="02010609060101010101" pitchFamily="49" charset="-122"/>
                <a:cs typeface="黑体" panose="02010609060101010101" pitchFamily="49" charset="-122"/>
              </a:rPr>
              <a:t> → </a:t>
            </a:r>
            <a:r>
              <a:rPr lang="zh-CN" altLang="en-US" sz="1000" b="0" i="0">
                <a:solidFill>
                  <a:srgbClr val="007770"/>
                </a:solidFill>
                <a:latin typeface="黑体" panose="02010609060101010101" pitchFamily="49" charset="-122"/>
                <a:ea typeface="黑体" panose="02010609060101010101" pitchFamily="49" charset="-122"/>
                <a:cs typeface="黑体" panose="02010609060101010101" pitchFamily="49" charset="-122"/>
              </a:rPr>
              <a:t>低融资成本</a:t>
            </a:r>
            <a:endParaRPr lang="zh-CN" altLang="en-US" sz="1000" b="0" i="0">
              <a:solidFill>
                <a:srgbClr val="007770"/>
              </a:solidFill>
              <a:latin typeface="黑体" panose="02010609060101010101" pitchFamily="49" charset="-122"/>
              <a:ea typeface="黑体" panose="02010609060101010101" pitchFamily="49" charset="-122"/>
              <a:cs typeface="黑体" panose="02010609060101010101" pitchFamily="49" charset="-122"/>
            </a:endParaRPr>
          </a:p>
        </p:txBody>
      </p:sp>
      <p:sp>
        <p:nvSpPr>
          <p:cNvPr id="3" name="矩形 2"/>
          <p:cNvSpPr/>
          <p:nvPr/>
        </p:nvSpPr>
        <p:spPr>
          <a:xfrm>
            <a:off x="-12700" y="3501019"/>
            <a:ext cx="431321" cy="966158"/>
          </a:xfrm>
          <a:prstGeom prst="rect">
            <a:avLst/>
          </a:prstGeom>
          <a:solidFill>
            <a:srgbClr val="3059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F7F7F"/>
              </a:solidFill>
            </a:endParaRPr>
          </a:p>
        </p:txBody>
      </p:sp>
      <p:sp>
        <p:nvSpPr>
          <p:cNvPr id="4" name="矩形 3"/>
          <p:cNvSpPr/>
          <p:nvPr/>
        </p:nvSpPr>
        <p:spPr>
          <a:xfrm>
            <a:off x="-6350" y="2338334"/>
            <a:ext cx="431321" cy="966158"/>
          </a:xfrm>
          <a:prstGeom prst="rect">
            <a:avLst/>
          </a:prstGeom>
          <a:solidFill>
            <a:srgbClr val="7F7F7F"/>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6350" y="1185174"/>
            <a:ext cx="431321" cy="966158"/>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noFill/>
              </a:ln>
              <a:solidFill>
                <a:srgbClr val="7F7F7F"/>
              </a:solidFill>
            </a:endParaRPr>
          </a:p>
        </p:txBody>
      </p:sp>
      <p:sp>
        <p:nvSpPr>
          <p:cNvPr id="67" name="文本框 66"/>
          <p:cNvSpPr txBox="1"/>
          <p:nvPr/>
        </p:nvSpPr>
        <p:spPr>
          <a:xfrm rot="16200000">
            <a:off x="-295536" y="3815604"/>
            <a:ext cx="996991" cy="306705"/>
          </a:xfrm>
          <a:prstGeom prst="rect">
            <a:avLst/>
          </a:prstGeom>
          <a:noFill/>
        </p:spPr>
        <p:txBody>
          <a:bodyPr wrap="square" rtlCol="0">
            <a:spAutoFit/>
          </a:bodyPr>
          <a:lstStyle/>
          <a:p>
            <a:pPr algn="ctr"/>
            <a:r>
              <a:rPr lang="en-US" altLang="zh-CN" sz="1400" b="1" dirty="0">
                <a:solidFill>
                  <a:schemeClr val="bg1"/>
                </a:solidFill>
                <a:latin typeface="微软雅黑" panose="020B0503020204020204" pitchFamily="34" charset="-122"/>
                <a:ea typeface="微软雅黑" panose="020B0503020204020204" pitchFamily="34" charset="-122"/>
              </a:rPr>
              <a:t>ESCS</a:t>
            </a:r>
            <a:r>
              <a:rPr lang="zh-CN" altLang="en-US" sz="1400" b="1" dirty="0">
                <a:solidFill>
                  <a:schemeClr val="bg1"/>
                </a:solidFill>
                <a:latin typeface="微软雅黑" panose="020B0503020204020204" pitchFamily="34" charset="-122"/>
                <a:ea typeface="微软雅黑" panose="020B0503020204020204" pitchFamily="34" charset="-122"/>
              </a:rPr>
              <a:t>模型</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68" name="文本框 67"/>
          <p:cNvSpPr txBox="1"/>
          <p:nvPr/>
        </p:nvSpPr>
        <p:spPr>
          <a:xfrm rot="16200000">
            <a:off x="-295536" y="2667524"/>
            <a:ext cx="996991" cy="306705"/>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行业机会</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69" name="文本框 68"/>
          <p:cNvSpPr txBox="1"/>
          <p:nvPr/>
        </p:nvSpPr>
        <p:spPr>
          <a:xfrm rot="16200000">
            <a:off x="-289187" y="1537224"/>
            <a:ext cx="996991" cy="306705"/>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行业</a:t>
            </a:r>
            <a:r>
              <a:rPr lang="zh-CN" altLang="en-US" sz="1400" b="1" dirty="0">
                <a:solidFill>
                  <a:schemeClr val="bg1"/>
                </a:solidFill>
                <a:latin typeface="微软雅黑" panose="020B0503020204020204" pitchFamily="34" charset="-122"/>
                <a:ea typeface="微软雅黑" panose="020B0503020204020204" pitchFamily="34" charset="-122"/>
              </a:rPr>
              <a:t>背景</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6" name="矩形 5"/>
          <p:cNvSpPr/>
          <p:nvPr/>
        </p:nvSpPr>
        <p:spPr>
          <a:xfrm>
            <a:off x="-6350" y="4655449"/>
            <a:ext cx="431321" cy="966158"/>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F7F7F"/>
              </a:solidFill>
            </a:endParaRPr>
          </a:p>
        </p:txBody>
      </p:sp>
      <p:sp>
        <p:nvSpPr>
          <p:cNvPr id="7" name="文本框 6"/>
          <p:cNvSpPr txBox="1"/>
          <p:nvPr/>
        </p:nvSpPr>
        <p:spPr>
          <a:xfrm rot="16200000">
            <a:off x="-289186" y="4970034"/>
            <a:ext cx="996991" cy="306705"/>
          </a:xfrm>
          <a:prstGeom prst="rect">
            <a:avLst/>
          </a:prstGeom>
          <a:noFill/>
        </p:spPr>
        <p:txBody>
          <a:bodyPr wrap="square" rtlCol="0">
            <a:spAutoFit/>
          </a:bodyPr>
          <a:lstStyle/>
          <a:p>
            <a:pPr algn="ctr"/>
            <a:r>
              <a:rPr lang="en-US" altLang="zh-CN" sz="1400" b="1" dirty="0">
                <a:solidFill>
                  <a:schemeClr val="bg1"/>
                </a:solidFill>
                <a:latin typeface="微软雅黑" panose="020B0503020204020204" pitchFamily="34" charset="-122"/>
                <a:ea typeface="微软雅黑" panose="020B0503020204020204" pitchFamily="34" charset="-122"/>
              </a:rPr>
              <a:t>ESCS</a:t>
            </a:r>
            <a:r>
              <a:rPr lang="zh-CN" altLang="en-US" sz="1400" b="1" dirty="0">
                <a:solidFill>
                  <a:schemeClr val="bg1"/>
                </a:solidFill>
                <a:latin typeface="微软雅黑" panose="020B0503020204020204" pitchFamily="34" charset="-122"/>
                <a:ea typeface="微软雅黑" panose="020B0503020204020204" pitchFamily="34" charset="-122"/>
              </a:rPr>
              <a:t>应用</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Tree>
    <p:custDataLst>
      <p:tags r:id="rId13"/>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think-cell data - do not delete" hidden="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3" imgW="3810" imgH="3810" progId="TCLayout.ActiveDocument.1">
                  <p:embed/>
                </p:oleObj>
              </mc:Choice>
              <mc:Fallback>
                <p:oleObj name="think-cell 幻灯片" r:id="rId3" imgW="3810" imgH="3810" progId="TCLayout.ActiveDocument.1">
                  <p:embed/>
                  <p:pic>
                    <p:nvPicPr>
                      <p:cNvPr id="0" name="think-cell data - do not delete"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文本占位符 3"/>
          <p:cNvSpPr/>
          <p:nvPr>
            <p:custDataLst>
              <p:tags r:id="rId5"/>
            </p:custDataLst>
          </p:nvPr>
        </p:nvSpPr>
        <p:spPr bwMode="auto">
          <a:xfrm>
            <a:off x="1647825" y="6211888"/>
            <a:ext cx="520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292BB459-4588-4049-BFCE-228E5F2E1F21}" type="datetime'''''''''''财''''''''务''''''''''''''''''''''维度'''''">
              <a:rPr lang="zh-CN" altLang="en-US" sz="1000" b="1" smtClean="0"/>
            </a:fld>
            <a:endParaRPr lang="zh-CN" altLang="en-US" sz="1000" b="1" dirty="0"/>
          </a:p>
        </p:txBody>
      </p:sp>
      <p:sp>
        <p:nvSpPr>
          <p:cNvPr id="35" name="文本占位符 3"/>
          <p:cNvSpPr/>
          <p:nvPr>
            <p:custDataLst>
              <p:tags r:id="rId6"/>
            </p:custDataLst>
          </p:nvPr>
        </p:nvSpPr>
        <p:spPr bwMode="auto">
          <a:xfrm>
            <a:off x="3736975" y="6211888"/>
            <a:ext cx="520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6F10E1D6-98A7-42CF-947E-BE52BCB974E6}" type="datetime'''''''环''''''''境''''维''''''''''''''''度'''''''''''''''">
              <a:rPr lang="zh-CN" altLang="en-US" sz="1000" b="1" smtClean="0"/>
            </a:fld>
            <a:endParaRPr lang="zh-CN" altLang="en-US" sz="1000" b="1" dirty="0"/>
          </a:p>
        </p:txBody>
      </p:sp>
      <p:sp>
        <p:nvSpPr>
          <p:cNvPr id="4" name="矩形 3"/>
          <p:cNvSpPr/>
          <p:nvPr/>
        </p:nvSpPr>
        <p:spPr>
          <a:xfrm>
            <a:off x="0" y="0"/>
            <a:ext cx="810883" cy="851140"/>
          </a:xfrm>
          <a:prstGeom prst="rect">
            <a:avLst/>
          </a:prstGeom>
          <a:solidFill>
            <a:srgbClr val="305921"/>
          </a:solidFill>
          <a:ln>
            <a:solidFill>
              <a:srgbClr val="3059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810883" y="1633"/>
            <a:ext cx="5403810" cy="583565"/>
          </a:xfrm>
          <a:prstGeom prst="rect">
            <a:avLst/>
          </a:prstGeom>
          <a:noFill/>
        </p:spPr>
        <p:txBody>
          <a:bodyPr wrap="square" rtlCol="0">
            <a:spAutoFit/>
          </a:bodyPr>
          <a:lstStyle/>
          <a:p>
            <a:r>
              <a:rPr lang="en-US" altLang="zh-CN" sz="3200" b="1" dirty="0">
                <a:solidFill>
                  <a:srgbClr val="305921"/>
                </a:solidFill>
                <a:latin typeface="微软雅黑" panose="020B0503020204020204" pitchFamily="34" charset="-122"/>
                <a:ea typeface="微软雅黑" panose="020B0503020204020204" pitchFamily="34" charset="-122"/>
                <a:cs typeface="华文宋体" panose="02010600040101010101" charset="-122"/>
              </a:rPr>
              <a:t>ESCS</a:t>
            </a:r>
            <a:r>
              <a:rPr lang="zh-CN" altLang="en-US" sz="3200" b="1" dirty="0">
                <a:solidFill>
                  <a:srgbClr val="305921"/>
                </a:solidFill>
                <a:latin typeface="微软雅黑" panose="020B0503020204020204" pitchFamily="34" charset="-122"/>
                <a:ea typeface="微软雅黑" panose="020B0503020204020204" pitchFamily="34" charset="-122"/>
                <a:cs typeface="华文宋体" panose="02010600040101010101" charset="-122"/>
              </a:rPr>
              <a:t>评分项目</a:t>
            </a:r>
            <a:r>
              <a:rPr lang="zh-CN" altLang="en-US" sz="3200" b="1" dirty="0">
                <a:solidFill>
                  <a:srgbClr val="305921"/>
                </a:solidFill>
                <a:latin typeface="微软雅黑" panose="020B0503020204020204" pitchFamily="34" charset="-122"/>
                <a:ea typeface="微软雅黑" panose="020B0503020204020204" pitchFamily="34" charset="-122"/>
                <a:cs typeface="华文宋体" panose="02010600040101010101" charset="-122"/>
              </a:rPr>
              <a:t>应用</a:t>
            </a:r>
            <a:endParaRPr lang="zh-CN" altLang="en-US" sz="3200" b="1" dirty="0">
              <a:solidFill>
                <a:srgbClr val="305921"/>
              </a:solidFill>
              <a:latin typeface="微软雅黑" panose="020B0503020204020204" pitchFamily="34" charset="-122"/>
              <a:ea typeface="微软雅黑" panose="020B0503020204020204" pitchFamily="34" charset="-122"/>
              <a:cs typeface="华文宋体" panose="02010600040101010101" charset="-122"/>
            </a:endParaRPr>
          </a:p>
        </p:txBody>
      </p:sp>
      <p:sp>
        <p:nvSpPr>
          <p:cNvPr id="59" name="文本框 58"/>
          <p:cNvSpPr txBox="1"/>
          <p:nvPr/>
        </p:nvSpPr>
        <p:spPr>
          <a:xfrm>
            <a:off x="810883" y="501656"/>
            <a:ext cx="11127116" cy="337185"/>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基准案例应用：广州某</a:t>
            </a:r>
            <a:r>
              <a:rPr lang="en-US" altLang="zh-CN" sz="1600" b="1" dirty="0">
                <a:latin typeface="微软雅黑" panose="020B0503020204020204" pitchFamily="34" charset="-122"/>
                <a:ea typeface="微软雅黑" panose="020B0503020204020204" pitchFamily="34" charset="-122"/>
              </a:rPr>
              <a:t>LFP 100MW/200MWh </a:t>
            </a:r>
            <a:r>
              <a:rPr lang="zh-CN" altLang="en-US" sz="1600" b="1" dirty="0">
                <a:latin typeface="微软雅黑" panose="020B0503020204020204" pitchFamily="34" charset="-122"/>
                <a:ea typeface="微软雅黑" panose="020B0503020204020204" pitchFamily="34" charset="-122"/>
              </a:rPr>
              <a:t>电网侧独立储能电站</a:t>
            </a:r>
            <a:r>
              <a:rPr lang="en-US" altLang="zh-CN" sz="1600" b="1" dirty="0">
                <a:latin typeface="微软雅黑" panose="020B0503020204020204" pitchFamily="34" charset="-122"/>
                <a:ea typeface="微软雅黑" panose="020B0503020204020204" pitchFamily="34" charset="-122"/>
              </a:rPr>
              <a:t>ESCS</a:t>
            </a:r>
            <a:r>
              <a:rPr lang="zh-CN" altLang="en-US" sz="1600" b="1" dirty="0">
                <a:latin typeface="微软雅黑" panose="020B0503020204020204" pitchFamily="34" charset="-122"/>
                <a:ea typeface="微软雅黑" panose="020B0503020204020204" pitchFamily="34" charset="-122"/>
              </a:rPr>
              <a:t>评分结果及融资利率对照</a:t>
            </a:r>
            <a:endParaRPr lang="zh-CN" altLang="en-US" sz="1600" b="1" dirty="0">
              <a:latin typeface="微软雅黑" panose="020B0503020204020204" pitchFamily="34" charset="-122"/>
              <a:ea typeface="微软雅黑" panose="020B0503020204020204" pitchFamily="34" charset="-122"/>
            </a:endParaRPr>
          </a:p>
        </p:txBody>
      </p:sp>
      <p:cxnSp>
        <p:nvCxnSpPr>
          <p:cNvPr id="296" name="直接连接符 295"/>
          <p:cNvCxnSpPr/>
          <p:nvPr/>
        </p:nvCxnSpPr>
        <p:spPr>
          <a:xfrm>
            <a:off x="856602" y="1375256"/>
            <a:ext cx="423609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7" name="直接连接符 296"/>
          <p:cNvCxnSpPr/>
          <p:nvPr/>
        </p:nvCxnSpPr>
        <p:spPr>
          <a:xfrm>
            <a:off x="856602" y="6439290"/>
            <a:ext cx="451449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9" name="直接连接符 298"/>
          <p:cNvCxnSpPr/>
          <p:nvPr/>
        </p:nvCxnSpPr>
        <p:spPr>
          <a:xfrm>
            <a:off x="856602" y="1375256"/>
            <a:ext cx="0" cy="506403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02" name="矩形 301"/>
          <p:cNvSpPr/>
          <p:nvPr>
            <p:custDataLst>
              <p:tags r:id="rId7"/>
            </p:custDataLst>
          </p:nvPr>
        </p:nvSpPr>
        <p:spPr>
          <a:xfrm>
            <a:off x="5392945" y="1375256"/>
            <a:ext cx="2978144" cy="5064026"/>
          </a:xfrm>
          <a:prstGeom prst="rect">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3" name="矩形 302"/>
          <p:cNvSpPr/>
          <p:nvPr/>
        </p:nvSpPr>
        <p:spPr>
          <a:xfrm>
            <a:off x="8604250" y="1375410"/>
            <a:ext cx="3030855" cy="5064125"/>
          </a:xfrm>
          <a:prstGeom prst="rect">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4" name="矩形 303"/>
          <p:cNvSpPr/>
          <p:nvPr/>
        </p:nvSpPr>
        <p:spPr>
          <a:xfrm>
            <a:off x="2001339" y="972410"/>
            <a:ext cx="2225018" cy="321469"/>
          </a:xfrm>
          <a:prstGeom prst="rect">
            <a:avLst/>
          </a:prstGeom>
          <a:solidFill>
            <a:srgbClr val="305921"/>
          </a:solidFill>
          <a:ln>
            <a:solidFill>
              <a:srgbClr val="3059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rPr>
              <a:t>案例信息与基础评分</a:t>
            </a:r>
            <a:endParaRPr lang="zh-CN" altLang="en-US" sz="1400" b="1" dirty="0">
              <a:latin typeface="微软雅黑" panose="020B0503020204020204" pitchFamily="34" charset="-122"/>
              <a:ea typeface="微软雅黑" panose="020B0503020204020204" pitchFamily="34" charset="-122"/>
            </a:endParaRPr>
          </a:p>
        </p:txBody>
      </p:sp>
      <p:sp>
        <p:nvSpPr>
          <p:cNvPr id="305" name="矩形 304"/>
          <p:cNvSpPr/>
          <p:nvPr/>
        </p:nvSpPr>
        <p:spPr>
          <a:xfrm>
            <a:off x="5858179" y="978572"/>
            <a:ext cx="1986280" cy="321469"/>
          </a:xfrm>
          <a:prstGeom prst="rect">
            <a:avLst/>
          </a:prstGeom>
          <a:solidFill>
            <a:srgbClr val="305921"/>
          </a:solidFill>
          <a:ln>
            <a:solidFill>
              <a:srgbClr val="3059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rPr>
              <a:t>最终评分及信用评级</a:t>
            </a:r>
            <a:endParaRPr lang="zh-CN" altLang="en-US" sz="1400" b="1" dirty="0">
              <a:latin typeface="微软雅黑" panose="020B0503020204020204" pitchFamily="34" charset="-122"/>
              <a:ea typeface="微软雅黑" panose="020B0503020204020204" pitchFamily="34" charset="-122"/>
            </a:endParaRPr>
          </a:p>
        </p:txBody>
      </p:sp>
      <p:sp>
        <p:nvSpPr>
          <p:cNvPr id="306" name="矩形 305"/>
          <p:cNvSpPr/>
          <p:nvPr/>
        </p:nvSpPr>
        <p:spPr>
          <a:xfrm>
            <a:off x="9413297" y="972409"/>
            <a:ext cx="1356874" cy="321469"/>
          </a:xfrm>
          <a:prstGeom prst="rect">
            <a:avLst/>
          </a:prstGeom>
          <a:solidFill>
            <a:srgbClr val="305921"/>
          </a:solidFill>
          <a:ln>
            <a:solidFill>
              <a:srgbClr val="3059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rPr>
              <a:t>评级启示</a:t>
            </a:r>
            <a:endParaRPr lang="zh-CN" altLang="en-US" sz="1400" b="1" dirty="0">
              <a:latin typeface="微软雅黑" panose="020B0503020204020204" pitchFamily="34" charset="-122"/>
              <a:ea typeface="微软雅黑" panose="020B0503020204020204" pitchFamily="34" charset="-122"/>
            </a:endParaRPr>
          </a:p>
        </p:txBody>
      </p:sp>
      <p:cxnSp>
        <p:nvCxnSpPr>
          <p:cNvPr id="317" name="直接连接符 316"/>
          <p:cNvCxnSpPr/>
          <p:nvPr/>
        </p:nvCxnSpPr>
        <p:spPr>
          <a:xfrm>
            <a:off x="1003300" y="4090757"/>
            <a:ext cx="4066026"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08" name="组合 707"/>
          <p:cNvGrpSpPr/>
          <p:nvPr/>
        </p:nvGrpSpPr>
        <p:grpSpPr>
          <a:xfrm>
            <a:off x="1047856" y="1396237"/>
            <a:ext cx="3745757" cy="321469"/>
            <a:chOff x="1063624" y="1506456"/>
            <a:chExt cx="3799904" cy="321469"/>
          </a:xfrm>
        </p:grpSpPr>
        <p:sp>
          <p:nvSpPr>
            <p:cNvPr id="307" name="矩形 306"/>
            <p:cNvSpPr/>
            <p:nvPr/>
          </p:nvSpPr>
          <p:spPr>
            <a:xfrm>
              <a:off x="1063624" y="1550035"/>
              <a:ext cx="234313" cy="234313"/>
            </a:xfrm>
            <a:prstGeom prst="rect">
              <a:avLst/>
            </a:prstGeom>
            <a:solidFill>
              <a:srgbClr val="3F762B"/>
            </a:solidFill>
            <a:ln>
              <a:solidFill>
                <a:srgbClr val="3F76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微软雅黑" panose="020B0503020204020204" pitchFamily="34" charset="-122"/>
                  <a:ea typeface="微软雅黑" panose="020B0503020204020204" pitchFamily="34" charset="-122"/>
                </a:rPr>
                <a:t>1</a:t>
              </a:r>
              <a:endParaRPr lang="zh-CN" altLang="en-US" sz="1400" b="1" dirty="0">
                <a:latin typeface="微软雅黑" panose="020B0503020204020204" pitchFamily="34" charset="-122"/>
                <a:ea typeface="微软雅黑" panose="020B0503020204020204" pitchFamily="34" charset="-122"/>
              </a:endParaRPr>
            </a:p>
          </p:txBody>
        </p:sp>
        <p:sp>
          <p:nvSpPr>
            <p:cNvPr id="320" name="矩形 319"/>
            <p:cNvSpPr/>
            <p:nvPr/>
          </p:nvSpPr>
          <p:spPr>
            <a:xfrm>
              <a:off x="1297936" y="1506456"/>
              <a:ext cx="3565592" cy="3214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zh-CN" altLang="en-US" sz="1400" b="1" dirty="0">
                  <a:solidFill>
                    <a:schemeClr val="tx1"/>
                  </a:solidFill>
                  <a:latin typeface="微软雅黑" panose="020B0503020204020204" pitchFamily="34" charset="-122"/>
                  <a:ea typeface="微软雅黑" panose="020B0503020204020204" pitchFamily="34" charset="-122"/>
                </a:rPr>
                <a:t>案例背景信息</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grpSp>
      <p:sp>
        <p:nvSpPr>
          <p:cNvPr id="342" name="文本框 341"/>
          <p:cNvSpPr txBox="1"/>
          <p:nvPr/>
        </p:nvSpPr>
        <p:spPr>
          <a:xfrm>
            <a:off x="4403090" y="2475230"/>
            <a:ext cx="689610" cy="400050"/>
          </a:xfrm>
          <a:prstGeom prst="rect">
            <a:avLst/>
          </a:prstGeom>
          <a:noFill/>
        </p:spPr>
        <p:txBody>
          <a:bodyPr wrap="square" rtlCol="0">
            <a:spAutoFit/>
          </a:bodyPr>
          <a:lstStyle/>
          <a:p>
            <a:r>
              <a:rPr lang="en-US" altLang="zh-CN" sz="2000" b="1" dirty="0">
                <a:solidFill>
                  <a:schemeClr val="bg1"/>
                </a:solidFill>
                <a:latin typeface="Calibri" panose="020F0502020204030204" charset="0"/>
                <a:ea typeface="Calibri" panose="020F0502020204030204" charset="0"/>
                <a:cs typeface="Calibri" panose="020F0502020204030204" charset="0"/>
              </a:rPr>
              <a:t>15%</a:t>
            </a:r>
            <a:endParaRPr lang="zh-CN" altLang="en-US" sz="2000" b="1" dirty="0">
              <a:solidFill>
                <a:schemeClr val="bg1"/>
              </a:solidFill>
              <a:latin typeface="Calibri" panose="020F0502020204030204" charset="0"/>
              <a:cs typeface="Calibri" panose="020F0502020204030204" charset="0"/>
            </a:endParaRPr>
          </a:p>
        </p:txBody>
      </p:sp>
      <p:sp>
        <p:nvSpPr>
          <p:cNvPr id="348" name="上箭头 1299"/>
          <p:cNvSpPr/>
          <p:nvPr/>
        </p:nvSpPr>
        <p:spPr>
          <a:xfrm rot="10800000">
            <a:off x="5069326" y="3266268"/>
            <a:ext cx="273799" cy="452564"/>
          </a:xfrm>
          <a:prstGeom prst="upArrow">
            <a:avLst/>
          </a:prstGeom>
          <a:gradFill>
            <a:gsLst>
              <a:gs pos="30000">
                <a:schemeClr val="accent1">
                  <a:lumMod val="5000"/>
                  <a:lumOff val="95000"/>
                </a:schemeClr>
              </a:gs>
              <a:gs pos="100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nvGrpSpPr>
          <p:cNvPr id="709" name="组合 708"/>
          <p:cNvGrpSpPr/>
          <p:nvPr/>
        </p:nvGrpSpPr>
        <p:grpSpPr>
          <a:xfrm>
            <a:off x="5680624" y="1413057"/>
            <a:ext cx="2653092" cy="321469"/>
            <a:chOff x="5737179" y="1450181"/>
            <a:chExt cx="2653092" cy="321469"/>
          </a:xfrm>
        </p:grpSpPr>
        <p:sp>
          <p:nvSpPr>
            <p:cNvPr id="311" name="矩形 310"/>
            <p:cNvSpPr/>
            <p:nvPr/>
          </p:nvSpPr>
          <p:spPr>
            <a:xfrm>
              <a:off x="5737179" y="1499235"/>
              <a:ext cx="234313" cy="234313"/>
            </a:xfrm>
            <a:prstGeom prst="rect">
              <a:avLst/>
            </a:prstGeom>
            <a:solidFill>
              <a:srgbClr val="3F762B"/>
            </a:solidFill>
            <a:ln>
              <a:solidFill>
                <a:srgbClr val="3F76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微软雅黑" panose="020B0503020204020204" pitchFamily="34" charset="-122"/>
                  <a:ea typeface="微软雅黑" panose="020B0503020204020204" pitchFamily="34" charset="-122"/>
                </a:rPr>
                <a:t>3</a:t>
              </a:r>
              <a:endParaRPr lang="zh-CN" altLang="en-US" sz="1400" b="1" dirty="0">
                <a:latin typeface="微软雅黑" panose="020B0503020204020204" pitchFamily="34" charset="-122"/>
                <a:ea typeface="微软雅黑" panose="020B0503020204020204" pitchFamily="34" charset="-122"/>
              </a:endParaRPr>
            </a:p>
          </p:txBody>
        </p:sp>
        <p:sp>
          <p:nvSpPr>
            <p:cNvPr id="471" name="矩形 470"/>
            <p:cNvSpPr/>
            <p:nvPr/>
          </p:nvSpPr>
          <p:spPr>
            <a:xfrm>
              <a:off x="5969000" y="1450181"/>
              <a:ext cx="2421271" cy="3214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zh-CN" altLang="en-US" sz="1400" b="1" dirty="0">
                  <a:solidFill>
                    <a:schemeClr val="tx1"/>
                  </a:solidFill>
                  <a:latin typeface="微软雅黑" panose="020B0503020204020204" pitchFamily="34" charset="-122"/>
                  <a:ea typeface="微软雅黑" panose="020B0503020204020204" pitchFamily="34" charset="-122"/>
                </a:rPr>
                <a:t>经过风险调整后的</a:t>
              </a:r>
              <a:r>
                <a:rPr lang="en-US" altLang="zh-CN" sz="1400" b="1" dirty="0">
                  <a:solidFill>
                    <a:schemeClr val="tx1"/>
                  </a:solidFill>
                  <a:latin typeface="微软雅黑" panose="020B0503020204020204" pitchFamily="34" charset="-122"/>
                  <a:ea typeface="微软雅黑" panose="020B0503020204020204" pitchFamily="34" charset="-122"/>
                </a:rPr>
                <a:t>ESCS</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grpSp>
      <p:sp>
        <p:nvSpPr>
          <p:cNvPr id="677" name="上箭头 32"/>
          <p:cNvSpPr/>
          <p:nvPr/>
        </p:nvSpPr>
        <p:spPr>
          <a:xfrm>
            <a:off x="7317252" y="5239168"/>
            <a:ext cx="125505" cy="326961"/>
          </a:xfrm>
          <a:prstGeom prst="upArrow">
            <a:avLst/>
          </a:prstGeom>
          <a:gradFill>
            <a:gsLst>
              <a:gs pos="30000">
                <a:schemeClr val="accent1">
                  <a:lumMod val="5000"/>
                  <a:lumOff val="95000"/>
                </a:schemeClr>
              </a:gs>
              <a:gs pos="100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96" name="文本框 695"/>
          <p:cNvSpPr txBox="1"/>
          <p:nvPr/>
        </p:nvSpPr>
        <p:spPr>
          <a:xfrm>
            <a:off x="6500220" y="5034087"/>
            <a:ext cx="1706343" cy="1136401"/>
          </a:xfrm>
          <a:prstGeom prst="rect">
            <a:avLst/>
          </a:prstGeom>
          <a:noFill/>
          <a:ln w="9525">
            <a:solidFill>
              <a:srgbClr val="7F7F7F"/>
            </a:solidFill>
            <a:prstDash val="sysDash"/>
          </a:ln>
        </p:spPr>
        <p:txBody>
          <a:bodyPr wrap="square">
            <a:spAutoFit/>
          </a:bodyPr>
          <a:lstStyle/>
          <a:p>
            <a:pPr algn="just">
              <a:lnSpc>
                <a:spcPts val="2100"/>
              </a:lnSpc>
            </a:pPr>
            <a:r>
              <a:rPr lang="zh-CN" altLang="en-US" sz="1200" dirty="0">
                <a:latin typeface="黑体" panose="02010609060101010101" pitchFamily="49" charset="-122"/>
                <a:ea typeface="黑体" panose="02010609060101010101" pitchFamily="49" charset="-122"/>
                <a:cs typeface="华文宋体" panose="02010600040101010101" charset="-122"/>
              </a:rPr>
              <a:t>该项目评级为</a:t>
            </a:r>
            <a:r>
              <a:rPr lang="en-US" altLang="zh-CN" sz="1200" dirty="0">
                <a:latin typeface="黑体" panose="02010609060101010101" pitchFamily="49" charset="-122"/>
                <a:ea typeface="黑体" panose="02010609060101010101" pitchFamily="49" charset="-122"/>
                <a:cs typeface="华文宋体" panose="02010600040101010101" charset="-122"/>
              </a:rPr>
              <a:t>BBB</a:t>
            </a:r>
            <a:r>
              <a:rPr lang="zh-CN" altLang="en-US" sz="1200" dirty="0">
                <a:latin typeface="黑体" panose="02010609060101010101" pitchFamily="49" charset="-122"/>
                <a:ea typeface="黑体" panose="02010609060101010101" pitchFamily="49" charset="-122"/>
                <a:cs typeface="华文宋体" panose="02010600040101010101" charset="-122"/>
              </a:rPr>
              <a:t>级，即</a:t>
            </a:r>
            <a:r>
              <a:rPr lang="zh-CN" altLang="en-US" sz="1200" dirty="0">
                <a:latin typeface="黑体" panose="02010609060101010101" pitchFamily="49" charset="-122"/>
                <a:ea typeface="黑体" panose="02010609060101010101" pitchFamily="49" charset="-122"/>
                <a:cs typeface="+mn-ea"/>
              </a:rPr>
              <a:t>需强增信（担保/质押）的银行贷款；股权+债权混合</a:t>
            </a:r>
            <a:endParaRPr lang="zh-CN" altLang="en-US" sz="1200" dirty="0">
              <a:latin typeface="黑体" panose="02010609060101010101" pitchFamily="49" charset="-122"/>
              <a:ea typeface="黑体" panose="02010609060101010101" pitchFamily="49" charset="-122"/>
              <a:cs typeface="+mn-ea"/>
            </a:endParaRPr>
          </a:p>
        </p:txBody>
      </p:sp>
      <p:grpSp>
        <p:nvGrpSpPr>
          <p:cNvPr id="713" name="组合 712"/>
          <p:cNvGrpSpPr/>
          <p:nvPr/>
        </p:nvGrpSpPr>
        <p:grpSpPr>
          <a:xfrm>
            <a:off x="8747119" y="1505288"/>
            <a:ext cx="2689230" cy="1084549"/>
            <a:chOff x="8747119" y="1505288"/>
            <a:chExt cx="2689230" cy="1084549"/>
          </a:xfrm>
        </p:grpSpPr>
        <p:sp>
          <p:nvSpPr>
            <p:cNvPr id="711" name="矩形 710"/>
            <p:cNvSpPr/>
            <p:nvPr/>
          </p:nvSpPr>
          <p:spPr>
            <a:xfrm>
              <a:off x="8747119" y="1518743"/>
              <a:ext cx="600961" cy="1071094"/>
            </a:xfrm>
            <a:prstGeom prst="rect">
              <a:avLst/>
            </a:prstGeom>
            <a:solidFill>
              <a:srgbClr val="3F762B"/>
            </a:solidFill>
            <a:ln>
              <a:solidFill>
                <a:srgbClr val="3F76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rPr>
                <a:t>财务维度</a:t>
              </a:r>
              <a:endParaRPr lang="zh-CN" altLang="en-US" sz="1400" dirty="0">
                <a:latin typeface="微软雅黑" panose="020B0503020204020204" pitchFamily="34" charset="-122"/>
                <a:ea typeface="微软雅黑" panose="020B0503020204020204" pitchFamily="34" charset="-122"/>
                <a:cs typeface="Calibri" panose="020F0502020204030204" charset="0"/>
              </a:endParaRPr>
            </a:p>
          </p:txBody>
        </p:sp>
        <p:sp>
          <p:nvSpPr>
            <p:cNvPr id="712" name="矩形 711"/>
            <p:cNvSpPr/>
            <p:nvPr/>
          </p:nvSpPr>
          <p:spPr>
            <a:xfrm>
              <a:off x="9530760" y="1505288"/>
              <a:ext cx="1905589" cy="1071094"/>
            </a:xfrm>
            <a:prstGeom prst="rect">
              <a:avLst/>
            </a:prstGeom>
            <a:solidFill>
              <a:srgbClr val="F3F9E9"/>
            </a:solidFill>
            <a:ln>
              <a:solidFill>
                <a:srgbClr val="F3F9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zh-CN" altLang="en-US" sz="1200" dirty="0">
                  <a:solidFill>
                    <a:schemeClr val="tx1"/>
                  </a:solidFill>
                  <a:latin typeface="微软雅黑" panose="020B0503020204020204" pitchFamily="34" charset="-122"/>
                  <a:ea typeface="微软雅黑" panose="020B0503020204020204" pitchFamily="34" charset="-122"/>
                  <a:cs typeface="Calibri" panose="020F0502020204030204" charset="0"/>
                </a:rPr>
                <a:t>资产负债率偏高（</a:t>
              </a:r>
              <a:r>
                <a:rPr lang="en-US" altLang="zh-CN" sz="1200" dirty="0">
                  <a:solidFill>
                    <a:schemeClr val="tx1"/>
                  </a:solidFill>
                  <a:latin typeface="微软雅黑" panose="020B0503020204020204" pitchFamily="34" charset="-122"/>
                  <a:ea typeface="微软雅黑" panose="020B0503020204020204" pitchFamily="34" charset="-122"/>
                  <a:cs typeface="Calibri" panose="020F0502020204030204" charset="0"/>
                </a:rPr>
                <a:t>65%</a:t>
              </a:r>
              <a:r>
                <a:rPr lang="zh-CN" altLang="en-US" sz="1200" dirty="0">
                  <a:solidFill>
                    <a:schemeClr val="tx1"/>
                  </a:solidFill>
                  <a:latin typeface="微软雅黑" panose="020B0503020204020204" pitchFamily="34" charset="-122"/>
                  <a:ea typeface="微软雅黑" panose="020B0503020204020204" pitchFamily="34" charset="-122"/>
                  <a:cs typeface="Calibri" panose="020F0502020204030204" charset="0"/>
                </a:rPr>
                <a:t>）拉低了财务维度的杠杆水平（</a:t>
              </a:r>
              <a:r>
                <a:rPr lang="en-US" altLang="zh-CN" sz="1200" dirty="0">
                  <a:solidFill>
                    <a:schemeClr val="tx1"/>
                  </a:solidFill>
                  <a:latin typeface="微软雅黑" panose="020B0503020204020204" pitchFamily="34" charset="-122"/>
                  <a:ea typeface="微软雅黑" panose="020B0503020204020204" pitchFamily="34" charset="-122"/>
                  <a:cs typeface="Calibri" panose="020F0502020204030204" charset="0"/>
                </a:rPr>
                <a:t>37/100</a:t>
              </a:r>
              <a:r>
                <a:rPr lang="zh-CN" altLang="en-US" sz="1200" dirty="0">
                  <a:solidFill>
                    <a:schemeClr val="tx1"/>
                  </a:solidFill>
                  <a:latin typeface="微软雅黑" panose="020B0503020204020204" pitchFamily="34" charset="-122"/>
                  <a:ea typeface="微软雅黑" panose="020B0503020204020204" pitchFamily="34" charset="-122"/>
                  <a:cs typeface="Calibri" panose="020F0502020204030204" charset="0"/>
                </a:rPr>
                <a:t>）</a:t>
              </a:r>
              <a:endParaRPr lang="en-US" altLang="zh-CN" sz="1200" dirty="0">
                <a:solidFill>
                  <a:schemeClr val="tx1"/>
                </a:solidFill>
                <a:latin typeface="微软雅黑" panose="020B0503020204020204" pitchFamily="34" charset="-122"/>
                <a:ea typeface="微软雅黑" panose="020B0503020204020204" pitchFamily="34" charset="-122"/>
                <a:cs typeface="Calibri" panose="020F0502020204030204" charset="0"/>
              </a:endParaRPr>
            </a:p>
            <a:p>
              <a:pPr marL="171450" indent="-171450">
                <a:buFont typeface="Arial" panose="020B0604020202020204" pitchFamily="34" charset="0"/>
                <a:buChar char="•"/>
              </a:pPr>
              <a:r>
                <a:rPr lang="zh-CN" altLang="en-US" sz="1200" dirty="0">
                  <a:solidFill>
                    <a:schemeClr val="tx1"/>
                  </a:solidFill>
                  <a:latin typeface="微软雅黑" panose="020B0503020204020204" pitchFamily="34" charset="-122"/>
                  <a:ea typeface="微软雅黑" panose="020B0503020204020204" pitchFamily="34" charset="-122"/>
                  <a:cs typeface="Calibri" panose="020F0502020204030204" charset="0"/>
                </a:rPr>
                <a:t>项目的</a:t>
              </a:r>
              <a:r>
                <a:rPr lang="en-US" altLang="zh-CN" sz="1200" dirty="0">
                  <a:solidFill>
                    <a:schemeClr val="tx1"/>
                  </a:solidFill>
                  <a:latin typeface="微软雅黑" panose="020B0503020204020204" pitchFamily="34" charset="-122"/>
                  <a:ea typeface="微软雅黑" panose="020B0503020204020204" pitchFamily="34" charset="-122"/>
                  <a:cs typeface="Calibri" panose="020F0502020204030204" charset="0"/>
                </a:rPr>
                <a:t>IRR</a:t>
              </a:r>
              <a:r>
                <a:rPr lang="zh-CN" altLang="en-US" sz="1200" dirty="0">
                  <a:solidFill>
                    <a:schemeClr val="tx1"/>
                  </a:solidFill>
                  <a:latin typeface="微软雅黑" panose="020B0503020204020204" pitchFamily="34" charset="-122"/>
                  <a:ea typeface="微软雅黑" panose="020B0503020204020204" pitchFamily="34" charset="-122"/>
                  <a:cs typeface="Calibri" panose="020F0502020204030204" charset="0"/>
                </a:rPr>
                <a:t>指标较低，非体现项目的投资价值</a:t>
              </a:r>
              <a:endParaRPr lang="en-US" altLang="zh-CN" sz="1200" dirty="0">
                <a:solidFill>
                  <a:schemeClr val="tx1"/>
                </a:solidFill>
                <a:latin typeface="微软雅黑" panose="020B0503020204020204" pitchFamily="34" charset="-122"/>
                <a:ea typeface="微软雅黑" panose="020B0503020204020204" pitchFamily="34" charset="-122"/>
                <a:cs typeface="Calibri" panose="020F0502020204030204" charset="0"/>
              </a:endParaRPr>
            </a:p>
          </p:txBody>
        </p:sp>
      </p:grpSp>
      <p:grpSp>
        <p:nvGrpSpPr>
          <p:cNvPr id="714" name="组合 713"/>
          <p:cNvGrpSpPr/>
          <p:nvPr/>
        </p:nvGrpSpPr>
        <p:grpSpPr>
          <a:xfrm>
            <a:off x="8751610" y="2784289"/>
            <a:ext cx="2689230" cy="1084549"/>
            <a:chOff x="8747119" y="1505288"/>
            <a:chExt cx="2689230" cy="1084549"/>
          </a:xfrm>
        </p:grpSpPr>
        <p:sp>
          <p:nvSpPr>
            <p:cNvPr id="715" name="矩形 714"/>
            <p:cNvSpPr/>
            <p:nvPr/>
          </p:nvSpPr>
          <p:spPr>
            <a:xfrm>
              <a:off x="8747119" y="1518743"/>
              <a:ext cx="600961" cy="1071094"/>
            </a:xfrm>
            <a:prstGeom prst="rect">
              <a:avLst/>
            </a:prstGeom>
            <a:solidFill>
              <a:srgbClr val="3F762B"/>
            </a:solidFill>
            <a:ln>
              <a:solidFill>
                <a:srgbClr val="3F76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rPr>
                <a:t>环境维度</a:t>
              </a:r>
              <a:endParaRPr lang="zh-CN" altLang="en-US" sz="1400" dirty="0">
                <a:latin typeface="微软雅黑" panose="020B0503020204020204" pitchFamily="34" charset="-122"/>
                <a:ea typeface="微软雅黑" panose="020B0503020204020204" pitchFamily="34" charset="-122"/>
                <a:cs typeface="Calibri" panose="020F0502020204030204" charset="0"/>
              </a:endParaRPr>
            </a:p>
          </p:txBody>
        </p:sp>
        <p:sp>
          <p:nvSpPr>
            <p:cNvPr id="716" name="矩形 715"/>
            <p:cNvSpPr/>
            <p:nvPr/>
          </p:nvSpPr>
          <p:spPr>
            <a:xfrm>
              <a:off x="9530760" y="1505288"/>
              <a:ext cx="1905589" cy="1071094"/>
            </a:xfrm>
            <a:prstGeom prst="rect">
              <a:avLst/>
            </a:prstGeom>
            <a:solidFill>
              <a:srgbClr val="F3F9E9"/>
            </a:solidFill>
            <a:ln>
              <a:solidFill>
                <a:srgbClr val="F3F9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zh-CN" altLang="en-US" sz="1200" dirty="0">
                  <a:solidFill>
                    <a:schemeClr val="tx1"/>
                  </a:solidFill>
                  <a:latin typeface="微软雅黑" panose="020B0503020204020204" pitchFamily="34" charset="-122"/>
                  <a:ea typeface="微软雅黑" panose="020B0503020204020204" pitchFamily="34" charset="-122"/>
                  <a:cs typeface="Calibri" panose="020F0502020204030204" charset="0"/>
                </a:rPr>
                <a:t>项目未经过</a:t>
              </a:r>
              <a:r>
                <a:rPr lang="en-GB" altLang="zh-CN" sz="1200" dirty="0">
                  <a:solidFill>
                    <a:schemeClr val="tx1"/>
                  </a:solidFill>
                  <a:latin typeface="微软雅黑" panose="020B0503020204020204" pitchFamily="34" charset="-122"/>
                  <a:ea typeface="微软雅黑" panose="020B0503020204020204" pitchFamily="34" charset="-122"/>
                  <a:cs typeface="Calibri" panose="020F0502020204030204" charset="0"/>
                </a:rPr>
                <a:t>CCER </a:t>
              </a:r>
              <a:r>
                <a:rPr lang="zh-CN" altLang="en-US" sz="1200" dirty="0">
                  <a:solidFill>
                    <a:schemeClr val="tx1"/>
                  </a:solidFill>
                  <a:latin typeface="微软雅黑" panose="020B0503020204020204" pitchFamily="34" charset="-122"/>
                  <a:ea typeface="微软雅黑" panose="020B0503020204020204" pitchFamily="34" charset="-122"/>
                  <a:cs typeface="Calibri" panose="020F0502020204030204" charset="0"/>
                </a:rPr>
                <a:t>尚未完成备案，导致在</a:t>
              </a:r>
              <a:r>
                <a:rPr lang="en-US" altLang="zh-CN" sz="1200" dirty="0">
                  <a:solidFill>
                    <a:schemeClr val="tx1"/>
                  </a:solidFill>
                  <a:latin typeface="微软雅黑" panose="020B0503020204020204" pitchFamily="34" charset="-122"/>
                  <a:ea typeface="微软雅黑" panose="020B0503020204020204" pitchFamily="34" charset="-122"/>
                  <a:cs typeface="Calibri" panose="020F0502020204030204" charset="0"/>
                </a:rPr>
                <a:t>Carbon</a:t>
              </a:r>
              <a:r>
                <a:rPr lang="zh-CN" altLang="en-US" sz="1200" dirty="0">
                  <a:solidFill>
                    <a:schemeClr val="tx1"/>
                  </a:solidFill>
                  <a:latin typeface="微软雅黑" panose="020B0503020204020204" pitchFamily="34" charset="-122"/>
                  <a:ea typeface="微软雅黑" panose="020B0503020204020204" pitchFamily="34" charset="-122"/>
                  <a:cs typeface="Calibri" panose="020F0502020204030204" charset="0"/>
                </a:rPr>
                <a:t>指标的得分较低（</a:t>
              </a:r>
              <a:r>
                <a:rPr lang="en-US" altLang="zh-CN" sz="1200" dirty="0">
                  <a:solidFill>
                    <a:schemeClr val="tx1"/>
                  </a:solidFill>
                  <a:latin typeface="微软雅黑" panose="020B0503020204020204" pitchFamily="34" charset="-122"/>
                  <a:ea typeface="微软雅黑" panose="020B0503020204020204" pitchFamily="34" charset="-122"/>
                  <a:cs typeface="Calibri" panose="020F0502020204030204" charset="0"/>
                </a:rPr>
                <a:t>54/100</a:t>
              </a:r>
              <a:r>
                <a:rPr lang="zh-CN" altLang="en-US" sz="1200" dirty="0">
                  <a:solidFill>
                    <a:schemeClr val="tx1"/>
                  </a:solidFill>
                  <a:latin typeface="微软雅黑" panose="020B0503020204020204" pitchFamily="34" charset="-122"/>
                  <a:ea typeface="微软雅黑" panose="020B0503020204020204" pitchFamily="34" charset="-122"/>
                  <a:cs typeface="Calibri" panose="020F0502020204030204" charset="0"/>
                </a:rPr>
                <a:t>）</a:t>
              </a:r>
              <a:endParaRPr lang="zh-CN" altLang="en-US" sz="1200" dirty="0">
                <a:solidFill>
                  <a:schemeClr val="tx1"/>
                </a:solidFill>
                <a:latin typeface="微软雅黑" panose="020B0503020204020204" pitchFamily="34" charset="-122"/>
                <a:ea typeface="微软雅黑" panose="020B0503020204020204" pitchFamily="34" charset="-122"/>
                <a:cs typeface="Calibri" panose="020F0502020204030204" charset="0"/>
              </a:endParaRPr>
            </a:p>
          </p:txBody>
        </p:sp>
      </p:grpSp>
      <p:sp>
        <p:nvSpPr>
          <p:cNvPr id="720" name="矩形 719"/>
          <p:cNvSpPr/>
          <p:nvPr/>
        </p:nvSpPr>
        <p:spPr>
          <a:xfrm>
            <a:off x="8747119" y="4063290"/>
            <a:ext cx="2689230" cy="2188285"/>
          </a:xfrm>
          <a:prstGeom prst="rect">
            <a:avLst/>
          </a:prstGeom>
          <a:solidFill>
            <a:srgbClr val="F1EEE8"/>
          </a:solidFill>
          <a:ln>
            <a:solidFill>
              <a:srgbClr val="F1EEE8"/>
            </a:solid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noAutofit/>
          </a:bodyPr>
          <a:lstStyle/>
          <a:p>
            <a:pPr marL="285750" indent="-285750" algn="just">
              <a:lnSpc>
                <a:spcPts val="2300"/>
              </a:lnSpc>
              <a:buFont typeface="Wingdings" panose="05000000000000000000" pitchFamily="2" charset="2"/>
              <a:buChar char="n"/>
            </a:pPr>
            <a:r>
              <a:rPr lang="zh-CN" altLang="en-US" sz="1200" dirty="0">
                <a:solidFill>
                  <a:schemeClr val="tx1"/>
                </a:solidFill>
                <a:latin typeface="黑体" panose="02010609060101010101" pitchFamily="49" charset="-122"/>
                <a:ea typeface="黑体" panose="02010609060101010101" pitchFamily="49" charset="-122"/>
                <a:cs typeface="黑体" panose="02010609060101010101" pitchFamily="49" charset="-122"/>
              </a:rPr>
              <a:t>若改项目完成</a:t>
            </a:r>
            <a:r>
              <a:rPr lang="en-US" altLang="zh-CN" sz="1200" dirty="0">
                <a:solidFill>
                  <a:schemeClr val="tx1"/>
                </a:solidFill>
                <a:latin typeface="黑体" panose="02010609060101010101" pitchFamily="49" charset="-122"/>
                <a:ea typeface="黑体" panose="02010609060101010101" pitchFamily="49" charset="-122"/>
                <a:cs typeface="黑体" panose="02010609060101010101" pitchFamily="49" charset="-122"/>
              </a:rPr>
              <a:t>CCER </a:t>
            </a:r>
            <a:r>
              <a:rPr lang="zh-CN" altLang="en-US" sz="1200" dirty="0">
                <a:solidFill>
                  <a:schemeClr val="tx1"/>
                </a:solidFill>
                <a:latin typeface="黑体" panose="02010609060101010101" pitchFamily="49" charset="-122"/>
                <a:ea typeface="黑体" panose="02010609060101010101" pitchFamily="49" charset="-122"/>
                <a:cs typeface="黑体" panose="02010609060101010101" pitchFamily="49" charset="-122"/>
              </a:rPr>
              <a:t>备案并实现市场化交易，</a:t>
            </a:r>
            <a:r>
              <a:rPr lang="en-US" altLang="zh-CN" sz="1200" dirty="0">
                <a:solidFill>
                  <a:schemeClr val="tx1"/>
                </a:solidFill>
                <a:latin typeface="黑体" panose="02010609060101010101" pitchFamily="49" charset="-122"/>
                <a:ea typeface="黑体" panose="02010609060101010101" pitchFamily="49" charset="-122"/>
                <a:cs typeface="黑体" panose="02010609060101010101" pitchFamily="49" charset="-122"/>
              </a:rPr>
              <a:t>E</a:t>
            </a:r>
            <a:r>
              <a:rPr lang="zh-CN" altLang="en-US" sz="1200" dirty="0">
                <a:solidFill>
                  <a:schemeClr val="tx1"/>
                </a:solidFill>
                <a:latin typeface="黑体" panose="02010609060101010101" pitchFamily="49" charset="-122"/>
                <a:ea typeface="黑体" panose="02010609060101010101" pitchFamily="49" charset="-122"/>
                <a:cs typeface="黑体" panose="02010609060101010101" pitchFamily="49" charset="-122"/>
              </a:rPr>
              <a:t>维度可提升约</a:t>
            </a:r>
            <a:r>
              <a:rPr lang="en-US" altLang="zh-CN" sz="1200" dirty="0">
                <a:solidFill>
                  <a:schemeClr val="tx1"/>
                </a:solidFill>
                <a:latin typeface="黑体" panose="02010609060101010101" pitchFamily="49" charset="-122"/>
                <a:ea typeface="黑体" panose="02010609060101010101" pitchFamily="49" charset="-122"/>
                <a:cs typeface="黑体" panose="02010609060101010101" pitchFamily="49" charset="-122"/>
              </a:rPr>
              <a:t>10—15</a:t>
            </a:r>
            <a:r>
              <a:rPr lang="zh-CN" altLang="en-US" sz="1200" dirty="0">
                <a:solidFill>
                  <a:schemeClr val="tx1"/>
                </a:solidFill>
                <a:latin typeface="黑体" panose="02010609060101010101" pitchFamily="49" charset="-122"/>
                <a:ea typeface="黑体" panose="02010609060101010101" pitchFamily="49" charset="-122"/>
                <a:cs typeface="黑体" panose="02010609060101010101" pitchFamily="49" charset="-122"/>
              </a:rPr>
              <a:t>分，</a:t>
            </a:r>
            <a:r>
              <a:rPr lang="en-US" altLang="zh-CN" sz="1200" dirty="0">
                <a:solidFill>
                  <a:schemeClr val="tx1"/>
                </a:solidFill>
                <a:latin typeface="黑体" panose="02010609060101010101" pitchFamily="49" charset="-122"/>
                <a:ea typeface="黑体" panose="02010609060101010101" pitchFamily="49" charset="-122"/>
                <a:cs typeface="黑体" panose="02010609060101010101" pitchFamily="49" charset="-122"/>
              </a:rPr>
              <a:t>EE</a:t>
            </a:r>
            <a:r>
              <a:rPr lang="zh-CN" altLang="en-US" sz="1200" dirty="0">
                <a:solidFill>
                  <a:schemeClr val="tx1"/>
                </a:solidFill>
                <a:latin typeface="黑体" panose="02010609060101010101" pitchFamily="49" charset="-122"/>
                <a:ea typeface="黑体" panose="02010609060101010101" pitchFamily="49" charset="-122"/>
                <a:cs typeface="黑体" panose="02010609060101010101" pitchFamily="49" charset="-122"/>
              </a:rPr>
              <a:t>可升至</a:t>
            </a:r>
            <a:r>
              <a:rPr lang="en-US" altLang="zh-CN" sz="1200" dirty="0">
                <a:solidFill>
                  <a:schemeClr val="tx1"/>
                </a:solidFill>
                <a:latin typeface="黑体" panose="02010609060101010101" pitchFamily="49" charset="-122"/>
                <a:ea typeface="黑体" panose="02010609060101010101" pitchFamily="49" charset="-122"/>
                <a:cs typeface="黑体" panose="02010609060101010101" pitchFamily="49" charset="-122"/>
              </a:rPr>
              <a:t>65—68</a:t>
            </a:r>
            <a:r>
              <a:rPr lang="zh-CN" altLang="en-US" sz="1200" dirty="0">
                <a:solidFill>
                  <a:schemeClr val="tx1"/>
                </a:solidFill>
                <a:latin typeface="黑体" panose="02010609060101010101" pitchFamily="49" charset="-122"/>
                <a:ea typeface="黑体" panose="02010609060101010101" pitchFamily="49" charset="-122"/>
                <a:cs typeface="黑体" panose="02010609060101010101" pitchFamily="49" charset="-122"/>
              </a:rPr>
              <a:t>，对应等级从 </a:t>
            </a:r>
            <a:r>
              <a:rPr lang="en-US" altLang="zh-CN" sz="1200" dirty="0">
                <a:solidFill>
                  <a:schemeClr val="tx1"/>
                </a:solidFill>
                <a:latin typeface="黑体" panose="02010609060101010101" pitchFamily="49" charset="-122"/>
                <a:ea typeface="黑体" panose="02010609060101010101" pitchFamily="49" charset="-122"/>
                <a:cs typeface="黑体" panose="02010609060101010101" pitchFamily="49" charset="-122"/>
              </a:rPr>
              <a:t>BBB</a:t>
            </a:r>
            <a:r>
              <a:rPr lang="zh-CN" altLang="en-US" sz="1200" dirty="0">
                <a:solidFill>
                  <a:schemeClr val="tx1"/>
                </a:solidFill>
                <a:latin typeface="黑体" panose="02010609060101010101" pitchFamily="49" charset="-122"/>
                <a:ea typeface="黑体" panose="02010609060101010101" pitchFamily="49" charset="-122"/>
                <a:cs typeface="黑体" panose="02010609060101010101" pitchFamily="49" charset="-122"/>
              </a:rPr>
              <a:t>升至</a:t>
            </a:r>
            <a:r>
              <a:rPr lang="en-US" altLang="zh-CN" sz="1200" dirty="0">
                <a:solidFill>
                  <a:schemeClr val="tx1"/>
                </a:solidFill>
                <a:latin typeface="黑体" panose="02010609060101010101" pitchFamily="49" charset="-122"/>
                <a:ea typeface="黑体" panose="02010609060101010101" pitchFamily="49" charset="-122"/>
                <a:cs typeface="黑体" panose="02010609060101010101" pitchFamily="49" charset="-122"/>
              </a:rPr>
              <a:t>A</a:t>
            </a:r>
            <a:r>
              <a:rPr lang="zh-CN" altLang="en-US" sz="1200" dirty="0">
                <a:solidFill>
                  <a:schemeClr val="tx1"/>
                </a:solidFill>
                <a:latin typeface="黑体" panose="02010609060101010101" pitchFamily="49" charset="-122"/>
                <a:ea typeface="黑体" panose="02010609060101010101" pitchFamily="49" charset="-122"/>
                <a:cs typeface="黑体" panose="02010609060101010101" pitchFamily="49" charset="-122"/>
              </a:rPr>
              <a:t>，融资溢价下降约 </a:t>
            </a:r>
            <a:r>
              <a:rPr lang="en-US" altLang="zh-CN" sz="1200" dirty="0">
                <a:solidFill>
                  <a:schemeClr val="tx1"/>
                </a:solidFill>
                <a:latin typeface="黑体" panose="02010609060101010101" pitchFamily="49" charset="-122"/>
                <a:ea typeface="黑体" panose="02010609060101010101" pitchFamily="49" charset="-122"/>
                <a:cs typeface="黑体" panose="02010609060101010101" pitchFamily="49" charset="-122"/>
              </a:rPr>
              <a:t>100bp</a:t>
            </a:r>
            <a:r>
              <a:rPr lang="zh-CN" altLang="en-US" sz="1200" dirty="0">
                <a:solidFill>
                  <a:schemeClr val="tx1"/>
                </a:solidFill>
                <a:latin typeface="黑体" panose="02010609060101010101" pitchFamily="49" charset="-122"/>
                <a:ea typeface="黑体" panose="02010609060101010101" pitchFamily="49" charset="-122"/>
                <a:cs typeface="黑体" panose="02010609060101010101" pitchFamily="49" charset="-122"/>
              </a:rPr>
              <a:t>。这一敏感性分析直接说明环境价值维度在信用评估中的财务杠杆效应。</a:t>
            </a:r>
            <a:endParaRPr lang="zh-CN" altLang="en-US" sz="1200" dirty="0">
              <a:solidFill>
                <a:schemeClr val="tx1"/>
              </a:solidFill>
              <a:latin typeface="黑体" panose="02010609060101010101" pitchFamily="49" charset="-122"/>
              <a:ea typeface="黑体" panose="02010609060101010101" pitchFamily="49" charset="-122"/>
              <a:cs typeface="黑体" panose="02010609060101010101" pitchFamily="49" charset="-122"/>
            </a:endParaRPr>
          </a:p>
        </p:txBody>
      </p:sp>
      <p:grpSp>
        <p:nvGrpSpPr>
          <p:cNvPr id="3" name="组合 2"/>
          <p:cNvGrpSpPr/>
          <p:nvPr/>
        </p:nvGrpSpPr>
        <p:grpSpPr>
          <a:xfrm>
            <a:off x="1063623" y="4138121"/>
            <a:ext cx="3162734" cy="307777"/>
            <a:chOff x="1063623" y="4138121"/>
            <a:chExt cx="3162734" cy="307777"/>
          </a:xfrm>
        </p:grpSpPr>
        <p:sp>
          <p:nvSpPr>
            <p:cNvPr id="318" name="矩形 317"/>
            <p:cNvSpPr/>
            <p:nvPr/>
          </p:nvSpPr>
          <p:spPr>
            <a:xfrm>
              <a:off x="1063623" y="4175327"/>
              <a:ext cx="234313" cy="234313"/>
            </a:xfrm>
            <a:prstGeom prst="rect">
              <a:avLst/>
            </a:prstGeom>
            <a:solidFill>
              <a:srgbClr val="3F762B"/>
            </a:solidFill>
            <a:ln>
              <a:solidFill>
                <a:srgbClr val="3F76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微软雅黑" panose="020B0503020204020204" pitchFamily="34" charset="-122"/>
                  <a:ea typeface="微软雅黑" panose="020B0503020204020204" pitchFamily="34" charset="-122"/>
                </a:rPr>
                <a:t>2</a:t>
              </a:r>
              <a:endParaRPr lang="zh-CN" altLang="en-US" sz="1400" b="1" dirty="0">
                <a:latin typeface="微软雅黑" panose="020B0503020204020204" pitchFamily="34" charset="-122"/>
                <a:ea typeface="微软雅黑" panose="020B0503020204020204" pitchFamily="34" charset="-122"/>
              </a:endParaRPr>
            </a:p>
          </p:txBody>
        </p:sp>
        <p:sp>
          <p:nvSpPr>
            <p:cNvPr id="972" name="文本框 971"/>
            <p:cNvSpPr txBox="1"/>
            <p:nvPr/>
          </p:nvSpPr>
          <p:spPr>
            <a:xfrm>
              <a:off x="1301543" y="4138121"/>
              <a:ext cx="2924814" cy="307777"/>
            </a:xfrm>
            <a:prstGeom prst="rect">
              <a:avLst/>
            </a:prstGeom>
            <a:noFill/>
          </p:spPr>
          <p:txBody>
            <a:bodyPr wrap="square">
              <a:spAutoFit/>
            </a:bodyPr>
            <a:lstStyle/>
            <a:p>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华文宋体" panose="02010600040101010101" charset="-122"/>
                </a:rPr>
                <a:t>案例的基础</a:t>
              </a:r>
              <a:r>
                <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华文宋体" panose="02010600040101010101" charset="-122"/>
                </a:rPr>
                <a:t>ESCS</a:t>
              </a: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华文宋体" panose="02010600040101010101" charset="-122"/>
                </a:rPr>
                <a:t>评分结果</a:t>
              </a:r>
              <a:endParaRPr lang="zh-CN" altLang="en-US" dirty="0"/>
            </a:p>
          </p:txBody>
        </p:sp>
      </p:grpSp>
      <p:sp>
        <p:nvSpPr>
          <p:cNvPr id="1023" name="箭头: V 形 1022"/>
          <p:cNvSpPr/>
          <p:nvPr/>
        </p:nvSpPr>
        <p:spPr>
          <a:xfrm rot="5400000">
            <a:off x="2672017" y="3781471"/>
            <a:ext cx="230506" cy="575156"/>
          </a:xfrm>
          <a:prstGeom prst="chevron">
            <a:avLst/>
          </a:prstGeom>
          <a:pattFill prst="wdUpDiag">
            <a:fgClr>
              <a:srgbClr val="559F3A"/>
            </a:fgClr>
            <a:bgClr>
              <a:srgbClr val="C2DCBE"/>
            </a:bgClr>
          </a:pattFill>
          <a:ln>
            <a:solidFill>
              <a:srgbClr val="443C29"/>
            </a:solidFill>
          </a:ln>
          <a:effectLst>
            <a:outerShdw blurRad="254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24" name="箭头: V 形 1023"/>
          <p:cNvSpPr/>
          <p:nvPr/>
        </p:nvSpPr>
        <p:spPr>
          <a:xfrm>
            <a:off x="5169678" y="5017562"/>
            <a:ext cx="215340" cy="611713"/>
          </a:xfrm>
          <a:prstGeom prst="chevron">
            <a:avLst/>
          </a:prstGeom>
          <a:pattFill prst="wdUpDiag">
            <a:fgClr>
              <a:srgbClr val="559F3A"/>
            </a:fgClr>
            <a:bgClr>
              <a:srgbClr val="C2DCBE"/>
            </a:bgClr>
          </a:pattFill>
          <a:ln>
            <a:solidFill>
              <a:srgbClr val="305921"/>
            </a:solidFill>
          </a:ln>
          <a:effectLst>
            <a:outerShdw blurRad="254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矩形 7"/>
          <p:cNvSpPr/>
          <p:nvPr/>
        </p:nvSpPr>
        <p:spPr>
          <a:xfrm>
            <a:off x="1028141" y="1695540"/>
            <a:ext cx="4003812" cy="2249298"/>
          </a:xfrm>
          <a:prstGeom prst="rect">
            <a:avLst/>
          </a:prstGeom>
          <a:solidFill>
            <a:srgbClr val="F3F9E9"/>
          </a:solidFill>
          <a:ln>
            <a:solidFill>
              <a:srgbClr val="F3F9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fontAlgn="auto">
              <a:spcAft>
                <a:spcPts val="0"/>
              </a:spcAft>
              <a:buFont typeface="Wingdings" panose="05000000000000000000" charset="0"/>
              <a:buChar char="p"/>
            </a:pP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该储能项目地处广州，是一个容量为</a:t>
            </a:r>
            <a:r>
              <a:rPr lang="en-GB"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100MW/200MWh</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的 </a:t>
            </a:r>
            <a:r>
              <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4 </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小时</a:t>
            </a:r>
            <a:r>
              <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LFP</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（磷酸铁锂技术路线）储能电站。</a:t>
            </a:r>
            <a:endPar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endParaRPr>
          </a:p>
          <a:p>
            <a:pPr marL="285750" indent="-285750" algn="just" fontAlgn="auto">
              <a:spcAft>
                <a:spcPts val="0"/>
              </a:spcAft>
              <a:buFont typeface="Wingdings" panose="05000000000000000000" charset="0"/>
              <a:buChar char="p"/>
            </a:pP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该项目的系统效率为</a:t>
            </a:r>
            <a:r>
              <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90%</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，电池循环寿命为</a:t>
            </a:r>
            <a:r>
              <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10000</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次，按照</a:t>
            </a:r>
            <a:r>
              <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2%</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的年衰减率进行折旧计算。</a:t>
            </a:r>
            <a:endPar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endParaRPr>
          </a:p>
          <a:p>
            <a:pPr marL="285750" indent="-285750" algn="just" fontAlgn="auto">
              <a:spcAft>
                <a:spcPts val="0"/>
              </a:spcAft>
              <a:buFont typeface="Wingdings" panose="05000000000000000000" charset="0"/>
              <a:buChar char="p"/>
            </a:pP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项目的</a:t>
            </a:r>
            <a:r>
              <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CAPEX</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为</a:t>
            </a:r>
            <a:r>
              <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3</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亿元，初期贷款</a:t>
            </a:r>
            <a:r>
              <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CAPEX</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的</a:t>
            </a:r>
            <a:r>
              <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70%</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，按</a:t>
            </a:r>
            <a:r>
              <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4.5%</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的利率贷款</a:t>
            </a:r>
            <a:r>
              <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15</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年。</a:t>
            </a:r>
            <a:endPar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endParaRPr>
          </a:p>
          <a:p>
            <a:pPr marL="285750" indent="-285750" algn="just" fontAlgn="auto">
              <a:spcAft>
                <a:spcPts val="0"/>
              </a:spcAft>
              <a:buFont typeface="Wingdings" panose="05000000000000000000" charset="0"/>
              <a:buChar char="p"/>
            </a:pP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项目的收入主要来自</a:t>
            </a:r>
            <a:r>
              <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280</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次</a:t>
            </a:r>
            <a:r>
              <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年的放电频率，按广东</a:t>
            </a:r>
            <a:r>
              <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0.79 </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元</a:t>
            </a:r>
            <a:r>
              <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a:t>
            </a:r>
            <a:r>
              <a:rPr lang="en-GB"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kWh</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计价，并获得</a:t>
            </a:r>
            <a:r>
              <a:rPr lang="en-GB"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/0.65/kWh</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的调频补偿。</a:t>
            </a:r>
            <a:endPar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endParaRPr>
          </a:p>
          <a:p>
            <a:pPr marL="285750" indent="-285750" algn="just" fontAlgn="auto">
              <a:spcAft>
                <a:spcPts val="0"/>
              </a:spcAft>
              <a:buFont typeface="Wingdings" panose="05000000000000000000" charset="0"/>
              <a:buChar char="p"/>
            </a:pP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对于环境维度的考量，该项目的电网排放因子为</a:t>
            </a:r>
            <a:r>
              <a:rPr lang="en-GB"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0.59 </a:t>
            </a:r>
            <a:r>
              <a:rPr lang="en-GB" altLang="zh-CN" sz="1200" dirty="0" err="1">
                <a:solidFill>
                  <a:schemeClr val="tx1"/>
                </a:solidFill>
                <a:latin typeface="微软雅黑" panose="020B0503020204020204" pitchFamily="34" charset="-122"/>
                <a:ea typeface="微软雅黑" panose="020B0503020204020204" pitchFamily="34" charset="-122"/>
                <a:cs typeface="华文宋体" panose="02010600040101010101" charset="-122"/>
              </a:rPr>
              <a:t>kgCO</a:t>
            </a:r>
            <a:r>
              <a:rPr lang="en-GB"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₂/kWh</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，按照</a:t>
            </a:r>
            <a:r>
              <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CCER 70</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元</a:t>
            </a:r>
            <a:r>
              <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/t</a:t>
            </a:r>
            <a:r>
              <a:rPr lang="en-GB"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CO₂</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，和</a:t>
            </a:r>
            <a:r>
              <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30</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元</a:t>
            </a:r>
            <a:r>
              <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/MWh</a:t>
            </a:r>
            <a:r>
              <a:rPr lang="zh-CN" altLang="en-US" sz="1200" dirty="0">
                <a:solidFill>
                  <a:schemeClr val="tx1"/>
                </a:solidFill>
                <a:latin typeface="微软雅黑" panose="020B0503020204020204" pitchFamily="34" charset="-122"/>
                <a:ea typeface="微软雅黑" panose="020B0503020204020204" pitchFamily="34" charset="-122"/>
                <a:cs typeface="华文宋体" panose="02010600040101010101" charset="-122"/>
              </a:rPr>
              <a:t>的绿证成交价计算营业外收入。</a:t>
            </a:r>
            <a:endParaRPr lang="en-US" altLang="zh-CN" sz="1200" dirty="0">
              <a:solidFill>
                <a:schemeClr val="tx1"/>
              </a:solidFill>
              <a:latin typeface="微软雅黑" panose="020B0503020204020204" pitchFamily="34" charset="-122"/>
              <a:ea typeface="微软雅黑" panose="020B0503020204020204" pitchFamily="34" charset="-122"/>
              <a:cs typeface="华文宋体" panose="02010600040101010101" charset="-122"/>
            </a:endParaRPr>
          </a:p>
        </p:txBody>
      </p:sp>
      <p:graphicFrame>
        <p:nvGraphicFramePr>
          <p:cNvPr id="1019" name="Chart 3"/>
          <p:cNvGraphicFramePr/>
          <p:nvPr>
            <p:custDataLst>
              <p:tags r:id="rId8"/>
            </p:custDataLst>
          </p:nvPr>
        </p:nvGraphicFramePr>
        <p:xfrm>
          <a:off x="1328738" y="4568825"/>
          <a:ext cx="3011487" cy="1682750"/>
        </p:xfrm>
        <a:graphic>
          <a:graphicData uri="http://schemas.openxmlformats.org/drawingml/2006/chart">
            <c:chart xmlns:c="http://schemas.openxmlformats.org/drawingml/2006/chart" xmlns:r="http://schemas.openxmlformats.org/officeDocument/2006/relationships" r:id="rId1"/>
          </a:graphicData>
        </a:graphic>
      </p:graphicFrame>
      <p:sp>
        <p:nvSpPr>
          <p:cNvPr id="964" name="箭头: 右 963"/>
          <p:cNvSpPr/>
          <p:nvPr>
            <p:custDataLst>
              <p:tags r:id="rId9"/>
            </p:custDataLst>
          </p:nvPr>
        </p:nvSpPr>
        <p:spPr bwMode="auto">
          <a:xfrm rot="10800000">
            <a:off x="4308475" y="5106988"/>
            <a:ext cx="128587" cy="152400"/>
          </a:xfrm>
          <a:prstGeom prst="rightArrow">
            <a:avLst>
              <a:gd name="adj1" fmla="val 100000"/>
              <a:gd name="adj2" fmla="val 100000"/>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68" name="直接连接符 967"/>
          <p:cNvCxnSpPr/>
          <p:nvPr>
            <p:custDataLst>
              <p:tags r:id="rId10"/>
            </p:custDataLst>
          </p:nvPr>
        </p:nvCxnSpPr>
        <p:spPr bwMode="auto">
          <a:xfrm>
            <a:off x="1411288" y="5183188"/>
            <a:ext cx="2846388" cy="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98" name="文本占位符 3"/>
          <p:cNvSpPr/>
          <p:nvPr>
            <p:custDataLst>
              <p:tags r:id="rId11"/>
            </p:custDataLst>
          </p:nvPr>
        </p:nvSpPr>
        <p:spPr bwMode="gray">
          <a:xfrm>
            <a:off x="1646238" y="5602288"/>
            <a:ext cx="23812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zh-CN" sz="1400" dirty="0">
                <a:solidFill>
                  <a:schemeClr val="bg1"/>
                </a:solidFill>
              </a:rPr>
              <a:t>62</a:t>
            </a:r>
            <a:endParaRPr lang="zh-CN" altLang="en-US" sz="1400" dirty="0">
              <a:solidFill>
                <a:schemeClr val="bg1"/>
              </a:solidFill>
            </a:endParaRPr>
          </a:p>
        </p:txBody>
      </p:sp>
      <p:sp>
        <p:nvSpPr>
          <p:cNvPr id="1001" name="文本占位符 3"/>
          <p:cNvSpPr/>
          <p:nvPr>
            <p:custDataLst>
              <p:tags r:id="rId12"/>
            </p:custDataLst>
          </p:nvPr>
        </p:nvSpPr>
        <p:spPr bwMode="gray">
          <a:xfrm>
            <a:off x="2359025" y="5524500"/>
            <a:ext cx="23812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zh-CN" sz="1400" dirty="0">
                <a:solidFill>
                  <a:schemeClr val="bg1"/>
                </a:solidFill>
              </a:rPr>
              <a:t>72</a:t>
            </a:r>
            <a:endParaRPr lang="zh-CN" altLang="en-US" sz="1400" dirty="0">
              <a:solidFill>
                <a:schemeClr val="bg1"/>
              </a:solidFill>
            </a:endParaRPr>
          </a:p>
        </p:txBody>
      </p:sp>
      <p:sp>
        <p:nvSpPr>
          <p:cNvPr id="31" name="文本占位符 3"/>
          <p:cNvSpPr/>
          <p:nvPr>
            <p:custDataLst>
              <p:tags r:id="rId13"/>
            </p:custDataLst>
          </p:nvPr>
        </p:nvSpPr>
        <p:spPr bwMode="auto">
          <a:xfrm>
            <a:off x="2217738" y="6211888"/>
            <a:ext cx="520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32FB4275-0062-4E0C-9896-1CEC07EFA9A6}" type="datetime'技''''术''''''''''''''''''''''''''''''''维''''''''''''度'''''">
              <a:rPr lang="zh-CN" altLang="en-US" sz="1000" b="1" smtClean="0"/>
            </a:fld>
            <a:endParaRPr lang="zh-CN" altLang="en-US" sz="1000" b="1" dirty="0"/>
          </a:p>
        </p:txBody>
      </p:sp>
      <p:sp>
        <p:nvSpPr>
          <p:cNvPr id="1004" name="文本占位符 3"/>
          <p:cNvSpPr/>
          <p:nvPr>
            <p:custDataLst>
              <p:tags r:id="rId14"/>
            </p:custDataLst>
          </p:nvPr>
        </p:nvSpPr>
        <p:spPr bwMode="gray">
          <a:xfrm>
            <a:off x="3070225" y="5514975"/>
            <a:ext cx="23812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zh-CN" sz="1400" dirty="0">
                <a:solidFill>
                  <a:schemeClr val="bg1"/>
                </a:solidFill>
                <a:effectLst/>
              </a:rPr>
              <a:t>74</a:t>
            </a:r>
            <a:endParaRPr lang="zh-CN" altLang="en-US" sz="1400" dirty="0">
              <a:solidFill>
                <a:schemeClr val="bg1"/>
              </a:solidFill>
            </a:endParaRPr>
          </a:p>
        </p:txBody>
      </p:sp>
      <p:sp>
        <p:nvSpPr>
          <p:cNvPr id="33" name="文本占位符 3"/>
          <p:cNvSpPr/>
          <p:nvPr>
            <p:custDataLst>
              <p:tags r:id="rId15"/>
            </p:custDataLst>
          </p:nvPr>
        </p:nvSpPr>
        <p:spPr bwMode="auto">
          <a:xfrm>
            <a:off x="2928938" y="6211888"/>
            <a:ext cx="520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03416CA6-5705-4128-B78B-06C46DF8EC56}" type="datetime'''''''''''''市''''''''''场''''''''''维''''''''''''''度'''''">
              <a:rPr lang="zh-CN" altLang="en-US" sz="1000" b="1" smtClean="0"/>
            </a:fld>
            <a:endParaRPr lang="zh-CN" altLang="en-US" sz="1000" b="1" dirty="0"/>
          </a:p>
        </p:txBody>
      </p:sp>
      <p:sp>
        <p:nvSpPr>
          <p:cNvPr id="1007" name="文本占位符 3"/>
          <p:cNvSpPr/>
          <p:nvPr>
            <p:custDataLst>
              <p:tags r:id="rId16"/>
            </p:custDataLst>
          </p:nvPr>
        </p:nvSpPr>
        <p:spPr bwMode="gray">
          <a:xfrm>
            <a:off x="3781425" y="5773738"/>
            <a:ext cx="23812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zh-CN" sz="1400" dirty="0">
                <a:solidFill>
                  <a:schemeClr val="bg1"/>
                </a:solidFill>
                <a:effectLst/>
              </a:rPr>
              <a:t>40</a:t>
            </a:r>
            <a:endParaRPr lang="zh-CN" altLang="en-US" sz="1400" dirty="0">
              <a:solidFill>
                <a:schemeClr val="bg1"/>
              </a:solidFill>
            </a:endParaRPr>
          </a:p>
        </p:txBody>
      </p:sp>
      <p:sp>
        <p:nvSpPr>
          <p:cNvPr id="463" name="文本占位符 3"/>
          <p:cNvSpPr/>
          <p:nvPr>
            <p:custDataLst>
              <p:tags r:id="rId17"/>
            </p:custDataLst>
          </p:nvPr>
        </p:nvSpPr>
        <p:spPr bwMode="auto">
          <a:xfrm>
            <a:off x="917575" y="5629275"/>
            <a:ext cx="5080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BE251EF-229F-4801-8E88-F91C1CC6479C}" type="datetime'''''指''''''''''''''''''''标''''''结''果'''''">
              <a:rPr lang="zh-CN" altLang="en-US" sz="1000" b="1" smtClean="0"/>
            </a:fld>
            <a:endParaRPr lang="zh-CN" altLang="en-US" sz="1000" b="1" dirty="0"/>
          </a:p>
        </p:txBody>
      </p:sp>
      <p:sp>
        <p:nvSpPr>
          <p:cNvPr id="962" name="文本占位符 3"/>
          <p:cNvSpPr/>
          <p:nvPr>
            <p:custDataLst>
              <p:tags r:id="rId18"/>
            </p:custDataLst>
          </p:nvPr>
        </p:nvSpPr>
        <p:spPr bwMode="auto">
          <a:xfrm>
            <a:off x="4487863" y="5114925"/>
            <a:ext cx="647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zh-CN" altLang="en-US" sz="1000" b="1" dirty="0"/>
              <a:t>基础评分</a:t>
            </a:r>
            <a:r>
              <a:rPr lang="en-US" altLang="zh-CN" sz="1000" b="1" dirty="0"/>
              <a:t>64</a:t>
            </a:r>
            <a:endParaRPr lang="zh-CN" altLang="en-US" sz="1000" b="1" dirty="0"/>
          </a:p>
        </p:txBody>
      </p:sp>
      <p:sp>
        <p:nvSpPr>
          <p:cNvPr id="21" name="文本占位符 3"/>
          <p:cNvSpPr/>
          <p:nvPr>
            <p:custDataLst>
              <p:tags r:id="rId19"/>
            </p:custDataLst>
          </p:nvPr>
        </p:nvSpPr>
        <p:spPr bwMode="gray">
          <a:xfrm>
            <a:off x="1601788" y="4433888"/>
            <a:ext cx="32702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281F2D8A-441A-4D4C-8E0A-1623EF9FBE39}" type="datetime'''''''''''''''''''''3''''''''''''''''''''''''0'''''''''">
              <a:rPr lang="zh-CN" altLang="en-US" sz="1400" smtClean="0"/>
            </a:fld>
            <a:r>
              <a:rPr lang="en-US" altLang="zh-CN" sz="1400" dirty="0"/>
              <a:t>%</a:t>
            </a:r>
            <a:endParaRPr lang="zh-CN" altLang="en-US" sz="1400" dirty="0"/>
          </a:p>
        </p:txBody>
      </p:sp>
      <p:sp>
        <p:nvSpPr>
          <p:cNvPr id="23" name="文本占位符 3"/>
          <p:cNvSpPr/>
          <p:nvPr>
            <p:custDataLst>
              <p:tags r:id="rId20"/>
            </p:custDataLst>
          </p:nvPr>
        </p:nvSpPr>
        <p:spPr bwMode="gray">
          <a:xfrm>
            <a:off x="2314575" y="4433888"/>
            <a:ext cx="32702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5B4FCED2-4F03-4E30-B06F-EC882374FD25}" type="datetime'''''''''''''''''''''''''''''''''''''''''2''''5'''''''''">
              <a:rPr lang="zh-CN" altLang="en-US" sz="1400" smtClean="0"/>
            </a:fld>
            <a:r>
              <a:rPr lang="en-US" altLang="zh-CN" sz="1400" dirty="0"/>
              <a:t>%</a:t>
            </a:r>
            <a:endParaRPr lang="zh-CN" altLang="en-US" sz="1400" dirty="0"/>
          </a:p>
        </p:txBody>
      </p:sp>
      <p:sp>
        <p:nvSpPr>
          <p:cNvPr id="24" name="文本占位符 3"/>
          <p:cNvSpPr/>
          <p:nvPr>
            <p:custDataLst>
              <p:tags r:id="rId21"/>
            </p:custDataLst>
          </p:nvPr>
        </p:nvSpPr>
        <p:spPr bwMode="gray">
          <a:xfrm>
            <a:off x="3025775" y="4433888"/>
            <a:ext cx="32702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92EE52E2-0FC4-4E0E-890F-4B5B5E25C187}" type="datetime'''''''''''''''''''''''2''''''''''''''''''''''''5'''''''''">
              <a:rPr lang="zh-CN" altLang="en-US" sz="1400" smtClean="0"/>
            </a:fld>
            <a:r>
              <a:rPr lang="en-US" altLang="zh-CN" sz="1400" dirty="0"/>
              <a:t>%</a:t>
            </a:r>
            <a:endParaRPr lang="zh-CN" altLang="en-US" sz="1400" dirty="0"/>
          </a:p>
        </p:txBody>
      </p:sp>
      <p:sp>
        <p:nvSpPr>
          <p:cNvPr id="54" name="文本占位符 3"/>
          <p:cNvSpPr/>
          <p:nvPr>
            <p:custDataLst>
              <p:tags r:id="rId22"/>
            </p:custDataLst>
          </p:nvPr>
        </p:nvSpPr>
        <p:spPr bwMode="gray">
          <a:xfrm>
            <a:off x="3736975" y="4433888"/>
            <a:ext cx="32702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EEC0E747-DEDD-4EAB-AF9A-0BC215B79556}" type="datetime'''''''''''''''''''''''''''''2''''0'''''''''''''''''''''''''''">
              <a:rPr lang="zh-CN" altLang="en-US" sz="1400" smtClean="0"/>
            </a:fld>
            <a:r>
              <a:rPr lang="en-US" altLang="zh-CN" sz="1400" dirty="0"/>
              <a:t>%</a:t>
            </a:r>
            <a:endParaRPr lang="zh-CN" altLang="en-US" sz="1400" dirty="0"/>
          </a:p>
        </p:txBody>
      </p:sp>
      <mc:AlternateContent xmlns:mc="http://schemas.openxmlformats.org/markup-compatibility/2006">
        <mc:Choice xmlns:a14="http://schemas.microsoft.com/office/drawing/2010/main" Requires="a14">
          <p:sp>
            <p:nvSpPr>
              <p:cNvPr id="1021" name="矩形 1020"/>
              <p:cNvSpPr/>
              <p:nvPr/>
            </p:nvSpPr>
            <p:spPr>
              <a:xfrm>
                <a:off x="5537401" y="1771639"/>
                <a:ext cx="2689230" cy="1337321"/>
              </a:xfrm>
              <a:prstGeom prst="rect">
                <a:avLst/>
              </a:prstGeom>
              <a:solidFill>
                <a:srgbClr val="F1EEE8"/>
              </a:solidFill>
              <a:ln>
                <a:solidFill>
                  <a:srgbClr val="F1EEE8"/>
                </a:solid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noAutofit/>
              </a:bodyPr>
              <a:lstStyle/>
              <a:p>
                <a:pPr marL="171450" indent="-171450">
                  <a:buFont typeface="Wingdings" panose="05000000000000000000" pitchFamily="2" charset="2"/>
                  <a:buChar char="p"/>
                </a:pPr>
                <a:r>
                  <a:rPr lang="zh-CN" altLang="en-US" sz="1200" dirty="0">
                    <a:solidFill>
                      <a:schemeClr val="tx1"/>
                    </a:solidFill>
                    <a:latin typeface="微软雅黑" panose="020B0503020204020204" pitchFamily="34" charset="-122"/>
                    <a:ea typeface="微软雅黑" panose="020B0503020204020204" pitchFamily="34" charset="-122"/>
                  </a:rPr>
                  <a:t>该项目的收益项目标准差：</a:t>
                </a:r>
                <a:endParaRPr lang="en-US" altLang="zh-CN" sz="1200" dirty="0">
                  <a:solidFill>
                    <a:schemeClr val="tx1"/>
                  </a:solidFill>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sSub>
                        <m:sSubPr>
                          <m:ctrlPr>
                            <a:rPr lang="en-US" altLang="zh-CN" sz="1200" i="1" smtClean="0">
                              <a:solidFill>
                                <a:schemeClr val="tx1"/>
                              </a:solidFill>
                              <a:latin typeface="Cambria Math" panose="02040503050406030204" pitchFamily="18" charset="0"/>
                              <a:ea typeface="微软雅黑" panose="020B0503020204020204" pitchFamily="34" charset="-122"/>
                            </a:rPr>
                          </m:ctrlPr>
                        </m:sSubPr>
                        <m:e>
                          <m:r>
                            <a:rPr lang="zh-CN" altLang="en-US" sz="1200" i="1" smtClean="0">
                              <a:solidFill>
                                <a:schemeClr val="tx1"/>
                              </a:solidFill>
                              <a:latin typeface="Cambria Math" panose="02040503050406030204" pitchFamily="18" charset="0"/>
                              <a:ea typeface="微软雅黑" panose="020B0503020204020204" pitchFamily="34" charset="-122"/>
                            </a:rPr>
                            <m:t>𝜎</m:t>
                          </m:r>
                        </m:e>
                        <m:sub>
                          <m:r>
                            <a:rPr lang="en-US" altLang="zh-CN" sz="1200" b="0" i="1" smtClean="0">
                              <a:solidFill>
                                <a:schemeClr val="tx1"/>
                              </a:solidFill>
                              <a:latin typeface="Cambria Math" panose="02040503050406030204" pitchFamily="18" charset="0"/>
                              <a:ea typeface="微软雅黑" panose="020B0503020204020204" pitchFamily="34" charset="-122"/>
                            </a:rPr>
                            <m:t>𝑟𝑒𝑣𝑒𝑛𝑢𝑒</m:t>
                          </m:r>
                        </m:sub>
                      </m:sSub>
                      <m:r>
                        <a:rPr lang="en-US" altLang="zh-CN" sz="1200" b="0" i="1" smtClean="0">
                          <a:solidFill>
                            <a:schemeClr val="tx1"/>
                          </a:solidFill>
                          <a:latin typeface="Cambria Math" panose="02040503050406030204" pitchFamily="18" charset="0"/>
                          <a:ea typeface="微软雅黑" panose="020B0503020204020204" pitchFamily="34" charset="-122"/>
                        </a:rPr>
                        <m:t>=</m:t>
                      </m:r>
                      <m:r>
                        <a:rPr lang="en-US" altLang="zh-CN" sz="1200" b="0" i="1" smtClean="0">
                          <a:solidFill>
                            <a:schemeClr val="tx1"/>
                          </a:solidFill>
                          <a:latin typeface="Cambria Math" panose="02040503050406030204" pitchFamily="18" charset="0"/>
                          <a:ea typeface="微软雅黑" panose="020B0503020204020204" pitchFamily="34" charset="-122"/>
                        </a:rPr>
                        <m:t>2</m:t>
                      </m:r>
                      <m:r>
                        <a:rPr lang="en-US" altLang="zh-CN" sz="1200" b="0" i="1" smtClean="0">
                          <a:solidFill>
                            <a:schemeClr val="tx1"/>
                          </a:solidFill>
                          <a:latin typeface="Cambria Math" panose="02040503050406030204" pitchFamily="18" charset="0"/>
                          <a:ea typeface="微软雅黑" panose="020B0503020204020204" pitchFamily="34" charset="-122"/>
                        </a:rPr>
                        <m:t>.</m:t>
                      </m:r>
                      <m:r>
                        <a:rPr lang="en-US" altLang="zh-CN" sz="1200" b="0" i="1" smtClean="0">
                          <a:solidFill>
                            <a:schemeClr val="tx1"/>
                          </a:solidFill>
                          <a:latin typeface="Cambria Math" panose="02040503050406030204" pitchFamily="18" charset="0"/>
                          <a:ea typeface="微软雅黑" panose="020B0503020204020204" pitchFamily="34" charset="-122"/>
                        </a:rPr>
                        <m:t>97</m:t>
                      </m:r>
                    </m:oMath>
                  </m:oMathPara>
                </a14:m>
                <a:endParaRPr lang="en-US" altLang="zh-CN" sz="1200" dirty="0">
                  <a:solidFill>
                    <a:schemeClr val="tx1"/>
                  </a:solidFill>
                  <a:latin typeface="微软雅黑" panose="020B0503020204020204" pitchFamily="34" charset="-122"/>
                  <a:ea typeface="微软雅黑" panose="020B0503020204020204" pitchFamily="34" charset="-122"/>
                </a:endParaRPr>
              </a:p>
              <a:p>
                <a:pPr marL="171450" indent="-171450">
                  <a:buFont typeface="Wingdings" panose="05000000000000000000" pitchFamily="2" charset="2"/>
                  <a:buChar char="p"/>
                </a:pPr>
                <a:r>
                  <a:rPr lang="zh-CN" altLang="en-US" sz="1200" dirty="0">
                    <a:solidFill>
                      <a:schemeClr val="tx1"/>
                    </a:solidFill>
                    <a:latin typeface="微软雅黑" panose="020B0503020204020204" pitchFamily="34" charset="-122"/>
                    <a:ea typeface="微软雅黑" panose="020B0503020204020204" pitchFamily="34" charset="-122"/>
                  </a:rPr>
                  <a:t>经计算，风险调整项结果：</a:t>
                </a:r>
                <a:endParaRPr lang="en-US" altLang="zh-CN" sz="1200" dirty="0">
                  <a:solidFill>
                    <a:schemeClr val="tx1"/>
                  </a:solidFill>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sSub>
                        <m:sSubPr>
                          <m:ctrlPr>
                            <a:rPr lang="en-US" altLang="zh-CN" sz="1200" i="1" smtClean="0">
                              <a:solidFill>
                                <a:schemeClr val="tx1"/>
                              </a:solidFill>
                              <a:latin typeface="Cambria Math" panose="02040503050406030204" pitchFamily="18" charset="0"/>
                              <a:ea typeface="微软雅黑" panose="020B0503020204020204" pitchFamily="34" charset="-122"/>
                            </a:rPr>
                          </m:ctrlPr>
                        </m:sSubPr>
                        <m:e>
                          <m:r>
                            <a:rPr lang="zh-CN" altLang="en-US" sz="1200" i="1" smtClean="0">
                              <a:solidFill>
                                <a:schemeClr val="tx1"/>
                              </a:solidFill>
                              <a:latin typeface="Cambria Math" panose="02040503050406030204" pitchFamily="18" charset="0"/>
                              <a:ea typeface="微软雅黑" panose="020B0503020204020204" pitchFamily="34" charset="-122"/>
                            </a:rPr>
                            <m:t>𝜆</m:t>
                          </m:r>
                          <m:r>
                            <a:rPr lang="zh-CN" altLang="en-US" sz="1200" i="1" smtClean="0">
                              <a:solidFill>
                                <a:schemeClr val="tx1"/>
                              </a:solidFill>
                              <a:latin typeface="Cambria Math" panose="02040503050406030204" pitchFamily="18" charset="0"/>
                              <a:ea typeface="微软雅黑" panose="020B0503020204020204" pitchFamily="34" charset="-122"/>
                            </a:rPr>
                            <m:t>⋅</m:t>
                          </m:r>
                          <m:r>
                            <a:rPr lang="zh-CN" altLang="en-US" sz="1200" i="1" smtClean="0">
                              <a:solidFill>
                                <a:schemeClr val="tx1"/>
                              </a:solidFill>
                              <a:latin typeface="Cambria Math" panose="02040503050406030204" pitchFamily="18" charset="0"/>
                              <a:ea typeface="微软雅黑" panose="020B0503020204020204" pitchFamily="34" charset="-122"/>
                            </a:rPr>
                            <m:t>𝜎</m:t>
                          </m:r>
                        </m:e>
                        <m:sub>
                          <m:r>
                            <m:rPr>
                              <m:sty m:val="p"/>
                            </m:rPr>
                            <a:rPr lang="en-US" altLang="zh-CN" sz="1200" i="1">
                              <a:solidFill>
                                <a:schemeClr val="tx1"/>
                              </a:solidFill>
                              <a:latin typeface="Cambria Math" panose="02040503050406030204" pitchFamily="18" charset="0"/>
                              <a:ea typeface="微软雅黑" panose="020B0503020204020204" pitchFamily="34" charset="-122"/>
                            </a:rPr>
                            <m:t>revenue</m:t>
                          </m:r>
                        </m:sub>
                      </m:sSub>
                      <m:r>
                        <a:rPr lang="en-US" altLang="zh-CN" sz="1200" i="1">
                          <a:solidFill>
                            <a:schemeClr val="tx1"/>
                          </a:solidFill>
                          <a:latin typeface="Cambria Math" panose="02040503050406030204" pitchFamily="18" charset="0"/>
                          <a:ea typeface="微软雅黑" panose="020B0503020204020204" pitchFamily="34" charset="-122"/>
                        </a:rPr>
                        <m:t>=</m:t>
                      </m:r>
                      <m:r>
                        <a:rPr lang="en-US" altLang="zh-CN" sz="1200" i="1" smtClean="0">
                          <a:solidFill>
                            <a:schemeClr val="tx1"/>
                          </a:solidFill>
                          <a:latin typeface="Cambria Math" panose="02040503050406030204" pitchFamily="18" charset="0"/>
                          <a:ea typeface="微软雅黑" panose="020B0503020204020204" pitchFamily="34" charset="-122"/>
                        </a:rPr>
                        <m:t>0</m:t>
                      </m:r>
                      <m:r>
                        <a:rPr lang="en-US" altLang="zh-CN" sz="1200" i="1">
                          <a:solidFill>
                            <a:schemeClr val="tx1"/>
                          </a:solidFill>
                          <a:latin typeface="Cambria Math" panose="02040503050406030204" pitchFamily="18" charset="0"/>
                          <a:ea typeface="微软雅黑" panose="020B0503020204020204" pitchFamily="34" charset="-122"/>
                        </a:rPr>
                        <m:t>.</m:t>
                      </m:r>
                      <m:r>
                        <a:rPr lang="en-US" altLang="zh-CN" sz="1200" b="0" i="0" smtClean="0">
                          <a:solidFill>
                            <a:schemeClr val="tx1"/>
                          </a:solidFill>
                          <a:latin typeface="Cambria Math" panose="02040503050406030204" pitchFamily="18" charset="0"/>
                          <a:ea typeface="微软雅黑" panose="020B0503020204020204" pitchFamily="34" charset="-122"/>
                        </a:rPr>
                        <m:t>5</m:t>
                      </m:r>
                      <m:r>
                        <a:rPr lang="en-US" altLang="zh-CN" sz="1200" b="0" i="1" smtClean="0">
                          <a:solidFill>
                            <a:schemeClr val="tx1"/>
                          </a:solidFill>
                          <a:latin typeface="Cambria Math" panose="02040503050406030204" pitchFamily="18" charset="0"/>
                          <a:ea typeface="Cambria Math" panose="02040503050406030204" pitchFamily="18" charset="0"/>
                        </a:rPr>
                        <m:t>×</m:t>
                      </m:r>
                      <m:r>
                        <a:rPr lang="en-US" altLang="zh-CN" sz="1200" b="0" i="1" smtClean="0">
                          <a:solidFill>
                            <a:schemeClr val="tx1"/>
                          </a:solidFill>
                          <a:latin typeface="Cambria Math" panose="02040503050406030204" pitchFamily="18" charset="0"/>
                          <a:ea typeface="Cambria Math" panose="02040503050406030204" pitchFamily="18" charset="0"/>
                        </a:rPr>
                        <m:t>2</m:t>
                      </m:r>
                      <m:r>
                        <a:rPr lang="en-US" altLang="zh-CN" sz="1200" b="0" i="1" smtClean="0">
                          <a:solidFill>
                            <a:schemeClr val="tx1"/>
                          </a:solidFill>
                          <a:latin typeface="Cambria Math" panose="02040503050406030204" pitchFamily="18" charset="0"/>
                          <a:ea typeface="Cambria Math" panose="02040503050406030204" pitchFamily="18" charset="0"/>
                        </a:rPr>
                        <m:t>.</m:t>
                      </m:r>
                      <m:r>
                        <a:rPr lang="en-US" altLang="zh-CN" sz="1200" b="0" i="1" smtClean="0">
                          <a:solidFill>
                            <a:schemeClr val="tx1"/>
                          </a:solidFill>
                          <a:latin typeface="Cambria Math" panose="02040503050406030204" pitchFamily="18" charset="0"/>
                          <a:ea typeface="Cambria Math" panose="02040503050406030204" pitchFamily="18" charset="0"/>
                        </a:rPr>
                        <m:t>97</m:t>
                      </m:r>
                      <m:r>
                        <a:rPr lang="en-US" altLang="zh-CN" sz="1200" b="0" i="1" smtClean="0">
                          <a:solidFill>
                            <a:schemeClr val="tx1"/>
                          </a:solidFill>
                          <a:latin typeface="Cambria Math" panose="02040503050406030204" pitchFamily="18" charset="0"/>
                          <a:ea typeface="Cambria Math" panose="02040503050406030204" pitchFamily="18" charset="0"/>
                        </a:rPr>
                        <m:t>=</m:t>
                      </m:r>
                      <m:r>
                        <a:rPr lang="en-US" altLang="zh-CN" sz="1200" b="0" i="1" smtClean="0">
                          <a:solidFill>
                            <a:schemeClr val="tx1"/>
                          </a:solidFill>
                          <a:latin typeface="Cambria Math" panose="02040503050406030204" pitchFamily="18" charset="0"/>
                          <a:ea typeface="Cambria Math" panose="02040503050406030204" pitchFamily="18" charset="0"/>
                        </a:rPr>
                        <m:t>1</m:t>
                      </m:r>
                      <m:r>
                        <a:rPr lang="en-US" altLang="zh-CN" sz="1200" b="0" i="1" smtClean="0">
                          <a:solidFill>
                            <a:schemeClr val="tx1"/>
                          </a:solidFill>
                          <a:latin typeface="Cambria Math" panose="02040503050406030204" pitchFamily="18" charset="0"/>
                          <a:ea typeface="Cambria Math" panose="02040503050406030204" pitchFamily="18" charset="0"/>
                        </a:rPr>
                        <m:t>.</m:t>
                      </m:r>
                      <m:r>
                        <a:rPr lang="en-US" altLang="zh-CN" sz="1200" b="0" i="1" smtClean="0">
                          <a:solidFill>
                            <a:schemeClr val="tx1"/>
                          </a:solidFill>
                          <a:latin typeface="Cambria Math" panose="02040503050406030204" pitchFamily="18" charset="0"/>
                          <a:ea typeface="Cambria Math" panose="02040503050406030204" pitchFamily="18" charset="0"/>
                        </a:rPr>
                        <m:t>4</m:t>
                      </m:r>
                    </m:oMath>
                  </m:oMathPara>
                </a14:m>
                <a:endParaRPr lang="en-US" altLang="zh-CN" sz="1200" b="0" dirty="0">
                  <a:solidFill>
                    <a:schemeClr val="tx1"/>
                  </a:solidFill>
                  <a:latin typeface="微软雅黑" panose="020B0503020204020204" pitchFamily="34" charset="-122"/>
                  <a:ea typeface="Cambria Math" panose="02040503050406030204" pitchFamily="18" charset="0"/>
                </a:endParaRPr>
              </a:p>
              <a:p>
                <a:pPr marL="285750" indent="-285750">
                  <a:buFont typeface="Wingdings" panose="05000000000000000000" pitchFamily="2" charset="2"/>
                  <a:buChar char="p"/>
                </a:pPr>
                <a:r>
                  <a:rPr lang="zh-CN" altLang="en-US" sz="1200" dirty="0">
                    <a:solidFill>
                      <a:schemeClr val="tx1"/>
                    </a:solidFill>
                    <a:latin typeface="微软雅黑" panose="020B0503020204020204" pitchFamily="34" charset="-122"/>
                    <a:ea typeface="微软雅黑" panose="020B0503020204020204" pitchFamily="34" charset="-122"/>
                  </a:rPr>
                  <a:t>所以调整后的最终</a:t>
                </a:r>
                <a:r>
                  <a:rPr lang="en-US" altLang="zh-CN" sz="1200" dirty="0">
                    <a:solidFill>
                      <a:schemeClr val="tx1"/>
                    </a:solidFill>
                    <a:latin typeface="微软雅黑" panose="020B0503020204020204" pitchFamily="34" charset="-122"/>
                    <a:ea typeface="微软雅黑" panose="020B0503020204020204" pitchFamily="34" charset="-122"/>
                  </a:rPr>
                  <a:t>ESCS</a:t>
                </a:r>
                <a:r>
                  <a:rPr lang="zh-CN" altLang="en-US" sz="1200" dirty="0">
                    <a:solidFill>
                      <a:schemeClr val="tx1"/>
                    </a:solidFill>
                    <a:latin typeface="微软雅黑" panose="020B0503020204020204" pitchFamily="34" charset="-122"/>
                    <a:ea typeface="微软雅黑" panose="020B0503020204020204" pitchFamily="34" charset="-122"/>
                  </a:rPr>
                  <a:t>评分为：</a:t>
                </a:r>
                <a:endParaRPr lang="en-US" altLang="zh-CN" sz="1200" dirty="0">
                  <a:solidFill>
                    <a:schemeClr val="tx1"/>
                  </a:solidFill>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sSub>
                        <m:sSubPr>
                          <m:ctrlPr>
                            <a:rPr lang="en-US" altLang="zh-CN" sz="1200" i="1" smtClean="0">
                              <a:solidFill>
                                <a:schemeClr val="tx1"/>
                              </a:solidFill>
                              <a:latin typeface="Cambria Math" panose="02040503050406030204" pitchFamily="18" charset="0"/>
                              <a:ea typeface="微软雅黑" panose="020B0503020204020204" pitchFamily="34" charset="-122"/>
                            </a:rPr>
                          </m:ctrlPr>
                        </m:sSubPr>
                        <m:e>
                          <m:r>
                            <a:rPr lang="en-US" altLang="zh-CN" sz="1200" b="0" i="1" smtClean="0">
                              <a:solidFill>
                                <a:schemeClr val="tx1"/>
                              </a:solidFill>
                              <a:latin typeface="Cambria Math" panose="02040503050406030204" pitchFamily="18" charset="0"/>
                              <a:ea typeface="微软雅黑" panose="020B0503020204020204" pitchFamily="34" charset="-122"/>
                            </a:rPr>
                            <m:t>𝐸𝑆𝐶𝑆</m:t>
                          </m:r>
                        </m:e>
                        <m:sub>
                          <m:r>
                            <m:rPr>
                              <m:sty m:val="p"/>
                            </m:rPr>
                            <a:rPr lang="en-US" altLang="zh-CN" sz="1200" i="1">
                              <a:solidFill>
                                <a:schemeClr val="tx1"/>
                              </a:solidFill>
                              <a:latin typeface="Cambria Math" panose="02040503050406030204" pitchFamily="18" charset="0"/>
                              <a:ea typeface="微软雅黑" panose="020B0503020204020204" pitchFamily="34" charset="-122"/>
                            </a:rPr>
                            <m:t>adj</m:t>
                          </m:r>
                        </m:sub>
                      </m:sSub>
                      <m:r>
                        <a:rPr lang="en-US" altLang="zh-CN" sz="1200" i="1">
                          <a:solidFill>
                            <a:schemeClr val="tx1"/>
                          </a:solidFill>
                          <a:latin typeface="Cambria Math" panose="02040503050406030204" pitchFamily="18" charset="0"/>
                          <a:ea typeface="微软雅黑" panose="020B0503020204020204" pitchFamily="34" charset="-122"/>
                        </a:rPr>
                        <m:t>=</m:t>
                      </m:r>
                      <m:r>
                        <a:rPr lang="en-US" altLang="zh-CN" sz="1200" i="1" smtClean="0">
                          <a:solidFill>
                            <a:schemeClr val="tx1"/>
                          </a:solidFill>
                          <a:latin typeface="Cambria Math" panose="02040503050406030204" pitchFamily="18" charset="0"/>
                          <a:ea typeface="微软雅黑" panose="020B0503020204020204" pitchFamily="34" charset="-122"/>
                        </a:rPr>
                        <m:t>6</m:t>
                      </m:r>
                      <m:r>
                        <a:rPr lang="en-US" altLang="zh-CN" sz="1200" i="1">
                          <a:solidFill>
                            <a:schemeClr val="tx1"/>
                          </a:solidFill>
                          <a:latin typeface="Cambria Math" panose="02040503050406030204" pitchFamily="18" charset="0"/>
                          <a:ea typeface="微软雅黑" panose="020B0503020204020204" pitchFamily="34" charset="-122"/>
                        </a:rPr>
                        <m:t>4</m:t>
                      </m:r>
                      <m:r>
                        <a:rPr lang="en-US" altLang="zh-CN" sz="1200" b="0" i="1" smtClean="0">
                          <a:solidFill>
                            <a:schemeClr val="tx1"/>
                          </a:solidFill>
                          <a:latin typeface="Cambria Math" panose="02040503050406030204" pitchFamily="18" charset="0"/>
                          <a:ea typeface="微软雅黑" panose="020B0503020204020204" pitchFamily="34" charset="-122"/>
                        </a:rPr>
                        <m:t>.</m:t>
                      </m:r>
                      <m:r>
                        <a:rPr lang="en-US" altLang="zh-CN" sz="1200" b="0" i="1" smtClean="0">
                          <a:solidFill>
                            <a:schemeClr val="tx1"/>
                          </a:solidFill>
                          <a:latin typeface="Cambria Math" panose="02040503050406030204" pitchFamily="18" charset="0"/>
                          <a:ea typeface="微软雅黑" panose="020B0503020204020204" pitchFamily="34" charset="-122"/>
                        </a:rPr>
                        <m:t>0</m:t>
                      </m:r>
                      <m:r>
                        <a:rPr lang="en-US" altLang="zh-CN" sz="1200" b="0" i="1" smtClean="0">
                          <a:solidFill>
                            <a:schemeClr val="tx1"/>
                          </a:solidFill>
                          <a:latin typeface="Cambria Math" panose="02040503050406030204" pitchFamily="18" charset="0"/>
                          <a:ea typeface="微软雅黑" panose="020B0503020204020204" pitchFamily="34" charset="-122"/>
                        </a:rPr>
                        <m:t>−</m:t>
                      </m:r>
                      <m:r>
                        <a:rPr lang="en-US" altLang="zh-CN" sz="1200" b="0" i="1" smtClean="0">
                          <a:solidFill>
                            <a:schemeClr val="tx1"/>
                          </a:solidFill>
                          <a:latin typeface="Cambria Math" panose="02040503050406030204" pitchFamily="18" charset="0"/>
                          <a:ea typeface="微软雅黑" panose="020B0503020204020204" pitchFamily="34" charset="-122"/>
                        </a:rPr>
                        <m:t>1</m:t>
                      </m:r>
                      <m:r>
                        <a:rPr lang="en-US" altLang="zh-CN" sz="1200" b="0" i="1" smtClean="0">
                          <a:solidFill>
                            <a:schemeClr val="tx1"/>
                          </a:solidFill>
                          <a:latin typeface="Cambria Math" panose="02040503050406030204" pitchFamily="18" charset="0"/>
                          <a:ea typeface="微软雅黑" panose="020B0503020204020204" pitchFamily="34" charset="-122"/>
                        </a:rPr>
                        <m:t>.</m:t>
                      </m:r>
                      <m:r>
                        <a:rPr lang="en-US" altLang="zh-CN" sz="1200" b="0" i="1" smtClean="0">
                          <a:solidFill>
                            <a:schemeClr val="tx1"/>
                          </a:solidFill>
                          <a:latin typeface="Cambria Math" panose="02040503050406030204" pitchFamily="18" charset="0"/>
                          <a:ea typeface="微软雅黑" panose="020B0503020204020204" pitchFamily="34" charset="-122"/>
                        </a:rPr>
                        <m:t>9</m:t>
                      </m:r>
                      <m:r>
                        <a:rPr lang="en-US" altLang="zh-CN" sz="1200" b="0" i="1" smtClean="0">
                          <a:solidFill>
                            <a:schemeClr val="tx1"/>
                          </a:solidFill>
                          <a:latin typeface="Cambria Math" panose="02040503050406030204" pitchFamily="18" charset="0"/>
                          <a:ea typeface="微软雅黑" panose="020B0503020204020204" pitchFamily="34" charset="-122"/>
                        </a:rPr>
                        <m:t>=</m:t>
                      </m:r>
                      <m:r>
                        <a:rPr lang="en-US" altLang="zh-CN" sz="1200" b="0" i="1" smtClean="0">
                          <a:solidFill>
                            <a:schemeClr val="tx1"/>
                          </a:solidFill>
                          <a:latin typeface="Cambria Math" panose="02040503050406030204" pitchFamily="18" charset="0"/>
                          <a:ea typeface="微软雅黑" panose="020B0503020204020204" pitchFamily="34" charset="-122"/>
                        </a:rPr>
                        <m:t>62</m:t>
                      </m:r>
                      <m:r>
                        <a:rPr lang="en-US" altLang="zh-CN" sz="1200" b="0" i="1" smtClean="0">
                          <a:solidFill>
                            <a:schemeClr val="tx1"/>
                          </a:solidFill>
                          <a:latin typeface="Cambria Math" panose="02040503050406030204" pitchFamily="18" charset="0"/>
                          <a:ea typeface="微软雅黑" panose="020B0503020204020204" pitchFamily="34" charset="-122"/>
                        </a:rPr>
                        <m:t>.</m:t>
                      </m:r>
                      <m:r>
                        <a:rPr lang="en-US" altLang="zh-CN" sz="1200" b="0" i="1" smtClean="0">
                          <a:solidFill>
                            <a:schemeClr val="tx1"/>
                          </a:solidFill>
                          <a:latin typeface="Cambria Math" panose="02040503050406030204" pitchFamily="18" charset="0"/>
                          <a:ea typeface="微软雅黑" panose="020B0503020204020204" pitchFamily="34" charset="-122"/>
                        </a:rPr>
                        <m:t>5</m:t>
                      </m:r>
                    </m:oMath>
                  </m:oMathPara>
                </a14:m>
                <a:endParaRPr lang="en-US" altLang="zh-CN" sz="1200" dirty="0">
                  <a:solidFill>
                    <a:schemeClr val="tx1"/>
                  </a:solidFill>
                  <a:latin typeface="微软雅黑" panose="020B0503020204020204" pitchFamily="34" charset="-122"/>
                  <a:ea typeface="微软雅黑" panose="020B0503020204020204" pitchFamily="34" charset="-122"/>
                </a:endParaRPr>
              </a:p>
            </p:txBody>
          </p:sp>
        </mc:Choice>
        <mc:Fallback>
          <p:sp>
            <p:nvSpPr>
              <p:cNvPr id="1021" name="矩形 1020"/>
              <p:cNvSpPr>
                <a:spLocks noRot="1" noChangeAspect="1" noMove="1" noResize="1" noEditPoints="1" noAdjustHandles="1" noChangeArrowheads="1" noChangeShapeType="1" noTextEdit="1"/>
              </p:cNvSpPr>
              <p:nvPr/>
            </p:nvSpPr>
            <p:spPr>
              <a:xfrm>
                <a:off x="5537401" y="1771639"/>
                <a:ext cx="2689230" cy="1337321"/>
              </a:xfrm>
              <a:prstGeom prst="rect">
                <a:avLst/>
              </a:prstGeom>
              <a:blipFill rotWithShape="1">
                <a:blip r:embed="rId23"/>
                <a:stretch>
                  <a:fillRect l="-244" t="-521" r="-228" b="-475"/>
                </a:stretch>
              </a:blipFill>
              <a:ln>
                <a:solidFill>
                  <a:srgbClr val="F1EEE8"/>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576" name="箭头: V 形 575"/>
          <p:cNvSpPr/>
          <p:nvPr/>
        </p:nvSpPr>
        <p:spPr>
          <a:xfrm rot="5400000">
            <a:off x="6757812" y="3032258"/>
            <a:ext cx="230506" cy="575156"/>
          </a:xfrm>
          <a:prstGeom prst="chevron">
            <a:avLst/>
          </a:prstGeom>
          <a:pattFill prst="wdUpDiag">
            <a:fgClr>
              <a:srgbClr val="559F3A"/>
            </a:fgClr>
            <a:bgClr>
              <a:srgbClr val="C2DCBE"/>
            </a:bgClr>
          </a:pattFill>
          <a:ln>
            <a:solidFill>
              <a:srgbClr val="443C29"/>
            </a:solidFill>
          </a:ln>
          <a:effectLst>
            <a:outerShdw blurRad="254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mc:Choice xmlns:a14="http://schemas.microsoft.com/office/drawing/2010/main" Requires="a14">
          <p:sp>
            <p:nvSpPr>
              <p:cNvPr id="577" name="矩形 576"/>
              <p:cNvSpPr/>
              <p:nvPr/>
            </p:nvSpPr>
            <p:spPr>
              <a:xfrm>
                <a:off x="5537400" y="3879132"/>
                <a:ext cx="2671329" cy="973840"/>
              </a:xfrm>
              <a:prstGeom prst="rect">
                <a:avLst/>
              </a:prstGeom>
              <a:solidFill>
                <a:srgbClr val="F3F9E9"/>
              </a:solidFill>
              <a:ln>
                <a:solidFill>
                  <a:srgbClr val="F3F9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Wingdings" panose="05000000000000000000" pitchFamily="2" charset="2"/>
                  <a:buChar char="p"/>
                </a:pPr>
                <a:r>
                  <a:rPr lang="zh-CN" altLang="en-US" sz="1200" dirty="0">
                    <a:solidFill>
                      <a:schemeClr val="tx1"/>
                    </a:solidFill>
                    <a:latin typeface="微软雅黑" panose="020B0503020204020204" pitchFamily="34" charset="-122"/>
                    <a:ea typeface="微软雅黑" panose="020B0503020204020204" pitchFamily="34" charset="-122"/>
                    <a:cs typeface="Calibri" panose="020F0502020204030204" charset="0"/>
                  </a:rPr>
                  <a:t>根据评分和评级对照表，该项目的</a:t>
                </a:r>
                <a14:m>
                  <m:oMath xmlns:m="http://schemas.openxmlformats.org/officeDocument/2006/math">
                    <m:sSub>
                      <m:sSubPr>
                        <m:ctrlPr>
                          <a:rPr lang="en-US" altLang="zh-CN" sz="1200" i="1" smtClean="0">
                            <a:solidFill>
                              <a:schemeClr val="tx1"/>
                            </a:solidFill>
                            <a:latin typeface="Cambria Math" panose="02040503050406030204" pitchFamily="18" charset="0"/>
                            <a:ea typeface="微软雅黑" panose="020B0503020204020204" pitchFamily="34" charset="-122"/>
                          </a:rPr>
                        </m:ctrlPr>
                      </m:sSubPr>
                      <m:e>
                        <m:r>
                          <a:rPr lang="en-US" altLang="zh-CN" sz="1200" b="0" i="1" smtClean="0">
                            <a:solidFill>
                              <a:schemeClr val="tx1"/>
                            </a:solidFill>
                            <a:latin typeface="Cambria Math" panose="02040503050406030204" pitchFamily="18" charset="0"/>
                            <a:ea typeface="微软雅黑" panose="020B0503020204020204" pitchFamily="34" charset="-122"/>
                          </a:rPr>
                          <m:t>𝐸𝑆𝐶𝑆</m:t>
                        </m:r>
                      </m:e>
                      <m:sub>
                        <m:r>
                          <m:rPr>
                            <m:sty m:val="p"/>
                          </m:rPr>
                          <a:rPr lang="en-US" altLang="zh-CN" sz="1200" i="1">
                            <a:solidFill>
                              <a:schemeClr val="tx1"/>
                            </a:solidFill>
                            <a:latin typeface="Cambria Math" panose="02040503050406030204" pitchFamily="18" charset="0"/>
                            <a:ea typeface="微软雅黑" panose="020B0503020204020204" pitchFamily="34" charset="-122"/>
                          </a:rPr>
                          <m:t>adj</m:t>
                        </m:r>
                      </m:sub>
                    </m:sSub>
                  </m:oMath>
                </a14:m>
                <a:r>
                  <a:rPr lang="zh-CN" altLang="en-US" sz="1200" dirty="0">
                    <a:solidFill>
                      <a:schemeClr val="tx1"/>
                    </a:solidFill>
                    <a:latin typeface="微软雅黑" panose="020B0503020204020204" pitchFamily="34" charset="-122"/>
                    <a:ea typeface="微软雅黑" panose="020B0503020204020204" pitchFamily="34" charset="-122"/>
                    <a:cs typeface="Calibri" panose="020F0502020204030204" charset="0"/>
                  </a:rPr>
                  <a:t>评分对应 </a:t>
                </a:r>
                <a:r>
                  <a:rPr lang="en-US" altLang="zh-CN" sz="1200" dirty="0">
                    <a:solidFill>
                      <a:schemeClr val="tx1"/>
                    </a:solidFill>
                    <a:latin typeface="微软雅黑" panose="020B0503020204020204" pitchFamily="34" charset="-122"/>
                    <a:ea typeface="微软雅黑" panose="020B0503020204020204" pitchFamily="34" charset="-122"/>
                    <a:cs typeface="Calibri" panose="020F0502020204030204" charset="0"/>
                  </a:rPr>
                  <a:t>BBB </a:t>
                </a:r>
                <a:r>
                  <a:rPr lang="zh-CN" altLang="en-US" sz="1200" dirty="0">
                    <a:solidFill>
                      <a:schemeClr val="tx1"/>
                    </a:solidFill>
                    <a:latin typeface="微软雅黑" panose="020B0503020204020204" pitchFamily="34" charset="-122"/>
                    <a:ea typeface="微软雅黑" panose="020B0503020204020204" pitchFamily="34" charset="-122"/>
                    <a:cs typeface="Calibri" panose="020F0502020204030204" charset="0"/>
                  </a:rPr>
                  <a:t>级的信用评级，对应融资溢价利差约</a:t>
                </a:r>
                <a:r>
                  <a:rPr lang="en-US" altLang="zh-CN" sz="1200" dirty="0">
                    <a:solidFill>
                      <a:schemeClr val="tx1"/>
                    </a:solidFill>
                    <a:latin typeface="微软雅黑" panose="020B0503020204020204" pitchFamily="34" charset="-122"/>
                    <a:ea typeface="微软雅黑" panose="020B0503020204020204" pitchFamily="34" charset="-122"/>
                    <a:cs typeface="Calibri" panose="020F0502020204030204" charset="0"/>
                  </a:rPr>
                  <a:t>+150</a:t>
                </a:r>
                <a:r>
                  <a:rPr lang="zh-CN" altLang="en-US" sz="1200" dirty="0">
                    <a:solidFill>
                      <a:schemeClr val="tx1"/>
                    </a:solidFill>
                    <a:latin typeface="微软雅黑" panose="020B0503020204020204" pitchFamily="34" charset="-122"/>
                    <a:ea typeface="微软雅黑" panose="020B0503020204020204" pitchFamily="34" charset="-122"/>
                    <a:cs typeface="Calibri" panose="020F0502020204030204" charset="0"/>
                  </a:rPr>
                  <a:t>至</a:t>
                </a:r>
                <a:r>
                  <a:rPr lang="en-US" altLang="zh-CN" sz="1200" dirty="0">
                    <a:solidFill>
                      <a:schemeClr val="tx1"/>
                    </a:solidFill>
                    <a:latin typeface="微软雅黑" panose="020B0503020204020204" pitchFamily="34" charset="-122"/>
                    <a:ea typeface="微软雅黑" panose="020B0503020204020204" pitchFamily="34" charset="-122"/>
                    <a:cs typeface="Calibri" panose="020F0502020204030204" charset="0"/>
                  </a:rPr>
                  <a:t>+250bp</a:t>
                </a:r>
                <a:r>
                  <a:rPr lang="zh-CN" altLang="en-US" sz="1200" dirty="0">
                    <a:solidFill>
                      <a:schemeClr val="tx1"/>
                    </a:solidFill>
                    <a:latin typeface="微软雅黑" panose="020B0503020204020204" pitchFamily="34" charset="-122"/>
                    <a:ea typeface="微软雅黑" panose="020B0503020204020204" pitchFamily="34" charset="-122"/>
                    <a:cs typeface="Calibri" panose="020F0502020204030204" charset="0"/>
                  </a:rPr>
                  <a:t>。</a:t>
                </a:r>
                <a:endParaRPr lang="zh-CN" altLang="en-US" sz="1200" dirty="0">
                  <a:solidFill>
                    <a:schemeClr val="tx1"/>
                  </a:solidFill>
                  <a:latin typeface="微软雅黑" panose="020B0503020204020204" pitchFamily="34" charset="-122"/>
                  <a:ea typeface="微软雅黑" panose="020B0503020204020204" pitchFamily="34" charset="-122"/>
                  <a:cs typeface="Calibri" panose="020F0502020204030204" charset="0"/>
                </a:endParaRPr>
              </a:p>
            </p:txBody>
          </p:sp>
        </mc:Choice>
        <mc:Fallback>
          <p:sp>
            <p:nvSpPr>
              <p:cNvPr id="577" name="矩形 576"/>
              <p:cNvSpPr>
                <a:spLocks noRot="1" noChangeAspect="1" noMove="1" noResize="1" noEditPoints="1" noAdjustHandles="1" noChangeArrowheads="1" noChangeShapeType="1" noTextEdit="1"/>
              </p:cNvSpPr>
              <p:nvPr/>
            </p:nvSpPr>
            <p:spPr>
              <a:xfrm>
                <a:off x="5537400" y="3879132"/>
                <a:ext cx="2671329" cy="973840"/>
              </a:xfrm>
              <a:prstGeom prst="rect">
                <a:avLst/>
              </a:prstGeom>
              <a:blipFill rotWithShape="1">
                <a:blip r:embed="rId24"/>
                <a:stretch>
                  <a:fillRect l="-245" t="-709" r="-235" b="-621"/>
                </a:stretch>
              </a:blipFill>
              <a:ln>
                <a:solidFill>
                  <a:srgbClr val="F3F9E9"/>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grpSp>
        <p:nvGrpSpPr>
          <p:cNvPr id="578" name="组合 577"/>
          <p:cNvGrpSpPr/>
          <p:nvPr/>
        </p:nvGrpSpPr>
        <p:grpSpPr>
          <a:xfrm>
            <a:off x="5680624" y="3478537"/>
            <a:ext cx="2653092" cy="321469"/>
            <a:chOff x="5737179" y="1450181"/>
            <a:chExt cx="2653092" cy="321469"/>
          </a:xfrm>
        </p:grpSpPr>
        <p:sp>
          <p:nvSpPr>
            <p:cNvPr id="579" name="矩形 578"/>
            <p:cNvSpPr/>
            <p:nvPr/>
          </p:nvSpPr>
          <p:spPr>
            <a:xfrm>
              <a:off x="5737179" y="1499235"/>
              <a:ext cx="234313" cy="234313"/>
            </a:xfrm>
            <a:prstGeom prst="rect">
              <a:avLst/>
            </a:prstGeom>
            <a:solidFill>
              <a:srgbClr val="3F762B"/>
            </a:solidFill>
            <a:ln>
              <a:solidFill>
                <a:srgbClr val="3F76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微软雅黑" panose="020B0503020204020204" pitchFamily="34" charset="-122"/>
                  <a:ea typeface="微软雅黑" panose="020B0503020204020204" pitchFamily="34" charset="-122"/>
                </a:rPr>
                <a:t>4</a:t>
              </a:r>
              <a:endParaRPr lang="zh-CN" altLang="en-US" sz="1400" b="1" dirty="0">
                <a:latin typeface="微软雅黑" panose="020B0503020204020204" pitchFamily="34" charset="-122"/>
                <a:ea typeface="微软雅黑" panose="020B0503020204020204" pitchFamily="34" charset="-122"/>
              </a:endParaRPr>
            </a:p>
          </p:txBody>
        </p:sp>
        <p:sp>
          <p:nvSpPr>
            <p:cNvPr id="580" name="矩形 579"/>
            <p:cNvSpPr/>
            <p:nvPr/>
          </p:nvSpPr>
          <p:spPr>
            <a:xfrm>
              <a:off x="5969000" y="1450181"/>
              <a:ext cx="2421271" cy="3214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zh-CN" altLang="en-US" sz="1400" b="1" dirty="0">
                  <a:solidFill>
                    <a:schemeClr val="tx1"/>
                  </a:solidFill>
                  <a:latin typeface="微软雅黑" panose="020B0503020204020204" pitchFamily="34" charset="-122"/>
                  <a:ea typeface="微软雅黑" panose="020B0503020204020204" pitchFamily="34" charset="-122"/>
                </a:rPr>
                <a:t>该项目最终的评级确定</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grpSp>
      <p:sp>
        <p:nvSpPr>
          <p:cNvPr id="581" name="椭圆 580"/>
          <p:cNvSpPr/>
          <p:nvPr/>
        </p:nvSpPr>
        <p:spPr>
          <a:xfrm>
            <a:off x="5596457" y="5323418"/>
            <a:ext cx="704215" cy="457200"/>
          </a:xfrm>
          <a:prstGeom prst="ellipse">
            <a:avLst/>
          </a:prstGeom>
          <a:solidFill>
            <a:srgbClr val="F9DF8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dirty="0"/>
              <a:t>BBB</a:t>
            </a:r>
            <a:endParaRPr lang="en-US" altLang="zh-CN" sz="1200" dirty="0"/>
          </a:p>
        </p:txBody>
      </p:sp>
      <p:sp>
        <p:nvSpPr>
          <p:cNvPr id="64" name="矩形 63"/>
          <p:cNvSpPr/>
          <p:nvPr/>
        </p:nvSpPr>
        <p:spPr>
          <a:xfrm>
            <a:off x="-12700" y="3501019"/>
            <a:ext cx="431321" cy="966158"/>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F7F7F"/>
              </a:solidFill>
            </a:endParaRPr>
          </a:p>
        </p:txBody>
      </p:sp>
      <p:sp>
        <p:nvSpPr>
          <p:cNvPr id="65" name="矩形 64"/>
          <p:cNvSpPr/>
          <p:nvPr/>
        </p:nvSpPr>
        <p:spPr>
          <a:xfrm>
            <a:off x="-6350" y="2338334"/>
            <a:ext cx="431321" cy="966158"/>
          </a:xfrm>
          <a:prstGeom prst="rect">
            <a:avLst/>
          </a:prstGeom>
          <a:solidFill>
            <a:srgbClr val="7F7F7F"/>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6350" y="1185174"/>
            <a:ext cx="431321" cy="966158"/>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noFill/>
              </a:ln>
              <a:solidFill>
                <a:srgbClr val="7F7F7F"/>
              </a:solidFill>
            </a:endParaRPr>
          </a:p>
        </p:txBody>
      </p:sp>
      <p:sp>
        <p:nvSpPr>
          <p:cNvPr id="67" name="文本框 66"/>
          <p:cNvSpPr txBox="1"/>
          <p:nvPr/>
        </p:nvSpPr>
        <p:spPr>
          <a:xfrm rot="16200000">
            <a:off x="-295536" y="3815604"/>
            <a:ext cx="996991" cy="306705"/>
          </a:xfrm>
          <a:prstGeom prst="rect">
            <a:avLst/>
          </a:prstGeom>
          <a:noFill/>
        </p:spPr>
        <p:txBody>
          <a:bodyPr wrap="square" rtlCol="0">
            <a:spAutoFit/>
          </a:bodyPr>
          <a:lstStyle/>
          <a:p>
            <a:pPr algn="ctr"/>
            <a:r>
              <a:rPr lang="en-US" altLang="zh-CN" sz="1400" b="1" dirty="0">
                <a:solidFill>
                  <a:schemeClr val="bg1"/>
                </a:solidFill>
                <a:latin typeface="微软雅黑" panose="020B0503020204020204" pitchFamily="34" charset="-122"/>
                <a:ea typeface="微软雅黑" panose="020B0503020204020204" pitchFamily="34" charset="-122"/>
              </a:rPr>
              <a:t>ESCS</a:t>
            </a:r>
            <a:r>
              <a:rPr lang="zh-CN" altLang="en-US" sz="1400" b="1" dirty="0">
                <a:solidFill>
                  <a:schemeClr val="bg1"/>
                </a:solidFill>
                <a:latin typeface="微软雅黑" panose="020B0503020204020204" pitchFamily="34" charset="-122"/>
                <a:ea typeface="微软雅黑" panose="020B0503020204020204" pitchFamily="34" charset="-122"/>
              </a:rPr>
              <a:t>模型</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68" name="文本框 67"/>
          <p:cNvSpPr txBox="1"/>
          <p:nvPr/>
        </p:nvSpPr>
        <p:spPr>
          <a:xfrm rot="16200000">
            <a:off x="-295536" y="2667524"/>
            <a:ext cx="996991" cy="306705"/>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行业机会</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69" name="文本框 68"/>
          <p:cNvSpPr txBox="1"/>
          <p:nvPr/>
        </p:nvSpPr>
        <p:spPr>
          <a:xfrm rot="16200000">
            <a:off x="-289187" y="1537224"/>
            <a:ext cx="996991" cy="306705"/>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行业</a:t>
            </a:r>
            <a:r>
              <a:rPr lang="zh-CN" altLang="en-US" sz="1400" b="1" dirty="0">
                <a:solidFill>
                  <a:schemeClr val="bg1"/>
                </a:solidFill>
                <a:latin typeface="微软雅黑" panose="020B0503020204020204" pitchFamily="34" charset="-122"/>
                <a:ea typeface="微软雅黑" panose="020B0503020204020204" pitchFamily="34" charset="-122"/>
              </a:rPr>
              <a:t>背景</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61" name="矩形 60"/>
          <p:cNvSpPr/>
          <p:nvPr/>
        </p:nvSpPr>
        <p:spPr>
          <a:xfrm>
            <a:off x="-6350" y="4655449"/>
            <a:ext cx="431321" cy="966158"/>
          </a:xfrm>
          <a:prstGeom prst="rect">
            <a:avLst/>
          </a:prstGeom>
          <a:solidFill>
            <a:srgbClr val="3059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F7F7F"/>
              </a:solidFill>
            </a:endParaRPr>
          </a:p>
        </p:txBody>
      </p:sp>
      <p:sp>
        <p:nvSpPr>
          <p:cNvPr id="62" name="文本框 61"/>
          <p:cNvSpPr txBox="1"/>
          <p:nvPr/>
        </p:nvSpPr>
        <p:spPr>
          <a:xfrm rot="16200000">
            <a:off x="-289186" y="4970034"/>
            <a:ext cx="996991" cy="306705"/>
          </a:xfrm>
          <a:prstGeom prst="rect">
            <a:avLst/>
          </a:prstGeom>
          <a:noFill/>
        </p:spPr>
        <p:txBody>
          <a:bodyPr wrap="square" rtlCol="0">
            <a:spAutoFit/>
          </a:bodyPr>
          <a:lstStyle/>
          <a:p>
            <a:pPr algn="ctr"/>
            <a:r>
              <a:rPr lang="en-US" altLang="zh-CN" sz="1400" b="1" dirty="0">
                <a:solidFill>
                  <a:schemeClr val="bg1"/>
                </a:solidFill>
                <a:latin typeface="微软雅黑" panose="020B0503020204020204" pitchFamily="34" charset="-122"/>
                <a:ea typeface="微软雅黑" panose="020B0503020204020204" pitchFamily="34" charset="-122"/>
              </a:rPr>
              <a:t>ESCS</a:t>
            </a:r>
            <a:r>
              <a:rPr lang="zh-CN" altLang="en-US" sz="1400" b="1" dirty="0">
                <a:solidFill>
                  <a:schemeClr val="bg1"/>
                </a:solidFill>
                <a:latin typeface="微软雅黑" panose="020B0503020204020204" pitchFamily="34" charset="-122"/>
                <a:ea typeface="微软雅黑" panose="020B0503020204020204" pitchFamily="34" charset="-122"/>
              </a:rPr>
              <a:t>应用</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think-cell data - do not delete" hidden="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2" imgW="3810" imgH="3810" progId="TCLayout.ActiveDocument.1">
                  <p:embed/>
                </p:oleObj>
              </mc:Choice>
              <mc:Fallback>
                <p:oleObj name="think-cell 幻灯片" r:id="rId2" imgW="3810" imgH="3810" progId="TCLayout.ActiveDocument.1">
                  <p:embed/>
                  <p:pic>
                    <p:nvPicPr>
                      <p:cNvPr id="0" name="think-cell data - do not delete" hidden="1"/>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4" name="矩形 3"/>
          <p:cNvSpPr/>
          <p:nvPr/>
        </p:nvSpPr>
        <p:spPr>
          <a:xfrm>
            <a:off x="0" y="0"/>
            <a:ext cx="810883" cy="851140"/>
          </a:xfrm>
          <a:prstGeom prst="rect">
            <a:avLst/>
          </a:prstGeom>
          <a:solidFill>
            <a:srgbClr val="305921"/>
          </a:solidFill>
          <a:ln>
            <a:solidFill>
              <a:srgbClr val="3059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810895" y="1905"/>
            <a:ext cx="9067165" cy="583565"/>
          </a:xfrm>
          <a:prstGeom prst="rect">
            <a:avLst/>
          </a:prstGeom>
          <a:noFill/>
        </p:spPr>
        <p:txBody>
          <a:bodyPr wrap="square" rtlCol="0">
            <a:spAutoFit/>
          </a:bodyPr>
          <a:lstStyle/>
          <a:p>
            <a:r>
              <a:rPr lang="zh-CN" altLang="en-US" sz="3200" b="1" dirty="0">
                <a:solidFill>
                  <a:srgbClr val="305921"/>
                </a:solidFill>
                <a:latin typeface="微软雅黑" panose="020B0503020204020204" pitchFamily="34" charset="-122"/>
                <a:ea typeface="微软雅黑" panose="020B0503020204020204" pitchFamily="34" charset="-122"/>
              </a:rPr>
              <a:t>面向新型储能资产信用的评估研究</a:t>
            </a:r>
            <a:r>
              <a:rPr lang="en-US" altLang="zh-CN" sz="3200" b="1" dirty="0">
                <a:solidFill>
                  <a:srgbClr val="305921"/>
                </a:solidFill>
                <a:latin typeface="微软雅黑" panose="020B0503020204020204" pitchFamily="34" charset="-122"/>
                <a:ea typeface="微软雅黑" panose="020B0503020204020204" pitchFamily="34" charset="-122"/>
              </a:rPr>
              <a:t>:ESCS</a:t>
            </a:r>
            <a:r>
              <a:rPr lang="zh-CN" altLang="en-US" sz="3200" b="1" dirty="0">
                <a:solidFill>
                  <a:srgbClr val="305921"/>
                </a:solidFill>
                <a:latin typeface="微软雅黑" panose="020B0503020204020204" pitchFamily="34" charset="-122"/>
                <a:ea typeface="微软雅黑" panose="020B0503020204020204" pitchFamily="34" charset="-122"/>
              </a:rPr>
              <a:t>模型应用</a:t>
            </a:r>
            <a:endParaRPr lang="zh-CN" altLang="en-US" sz="3200" b="1" dirty="0">
              <a:solidFill>
                <a:srgbClr val="305921"/>
              </a:solidFill>
              <a:latin typeface="微软雅黑" panose="020B0503020204020204" pitchFamily="34" charset="-122"/>
              <a:ea typeface="微软雅黑" panose="020B0503020204020204" pitchFamily="34" charset="-122"/>
            </a:endParaRPr>
          </a:p>
        </p:txBody>
      </p:sp>
      <p:sp>
        <p:nvSpPr>
          <p:cNvPr id="59" name="文本框 58"/>
          <p:cNvSpPr txBox="1"/>
          <p:nvPr/>
        </p:nvSpPr>
        <p:spPr>
          <a:xfrm>
            <a:off x="810882" y="501656"/>
            <a:ext cx="10751435" cy="337185"/>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通过风险调整机制，提高</a:t>
            </a:r>
            <a:r>
              <a:rPr lang="en-US" altLang="zh-CN" sz="1600" b="1" dirty="0">
                <a:latin typeface="微软雅黑" panose="020B0503020204020204" pitchFamily="34" charset="-122"/>
                <a:ea typeface="微软雅黑" panose="020B0503020204020204" pitchFamily="34" charset="-122"/>
              </a:rPr>
              <a:t>ESCS</a:t>
            </a:r>
            <a:r>
              <a:rPr lang="zh-CN" altLang="en-US" sz="1600" b="1" dirty="0">
                <a:latin typeface="微软雅黑" panose="020B0503020204020204" pitchFamily="34" charset="-122"/>
                <a:ea typeface="微软雅黑" panose="020B0503020204020204" pitchFamily="34" charset="-122"/>
              </a:rPr>
              <a:t>模型实际可应用性。并总结性阐述</a:t>
            </a:r>
            <a:r>
              <a:rPr lang="en-US" altLang="zh-CN" sz="1600" b="1" dirty="0">
                <a:latin typeface="微软雅黑" panose="020B0503020204020204" pitchFamily="34" charset="-122"/>
                <a:ea typeface="微软雅黑" panose="020B0503020204020204" pitchFamily="34" charset="-122"/>
              </a:rPr>
              <a:t>ESCS</a:t>
            </a:r>
            <a:r>
              <a:rPr lang="zh-CN" altLang="en-US" sz="1600" b="1" dirty="0">
                <a:latin typeface="微软雅黑" panose="020B0503020204020204" pitchFamily="34" charset="-122"/>
                <a:ea typeface="微软雅黑" panose="020B0503020204020204" pitchFamily="34" charset="-122"/>
              </a:rPr>
              <a:t>模型将新型储能资产定价化。</a:t>
            </a:r>
            <a:endParaRPr lang="zh-CN" altLang="en-US" sz="1600" b="1" dirty="0">
              <a:latin typeface="微软雅黑" panose="020B0503020204020204" pitchFamily="34" charset="-122"/>
              <a:ea typeface="微软雅黑" panose="020B0503020204020204" pitchFamily="34" charset="-122"/>
            </a:endParaRPr>
          </a:p>
        </p:txBody>
      </p:sp>
      <p:sp>
        <p:nvSpPr>
          <p:cNvPr id="70" name="矩形 69"/>
          <p:cNvSpPr/>
          <p:nvPr>
            <p:custDataLst>
              <p:tags r:id="rId4"/>
            </p:custDataLst>
          </p:nvPr>
        </p:nvSpPr>
        <p:spPr>
          <a:xfrm>
            <a:off x="849688" y="966100"/>
            <a:ext cx="5430342" cy="5588525"/>
          </a:xfrm>
          <a:prstGeom prst="rect">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 name="矩形 70"/>
          <p:cNvSpPr/>
          <p:nvPr>
            <p:custDataLst>
              <p:tags r:id="rId5"/>
            </p:custDataLst>
          </p:nvPr>
        </p:nvSpPr>
        <p:spPr>
          <a:xfrm>
            <a:off x="6398357" y="966100"/>
            <a:ext cx="5430342" cy="5588525"/>
          </a:xfrm>
          <a:prstGeom prst="rect">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7" name="组合 6"/>
          <p:cNvGrpSpPr/>
          <p:nvPr/>
        </p:nvGrpSpPr>
        <p:grpSpPr>
          <a:xfrm>
            <a:off x="1029335" y="1086485"/>
            <a:ext cx="5113655" cy="2682875"/>
            <a:chOff x="1029381" y="1086431"/>
            <a:chExt cx="5113655" cy="2507909"/>
          </a:xfrm>
        </p:grpSpPr>
        <p:sp>
          <p:nvSpPr>
            <p:cNvPr id="3" name="文本框 2"/>
            <p:cNvSpPr txBox="1"/>
            <p:nvPr/>
          </p:nvSpPr>
          <p:spPr>
            <a:xfrm>
              <a:off x="1043542" y="1086431"/>
              <a:ext cx="5078083" cy="2507909"/>
            </a:xfrm>
            <a:prstGeom prst="rect">
              <a:avLst/>
            </a:prstGeom>
            <a:noFill/>
            <a:ln w="9525">
              <a:solidFill>
                <a:srgbClr val="7F7F7F"/>
              </a:solidFill>
              <a:prstDash val="sysDash"/>
            </a:ln>
          </p:spPr>
          <p:txBody>
            <a:bodyPr wrap="square" tIns="72000" bIns="36000">
              <a:noAutofit/>
            </a:bodyPr>
            <a:lstStyle/>
            <a:p>
              <a:pPr algn="just">
                <a:lnSpc>
                  <a:spcPts val="2100"/>
                </a:lnSpc>
              </a:pPr>
              <a:endParaRPr lang="en-US" altLang="zh-CN" sz="1400" dirty="0">
                <a:latin typeface="微软雅黑" panose="020B0503020204020204" pitchFamily="34" charset="-122"/>
                <a:ea typeface="微软雅黑" panose="020B0503020204020204" pitchFamily="34" charset="-122"/>
                <a:cs typeface="华文宋体" panose="02010600040101010101" charset="-122"/>
              </a:endParaRPr>
            </a:p>
          </p:txBody>
        </p:sp>
        <p:sp>
          <p:nvSpPr>
            <p:cNvPr id="5" name="矩形: 圆顶角 2"/>
            <p:cNvSpPr/>
            <p:nvPr/>
          </p:nvSpPr>
          <p:spPr>
            <a:xfrm rot="10800000">
              <a:off x="2850555" y="1086431"/>
              <a:ext cx="1464653" cy="334053"/>
            </a:xfrm>
            <a:prstGeom prst="round2Same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910734" y="1098896"/>
              <a:ext cx="1344295" cy="3217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风险调整机制</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1029381" y="1433141"/>
              <a:ext cx="5113655" cy="11449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noAutofit/>
            </a:bodyPr>
            <a:lstStyle/>
            <a:p>
              <a:pPr marL="0" lvl="1" indent="-179705">
                <a:lnSpc>
                  <a:spcPts val="2300"/>
                </a:lnSpc>
                <a:buFont typeface="Wingdings" panose="05000000000000000000" pitchFamily="2" charset="2"/>
                <a:buChar char="p"/>
              </a:pPr>
              <a:r>
                <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sym typeface="Arimo" panose="020B0604020202020204"/>
                </a:rPr>
                <a:t>考虑到储能收益序列的高波动性，在基础评分之上</a:t>
              </a:r>
              <a:r>
                <a:rPr lang="zh-CN" altLang="en-US" sz="1400" b="1" dirty="0">
                  <a:solidFill>
                    <a:srgbClr val="549E39"/>
                  </a:solidFill>
                  <a:latin typeface="微软雅黑" panose="020B0503020204020204" pitchFamily="34" charset="-122"/>
                  <a:ea typeface="微软雅黑" panose="020B0503020204020204" pitchFamily="34" charset="-122"/>
                  <a:cs typeface="华文宋体" panose="02010600040101010101" charset="-122"/>
                  <a:sym typeface="Arimo" panose="020B0604020202020204"/>
                </a:rPr>
                <a:t>引入收益波动惩罚项</a:t>
              </a:r>
              <a:r>
                <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sym typeface="Arimo" panose="020B0604020202020204"/>
                </a:rPr>
                <a:t>，使 ESCS 模型能够</a:t>
              </a:r>
              <a:r>
                <a:rPr lang="zh-CN" altLang="en-US" sz="1400" b="1" dirty="0">
                  <a:solidFill>
                    <a:srgbClr val="549E39"/>
                  </a:solidFill>
                  <a:latin typeface="微软雅黑" panose="020B0503020204020204" pitchFamily="34" charset="-122"/>
                  <a:ea typeface="微软雅黑" panose="020B0503020204020204" pitchFamily="34" charset="-122"/>
                  <a:cs typeface="华文宋体" panose="02010600040101010101" charset="-122"/>
                  <a:sym typeface="Arimo" panose="020B0604020202020204"/>
                </a:rPr>
                <a:t>在"相同基础评分"的项目间区分</a:t>
              </a:r>
              <a:r>
                <a:rPr lang="zh-CN" altLang="en-US" sz="1400" b="1" dirty="0">
                  <a:solidFill>
                    <a:srgbClr val="549E39"/>
                  </a:solidFill>
                  <a:latin typeface="微软雅黑" panose="020B0503020204020204" pitchFamily="34" charset="-122"/>
                  <a:ea typeface="微软雅黑" panose="020B0503020204020204" pitchFamily="34" charset="-122"/>
                  <a:cs typeface="华文宋体" panose="02010600040101010101" charset="-122"/>
                  <a:sym typeface="Arimo Bold" panose="020B0704020202020204"/>
                </a:rPr>
                <a:t>实际信用质量差异</a:t>
              </a:r>
              <a:r>
                <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sym typeface="Arimo" panose="020B0604020202020204"/>
                </a:rPr>
                <a:t>，避免"收益期望相同但方差显著不同"的项目被同等对待。</a:t>
              </a:r>
              <a:endPar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endParaRPr>
            </a:p>
          </p:txBody>
        </p:sp>
      </p:grpSp>
      <p:grpSp>
        <p:nvGrpSpPr>
          <p:cNvPr id="17" name="组合 16"/>
          <p:cNvGrpSpPr/>
          <p:nvPr/>
        </p:nvGrpSpPr>
        <p:grpSpPr>
          <a:xfrm>
            <a:off x="6548120" y="1086485"/>
            <a:ext cx="5121910" cy="5384165"/>
            <a:chOff x="1043542" y="1086431"/>
            <a:chExt cx="5078095" cy="5384165"/>
          </a:xfrm>
        </p:grpSpPr>
        <p:sp>
          <p:nvSpPr>
            <p:cNvPr id="18" name="文本框 17"/>
            <p:cNvSpPr txBox="1"/>
            <p:nvPr/>
          </p:nvSpPr>
          <p:spPr>
            <a:xfrm>
              <a:off x="1043542" y="1098496"/>
              <a:ext cx="5078095" cy="5372100"/>
            </a:xfrm>
            <a:prstGeom prst="rect">
              <a:avLst/>
            </a:prstGeom>
            <a:noFill/>
            <a:ln w="9525">
              <a:solidFill>
                <a:srgbClr val="7F7F7F"/>
              </a:solidFill>
              <a:prstDash val="sysDash"/>
            </a:ln>
          </p:spPr>
          <p:txBody>
            <a:bodyPr wrap="square" tIns="72000" bIns="36000">
              <a:noAutofit/>
            </a:bodyPr>
            <a:lstStyle/>
            <a:p>
              <a:pPr algn="just">
                <a:lnSpc>
                  <a:spcPts val="2100"/>
                </a:lnSpc>
              </a:pPr>
              <a:endParaRPr lang="en-US" altLang="zh-CN" sz="1400" dirty="0">
                <a:latin typeface="微软雅黑" panose="020B0503020204020204" pitchFamily="34" charset="-122"/>
                <a:ea typeface="微软雅黑" panose="020B0503020204020204" pitchFamily="34" charset="-122"/>
                <a:cs typeface="华文宋体" panose="02010600040101010101" charset="-122"/>
              </a:endParaRPr>
            </a:p>
          </p:txBody>
        </p:sp>
        <p:sp>
          <p:nvSpPr>
            <p:cNvPr id="19" name="矩形: 圆顶角 18"/>
            <p:cNvSpPr/>
            <p:nvPr/>
          </p:nvSpPr>
          <p:spPr>
            <a:xfrm rot="10800000">
              <a:off x="2850257" y="1086431"/>
              <a:ext cx="1464653" cy="334053"/>
            </a:xfrm>
            <a:prstGeom prst="round2Same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3104091" y="1099015"/>
              <a:ext cx="956984" cy="3214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总结</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grpSp>
      <p:sp>
        <p:nvSpPr>
          <p:cNvPr id="48" name="Freeform 47"/>
          <p:cNvSpPr>
            <a:spLocks noChangeAspect="1"/>
          </p:cNvSpPr>
          <p:nvPr/>
        </p:nvSpPr>
        <p:spPr>
          <a:xfrm>
            <a:off x="1911985" y="2780665"/>
            <a:ext cx="3300730" cy="294640"/>
          </a:xfrm>
          <a:custGeom>
            <a:avLst/>
            <a:gdLst/>
            <a:ahLst/>
            <a:cxnLst/>
            <a:rect l="l" t="t" r="r" b="b"/>
            <a:pathLst>
              <a:path w="4710071" h="420542">
                <a:moveTo>
                  <a:pt x="0" y="0"/>
                </a:moveTo>
                <a:lnTo>
                  <a:pt x="4710071" y="0"/>
                </a:lnTo>
                <a:lnTo>
                  <a:pt x="4710071" y="420542"/>
                </a:lnTo>
                <a:lnTo>
                  <a:pt x="0" y="420542"/>
                </a:lnTo>
                <a:lnTo>
                  <a:pt x="0" y="0"/>
                </a:lnTo>
                <a:close/>
              </a:path>
            </a:pathLst>
          </a:custGeom>
          <a:blipFill>
            <a:blip r:embed="rId6"/>
            <a:stretch>
              <a:fillRect/>
            </a:stretch>
          </a:blipFill>
        </p:spPr>
        <p:txBody>
          <a:bodyPr/>
          <a:lstStyle/>
          <a:p>
            <a:endParaRPr lang="zh-CN" altLang="en-US"/>
          </a:p>
        </p:txBody>
      </p:sp>
      <p:grpSp>
        <p:nvGrpSpPr>
          <p:cNvPr id="28" name="组合 27"/>
          <p:cNvGrpSpPr/>
          <p:nvPr/>
        </p:nvGrpSpPr>
        <p:grpSpPr>
          <a:xfrm>
            <a:off x="1029381" y="3161030"/>
            <a:ext cx="5113655" cy="492125"/>
            <a:chOff x="1620" y="4915"/>
            <a:chExt cx="8053" cy="775"/>
          </a:xfrm>
        </p:grpSpPr>
        <p:sp>
          <p:nvSpPr>
            <p:cNvPr id="27" name="矩形 26"/>
            <p:cNvSpPr/>
            <p:nvPr/>
          </p:nvSpPr>
          <p:spPr>
            <a:xfrm>
              <a:off x="1620" y="4915"/>
              <a:ext cx="8053" cy="7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noAutofit/>
            </a:bodyPr>
            <a:lstStyle/>
            <a:p>
              <a:pPr marL="0" lvl="1" indent="-179705">
                <a:lnSpc>
                  <a:spcPts val="2300"/>
                </a:lnSpc>
                <a:buFont typeface="Wingdings" panose="05000000000000000000" pitchFamily="2" charset="2"/>
                <a:buChar char="p"/>
              </a:pPr>
              <a:r>
                <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sym typeface="Arimo" panose="020B0604020202020204"/>
                </a:rPr>
                <a:t>其中</a:t>
              </a:r>
              <a:r>
                <a:rPr lang="en-US" altLang="zh-CN" sz="1400" dirty="0">
                  <a:solidFill>
                    <a:schemeClr val="tx1"/>
                  </a:solidFill>
                  <a:latin typeface="微软雅黑" panose="020B0503020204020204" pitchFamily="34" charset="-122"/>
                  <a:ea typeface="微软雅黑" panose="020B0503020204020204" pitchFamily="34" charset="-122"/>
                  <a:cs typeface="华文宋体" panose="02010600040101010101" charset="-122"/>
                  <a:sym typeface="Arimo" panose="020B0604020202020204"/>
                </a:rPr>
                <a:t> </a:t>
              </a:r>
              <a:r>
                <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sym typeface="Arimo" panose="020B0604020202020204"/>
                </a:rPr>
                <a:t>              </a:t>
              </a:r>
              <a:r>
                <a:rPr lang="en-US" altLang="zh-CN" sz="1400" dirty="0">
                  <a:solidFill>
                    <a:schemeClr val="tx1"/>
                  </a:solidFill>
                  <a:latin typeface="微软雅黑" panose="020B0503020204020204" pitchFamily="34" charset="-122"/>
                  <a:ea typeface="微软雅黑" panose="020B0503020204020204" pitchFamily="34" charset="-122"/>
                  <a:cs typeface="华文宋体" panose="02010600040101010101" charset="-122"/>
                  <a:sym typeface="Arimo" panose="020B0604020202020204"/>
                </a:rPr>
                <a:t> </a:t>
              </a:r>
              <a:r>
                <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sym typeface="Arimo" panose="020B0604020202020204"/>
                </a:rPr>
                <a:t>为项目收益标准差，基于乐观、基准和悲观三情景进行现金流序列估算，λ 为风险厌恶系数</a:t>
              </a:r>
              <a:endPar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endParaRPr>
            </a:p>
          </p:txBody>
        </p:sp>
        <p:sp>
          <p:nvSpPr>
            <p:cNvPr id="49" name="Freeform 48"/>
            <p:cNvSpPr>
              <a:spLocks noChangeAspect="1"/>
            </p:cNvSpPr>
            <p:nvPr/>
          </p:nvSpPr>
          <p:spPr>
            <a:xfrm>
              <a:off x="2718" y="4974"/>
              <a:ext cx="1100" cy="256"/>
            </a:xfrm>
            <a:custGeom>
              <a:avLst/>
              <a:gdLst/>
              <a:ahLst/>
              <a:cxnLst/>
              <a:rect l="l" t="t" r="r" b="b"/>
              <a:pathLst>
                <a:path w="1078483" h="250810">
                  <a:moveTo>
                    <a:pt x="0" y="0"/>
                  </a:moveTo>
                  <a:lnTo>
                    <a:pt x="1078483" y="0"/>
                  </a:lnTo>
                  <a:lnTo>
                    <a:pt x="1078483" y="250810"/>
                  </a:lnTo>
                  <a:lnTo>
                    <a:pt x="0" y="250810"/>
                  </a:lnTo>
                  <a:lnTo>
                    <a:pt x="0" y="0"/>
                  </a:lnTo>
                  <a:close/>
                </a:path>
              </a:pathLst>
            </a:custGeom>
            <a:blipFill>
              <a:blip r:embed="rId7"/>
              <a:stretch>
                <a:fillRect/>
              </a:stretch>
            </a:blipFill>
          </p:spPr>
          <p:txBody>
            <a:bodyPr/>
            <a:lstStyle/>
            <a:p>
              <a:endParaRPr lang="zh-CN" altLang="en-US"/>
            </a:p>
          </p:txBody>
        </p:sp>
      </p:grpSp>
      <p:sp>
        <p:nvSpPr>
          <p:cNvPr id="57" name="TextBox 56"/>
          <p:cNvSpPr txBox="1"/>
          <p:nvPr/>
        </p:nvSpPr>
        <p:spPr>
          <a:xfrm>
            <a:off x="2092960" y="3844925"/>
            <a:ext cx="2943225" cy="227330"/>
          </a:xfrm>
          <a:prstGeom prst="rect">
            <a:avLst/>
          </a:prstGeom>
        </p:spPr>
        <p:txBody>
          <a:bodyPr wrap="square" lIns="0" tIns="0" rIns="0" bIns="0" rtlCol="0" anchor="t">
            <a:noAutofit/>
          </a:bodyPr>
          <a:lstStyle/>
          <a:p>
            <a:pPr algn="ctr">
              <a:lnSpc>
                <a:spcPts val="2400"/>
              </a:lnSpc>
              <a:buClrTx/>
              <a:buSzTx/>
              <a:buFontTx/>
            </a:pPr>
            <a:r>
              <a:rPr lang="en-US" sz="1400" b="1">
                <a:solidFill>
                  <a:srgbClr val="000000"/>
                </a:solidFill>
                <a:latin typeface="黑体" panose="02010609060101010101" pitchFamily="49" charset="-122"/>
                <a:ea typeface="黑体" panose="02010609060101010101" pitchFamily="49" charset="-122"/>
                <a:cs typeface="黑体" panose="02010609060101010101" pitchFamily="49" charset="-122"/>
                <a:sym typeface="字由点字典黑 Bold" panose="00020600040101010101" charset="-122"/>
              </a:rPr>
              <a:t>表A-2 储能项目收益三情景分析框架</a:t>
            </a:r>
            <a:endParaRPr lang="en-US" sz="1400" b="1">
              <a:solidFill>
                <a:srgbClr val="000000"/>
              </a:solidFill>
              <a:latin typeface="黑体" panose="02010609060101010101" pitchFamily="49" charset="-122"/>
              <a:ea typeface="黑体" panose="02010609060101010101" pitchFamily="49" charset="-122"/>
              <a:cs typeface="黑体" panose="02010609060101010101" pitchFamily="49" charset="-122"/>
              <a:sym typeface="字由点字典黑 Bold" panose="00020600040101010101" charset="-122"/>
            </a:endParaRPr>
          </a:p>
        </p:txBody>
      </p:sp>
      <p:sp>
        <p:nvSpPr>
          <p:cNvPr id="56" name="TextBox 55"/>
          <p:cNvSpPr txBox="1"/>
          <p:nvPr/>
        </p:nvSpPr>
        <p:spPr>
          <a:xfrm>
            <a:off x="1029381" y="6148070"/>
            <a:ext cx="4690110" cy="368935"/>
          </a:xfrm>
          <a:prstGeom prst="rect">
            <a:avLst/>
          </a:prstGeom>
        </p:spPr>
        <p:txBody>
          <a:bodyPr wrap="square" lIns="0" tIns="0" rIns="0" bIns="0" rtlCol="0" anchor="t">
            <a:spAutoFit/>
          </a:bodyPr>
          <a:lstStyle/>
          <a:p>
            <a:pPr indent="0" algn="l" fontAlgn="auto">
              <a:lnSpc>
                <a:spcPct val="100000"/>
              </a:lnSpc>
              <a:spcBef>
                <a:spcPct val="0"/>
              </a:spcBef>
            </a:pPr>
            <a:r>
              <a:rPr lang="en-US" sz="1200">
                <a:solidFill>
                  <a:srgbClr val="7F7F7F"/>
                </a:solidFill>
                <a:latin typeface="Arial" panose="020B0604020202020204" pitchFamily="34" charset="0"/>
                <a:ea typeface="Arimo" panose="020B0604020202020204"/>
                <a:cs typeface="Arial" panose="020B0604020202020204" pitchFamily="34" charset="0"/>
                <a:sym typeface="Arimo" panose="020B0604020202020204"/>
              </a:rPr>
              <a:t>来源：天风证券（2023）；光大证券（2026）；普华有策（2026）；国家能源局（2026年1月容量电价机制通知）；作者设定。</a:t>
            </a:r>
            <a:endParaRPr lang="en-US" sz="1200">
              <a:solidFill>
                <a:srgbClr val="7F7F7F"/>
              </a:solidFill>
              <a:latin typeface="Arial" panose="020B0604020202020204" pitchFamily="34" charset="0"/>
              <a:ea typeface="Arimo" panose="020B0604020202020204"/>
              <a:cs typeface="Arial" panose="020B0604020202020204" pitchFamily="34" charset="0"/>
              <a:sym typeface="Arimo" panose="020B0604020202020204"/>
            </a:endParaRPr>
          </a:p>
        </p:txBody>
      </p:sp>
      <p:graphicFrame>
        <p:nvGraphicFramePr>
          <p:cNvPr id="30" name="表格 29"/>
          <p:cNvGraphicFramePr/>
          <p:nvPr/>
        </p:nvGraphicFramePr>
        <p:xfrm>
          <a:off x="1028700" y="4222115"/>
          <a:ext cx="5067300" cy="1828800"/>
        </p:xfrm>
        <a:graphic>
          <a:graphicData uri="http://schemas.openxmlformats.org/drawingml/2006/table">
            <a:tbl>
              <a:tblPr/>
              <a:tblGrid>
                <a:gridCol w="685800"/>
                <a:gridCol w="1097915"/>
                <a:gridCol w="670560"/>
                <a:gridCol w="903605"/>
                <a:gridCol w="782955"/>
                <a:gridCol w="926465"/>
              </a:tblGrid>
              <a:tr h="372110">
                <a:tc>
                  <a:txBody>
                    <a:bodyPr/>
                    <a:lstStyle/>
                    <a:p>
                      <a:pPr marL="5080" indent="0" algn="ctr">
                        <a:spcBef>
                          <a:spcPct val="0"/>
                        </a:spcBef>
                        <a:spcAft>
                          <a:spcPct val="0"/>
                        </a:spcAft>
                      </a:pPr>
                      <a:r>
                        <a:rPr lang="zh-CN" sz="1000" b="0">
                          <a:solidFill>
                            <a:srgbClr val="000000"/>
                          </a:solidFill>
                          <a:uFillTx/>
                          <a:latin typeface="Times New Roman" panose="02020603050405020304" charset="0"/>
                          <a:ea typeface="黑体" panose="02010609060101010101" pitchFamily="49" charset="-122"/>
                        </a:rPr>
                        <a:t>情景</a:t>
                      </a:r>
                      <a:endParaRPr lang="zh-CN" sz="1000" b="0">
                        <a:solidFill>
                          <a:srgbClr val="000000"/>
                        </a:solidFill>
                        <a:uFillTx/>
                        <a:latin typeface="Times New Roman" panose="02020603050405020304" charset="0"/>
                        <a:ea typeface="黑体" panose="02010609060101010101" pitchFamily="49" charset="-122"/>
                      </a:endParaRPr>
                    </a:p>
                  </a:txBody>
                  <a:tcPr marL="63500" marR="63500" marT="47625" marB="47625" anchor="ctr">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marL="5080" indent="0" algn="ctr">
                        <a:spcBef>
                          <a:spcPct val="0"/>
                        </a:spcBef>
                        <a:spcAft>
                          <a:spcPct val="0"/>
                        </a:spcAft>
                      </a:pPr>
                      <a:r>
                        <a:rPr lang="zh-CN" sz="1000" b="0">
                          <a:solidFill>
                            <a:srgbClr val="000000"/>
                          </a:solidFill>
                          <a:uFillTx/>
                          <a:latin typeface="Times New Roman" panose="02020603050405020304" charset="0"/>
                          <a:ea typeface="黑体" panose="02010609060101010101" pitchFamily="49" charset="-122"/>
                        </a:rPr>
                        <a:t>市场化程度</a:t>
                      </a:r>
                      <a:endParaRPr lang="zh-CN" sz="1000" b="0">
                        <a:solidFill>
                          <a:srgbClr val="000000"/>
                        </a:solidFill>
                        <a:uFillTx/>
                        <a:latin typeface="Times New Roman" panose="02020603050405020304" charset="0"/>
                        <a:ea typeface="黑体" panose="02010609060101010101" pitchFamily="49" charset="-122"/>
                      </a:endParaRPr>
                    </a:p>
                  </a:txBody>
                  <a:tcPr marL="63500" marR="63500" marT="47625" marB="47625" anchor="ctr">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marL="5080" indent="0" algn="ctr">
                        <a:spcBef>
                          <a:spcPct val="0"/>
                        </a:spcBef>
                        <a:spcAft>
                          <a:spcPct val="0"/>
                        </a:spcAft>
                      </a:pPr>
                      <a:r>
                        <a:rPr lang="zh-CN" sz="1000" b="0">
                          <a:solidFill>
                            <a:srgbClr val="000000"/>
                          </a:solidFill>
                          <a:uFillTx/>
                          <a:latin typeface="Times New Roman" panose="02020603050405020304" charset="0"/>
                          <a:ea typeface="黑体" panose="02010609060101010101" pitchFamily="49" charset="-122"/>
                        </a:rPr>
                        <a:t>年均放电次数</a:t>
                      </a:r>
                      <a:endParaRPr lang="zh-CN" sz="1000" b="0">
                        <a:solidFill>
                          <a:srgbClr val="000000"/>
                        </a:solidFill>
                        <a:uFillTx/>
                        <a:latin typeface="Times New Roman" panose="02020603050405020304" charset="0"/>
                        <a:ea typeface="黑体" panose="02010609060101010101" pitchFamily="49" charset="-122"/>
                      </a:endParaRPr>
                    </a:p>
                  </a:txBody>
                  <a:tcPr marL="63500" marR="63500" marT="47625" marB="47625" anchor="ctr">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marL="5080" indent="0" algn="ctr">
                        <a:spcBef>
                          <a:spcPct val="0"/>
                        </a:spcBef>
                        <a:spcAft>
                          <a:spcPct val="0"/>
                        </a:spcAft>
                      </a:pPr>
                      <a:r>
                        <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容量电价</a:t>
                      </a:r>
                      <a:endPar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endParaRPr>
                    </a:p>
                    <a:p>
                      <a:pPr marL="5080" indent="0" algn="ctr">
                        <a:spcBef>
                          <a:spcPct val="0"/>
                        </a:spcBef>
                        <a:spcAft>
                          <a:spcPct val="0"/>
                        </a:spcAft>
                      </a:pPr>
                      <a:r>
                        <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（元</a:t>
                      </a:r>
                      <a:r>
                        <a:rPr lang="en-US" alt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/W·</a:t>
                      </a:r>
                      <a:r>
                        <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年）</a:t>
                      </a:r>
                      <a:endPar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endParaRPr>
                    </a:p>
                  </a:txBody>
                  <a:tcPr marL="63500" marR="63500" marT="47625" marB="47625" anchor="ctr">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marL="5080" indent="0" algn="ctr">
                        <a:spcBef>
                          <a:spcPct val="0"/>
                        </a:spcBef>
                        <a:spcAft>
                          <a:spcPct val="0"/>
                        </a:spcAft>
                      </a:pPr>
                      <a:r>
                        <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调频补偿（元</a:t>
                      </a:r>
                      <a:r>
                        <a:rPr lang="en-US" alt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/kWh</a:t>
                      </a:r>
                      <a:r>
                        <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a:t>
                      </a:r>
                      <a:endPar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endParaRPr>
                    </a:p>
                  </a:txBody>
                  <a:tcPr marL="63500" marR="63500" marT="47625" marB="47625" anchor="ctr">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marL="5080" indent="0" algn="ctr">
                        <a:spcBef>
                          <a:spcPct val="0"/>
                        </a:spcBef>
                        <a:spcAft>
                          <a:spcPct val="0"/>
                        </a:spcAft>
                      </a:pPr>
                      <a:r>
                        <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情景</a:t>
                      </a:r>
                      <a:r>
                        <a:rPr lang="en-US" alt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IRR</a:t>
                      </a:r>
                      <a:r>
                        <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估算区间</a:t>
                      </a:r>
                      <a:endPar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endParaRPr>
                    </a:p>
                  </a:txBody>
                  <a:tcPr marL="63500" marR="63500" marT="47625" marB="47625" anchor="ctr">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r>
              <a:tr h="483870">
                <a:tc>
                  <a:txBody>
                    <a:bodyPr/>
                    <a:lstStyle/>
                    <a:p>
                      <a:pPr marL="5080" indent="0" algn="ctr" fontAlgn="auto">
                        <a:spcBef>
                          <a:spcPct val="0"/>
                        </a:spcBef>
                        <a:spcAft>
                          <a:spcPct val="0"/>
                        </a:spcAft>
                      </a:pPr>
                      <a:r>
                        <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乐观情景（</a:t>
                      </a:r>
                      <a:r>
                        <a:rPr lang="en-US" alt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S+</a:t>
                      </a:r>
                      <a:r>
                        <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a:t>
                      </a:r>
                      <a:endPar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endParaRPr>
                    </a:p>
                  </a:txBody>
                  <a:tcPr marL="63500" marR="63500" marT="34925" marB="34925" anchor="ctr">
                    <a:lnL>
                      <a:noFill/>
                    </a:lnL>
                    <a:lnR>
                      <a:noFill/>
                    </a:lnR>
                    <a:lnT w="6350" cap="flat" cmpd="sng">
                      <a:solidFill>
                        <a:srgbClr val="000000"/>
                      </a:solidFill>
                      <a:prstDash val="solid"/>
                      <a:headEnd type="none" w="med" len="med"/>
                      <a:tailEnd type="none" w="med" len="med"/>
                    </a:lnT>
                    <a:lnB>
                      <a:noFill/>
                    </a:lnB>
                    <a:solidFill>
                      <a:srgbClr val="FFFFFF"/>
                    </a:solidFill>
                  </a:tcPr>
                </a:tc>
                <a:tc>
                  <a:txBody>
                    <a:bodyPr/>
                    <a:lstStyle/>
                    <a:p>
                      <a:pPr marL="5080" indent="0" algn="just" fontAlgn="auto">
                        <a:spcBef>
                          <a:spcPct val="0"/>
                        </a:spcBef>
                        <a:spcAft>
                          <a:spcPct val="0"/>
                        </a:spcAft>
                      </a:pPr>
                      <a:r>
                        <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现货市场全面开放，峰谷价差</a:t>
                      </a:r>
                      <a:r>
                        <a:rPr lang="en-US" alt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&gt; 0.7</a:t>
                      </a:r>
                      <a:r>
                        <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元</a:t>
                      </a:r>
                      <a:r>
                        <a:rPr lang="en-US" alt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/kWh</a:t>
                      </a:r>
                      <a:endParaRPr lang="en-US" altLang="zh-CN" sz="1000" b="0">
                        <a:solidFill>
                          <a:srgbClr val="000000"/>
                        </a:solidFill>
                        <a:uFillTx/>
                        <a:latin typeface="Times New Roman" panose="02020603050405020304" charset="0"/>
                        <a:ea typeface="黑体" panose="02010609060101010101" pitchFamily="49" charset="-122"/>
                        <a:cs typeface="黑体" panose="02010609060101010101" pitchFamily="49" charset="-122"/>
                      </a:endParaRPr>
                    </a:p>
                  </a:txBody>
                  <a:tcPr marL="63500" marR="63500" marT="34925" marB="34925" anchor="ctr">
                    <a:lnL>
                      <a:noFill/>
                    </a:lnL>
                    <a:lnR>
                      <a:noFill/>
                    </a:lnR>
                    <a:lnT w="6350" cap="flat" cmpd="sng">
                      <a:solidFill>
                        <a:srgbClr val="000000"/>
                      </a:solidFill>
                      <a:prstDash val="solid"/>
                      <a:headEnd type="none" w="med" len="med"/>
                      <a:tailEnd type="none" w="med" len="med"/>
                    </a:lnT>
                    <a:lnB>
                      <a:noFill/>
                    </a:lnB>
                    <a:solidFill>
                      <a:srgbClr val="FFFFFF"/>
                    </a:solidFill>
                  </a:tcPr>
                </a:tc>
                <a:tc>
                  <a:txBody>
                    <a:bodyPr/>
                    <a:lstStyle/>
                    <a:p>
                      <a:pPr marL="5080" indent="0" algn="ctr" fontAlgn="auto">
                        <a:spcBef>
                          <a:spcPct val="0"/>
                        </a:spcBef>
                        <a:spcAft>
                          <a:spcPct val="0"/>
                        </a:spcAft>
                      </a:pPr>
                      <a:r>
                        <a:rPr lang="en-US" altLang="zh-CN" sz="1000" b="1">
                          <a:solidFill>
                            <a:srgbClr val="000000"/>
                          </a:solidFill>
                          <a:uFillTx/>
                          <a:latin typeface="Times New Roman" panose="02020603050405020304" charset="0"/>
                          <a:ea typeface="黑体" panose="02010609060101010101" pitchFamily="49" charset="-122"/>
                          <a:cs typeface="黑体" panose="02010609060101010101" pitchFamily="49" charset="-122"/>
                        </a:rPr>
                        <a:t>350</a:t>
                      </a:r>
                      <a:r>
                        <a:rPr lang="zh-CN" sz="1000" b="1">
                          <a:solidFill>
                            <a:srgbClr val="000000"/>
                          </a:solidFill>
                          <a:uFillTx/>
                          <a:latin typeface="Times New Roman" panose="02020603050405020304" charset="0"/>
                          <a:ea typeface="黑体" panose="02010609060101010101" pitchFamily="49" charset="-122"/>
                          <a:cs typeface="黑体" panose="02010609060101010101" pitchFamily="49" charset="-122"/>
                        </a:rPr>
                        <a:t>次</a:t>
                      </a:r>
                      <a:endParaRPr lang="zh-CN" sz="1000" b="1">
                        <a:solidFill>
                          <a:srgbClr val="000000"/>
                        </a:solidFill>
                        <a:uFillTx/>
                        <a:latin typeface="Times New Roman" panose="02020603050405020304" charset="0"/>
                        <a:ea typeface="黑体" panose="02010609060101010101" pitchFamily="49" charset="-122"/>
                        <a:cs typeface="黑体" panose="02010609060101010101" pitchFamily="49" charset="-122"/>
                      </a:endParaRPr>
                    </a:p>
                  </a:txBody>
                  <a:tcPr marL="63500" marR="63500" marT="34925" marB="34925" anchor="ctr">
                    <a:lnL>
                      <a:noFill/>
                    </a:lnL>
                    <a:lnR>
                      <a:noFill/>
                    </a:lnR>
                    <a:lnT w="6350" cap="flat" cmpd="sng">
                      <a:solidFill>
                        <a:srgbClr val="000000"/>
                      </a:solidFill>
                      <a:prstDash val="solid"/>
                      <a:headEnd type="none" w="med" len="med"/>
                      <a:tailEnd type="none" w="med" len="med"/>
                    </a:lnT>
                    <a:lnB>
                      <a:noFill/>
                    </a:lnB>
                    <a:solidFill>
                      <a:srgbClr val="FFFFFF"/>
                    </a:solidFill>
                  </a:tcPr>
                </a:tc>
                <a:tc>
                  <a:txBody>
                    <a:bodyPr/>
                    <a:lstStyle/>
                    <a:p>
                      <a:pPr marL="5080" indent="0" algn="ctr" fontAlgn="auto">
                        <a:spcBef>
                          <a:spcPct val="0"/>
                        </a:spcBef>
                        <a:spcAft>
                          <a:spcPct val="0"/>
                        </a:spcAft>
                      </a:pPr>
                      <a:r>
                        <a:rPr lang="en-US" altLang="zh-CN" sz="1000" b="1">
                          <a:solidFill>
                            <a:srgbClr val="000000"/>
                          </a:solidFill>
                          <a:uFillTx/>
                          <a:latin typeface="Times New Roman" panose="02020603050405020304" charset="0"/>
                          <a:ea typeface="黑体" panose="02010609060101010101" pitchFamily="49" charset="-122"/>
                          <a:cs typeface="Cambria Math" panose="02040503050406030204" pitchFamily="18" charset="0"/>
                        </a:rPr>
                        <a:t>0.12 ~ 0.15</a:t>
                      </a:r>
                      <a:endParaRPr lang="en-US" altLang="zh-CN" sz="1000" b="1">
                        <a:solidFill>
                          <a:srgbClr val="000000"/>
                        </a:solidFill>
                        <a:uFillTx/>
                        <a:latin typeface="Times New Roman" panose="02020603050405020304" charset="0"/>
                        <a:ea typeface="黑体" panose="02010609060101010101" pitchFamily="49" charset="-122"/>
                        <a:cs typeface="Cambria Math" panose="02040503050406030204" pitchFamily="18" charset="0"/>
                      </a:endParaRPr>
                    </a:p>
                  </a:txBody>
                  <a:tcPr marL="63500" marR="63500" marT="34925" marB="34925" anchor="ctr">
                    <a:lnL>
                      <a:noFill/>
                    </a:lnL>
                    <a:lnR>
                      <a:noFill/>
                    </a:lnR>
                    <a:lnT w="6350" cap="flat" cmpd="sng">
                      <a:solidFill>
                        <a:srgbClr val="000000"/>
                      </a:solidFill>
                      <a:prstDash val="solid"/>
                      <a:headEnd type="none" w="med" len="med"/>
                      <a:tailEnd type="none" w="med" len="med"/>
                    </a:lnT>
                    <a:lnB>
                      <a:noFill/>
                    </a:lnB>
                    <a:solidFill>
                      <a:srgbClr val="FFFFFF"/>
                    </a:solidFill>
                  </a:tcPr>
                </a:tc>
                <a:tc>
                  <a:txBody>
                    <a:bodyPr/>
                    <a:lstStyle/>
                    <a:p>
                      <a:pPr marL="5080" indent="0" algn="ctr" fontAlgn="auto">
                        <a:spcBef>
                          <a:spcPct val="0"/>
                        </a:spcBef>
                        <a:spcAft>
                          <a:spcPct val="0"/>
                        </a:spcAft>
                      </a:pPr>
                      <a:r>
                        <a:rPr lang="en-US" altLang="zh-CN" sz="1000" b="1">
                          <a:solidFill>
                            <a:srgbClr val="000000"/>
                          </a:solidFill>
                          <a:uFillTx/>
                          <a:latin typeface="Times New Roman" panose="02020603050405020304" charset="0"/>
                          <a:ea typeface="黑体" panose="02010609060101010101" pitchFamily="49" charset="-122"/>
                          <a:cs typeface="Cambria Math" panose="02040503050406030204" pitchFamily="18" charset="0"/>
                        </a:rPr>
                        <a:t>0.8 ~ 1.0</a:t>
                      </a:r>
                      <a:endParaRPr lang="en-US" altLang="zh-CN" sz="1000" b="1">
                        <a:solidFill>
                          <a:srgbClr val="000000"/>
                        </a:solidFill>
                        <a:uFillTx/>
                        <a:latin typeface="Times New Roman" panose="02020603050405020304" charset="0"/>
                        <a:ea typeface="黑体" panose="02010609060101010101" pitchFamily="49" charset="-122"/>
                        <a:cs typeface="Cambria Math" panose="02040503050406030204" pitchFamily="18" charset="0"/>
                      </a:endParaRPr>
                    </a:p>
                  </a:txBody>
                  <a:tcPr marL="63500" marR="63500" marT="34925" marB="34925" anchor="ctr">
                    <a:lnL>
                      <a:noFill/>
                    </a:lnL>
                    <a:lnR>
                      <a:noFill/>
                    </a:lnR>
                    <a:lnT w="6350" cap="flat" cmpd="sng">
                      <a:solidFill>
                        <a:srgbClr val="000000"/>
                      </a:solidFill>
                      <a:prstDash val="solid"/>
                      <a:headEnd type="none" w="med" len="med"/>
                      <a:tailEnd type="none" w="med" len="med"/>
                    </a:lnT>
                    <a:lnB>
                      <a:noFill/>
                    </a:lnB>
                    <a:solidFill>
                      <a:srgbClr val="FFFFFF"/>
                    </a:solidFill>
                  </a:tcPr>
                </a:tc>
                <a:tc>
                  <a:txBody>
                    <a:bodyPr/>
                    <a:lstStyle/>
                    <a:p>
                      <a:pPr marL="5080" indent="0" algn="ctr" fontAlgn="auto">
                        <a:spcBef>
                          <a:spcPct val="0"/>
                        </a:spcBef>
                        <a:spcAft>
                          <a:spcPct val="0"/>
                        </a:spcAft>
                      </a:pPr>
                      <a:r>
                        <a:rPr lang="en-US" altLang="zh-CN" sz="1000" b="1">
                          <a:solidFill>
                            <a:srgbClr val="000000"/>
                          </a:solidFill>
                          <a:uFillTx/>
                          <a:latin typeface="Times New Roman" panose="02020603050405020304" charset="0"/>
                          <a:ea typeface="黑体" panose="02010609060101010101" pitchFamily="49" charset="-122"/>
                          <a:cs typeface="Cambria Math" panose="02040503050406030204" pitchFamily="18" charset="0"/>
                        </a:rPr>
                        <a:t>8% ~ 12%</a:t>
                      </a:r>
                      <a:endParaRPr lang="en-US" altLang="zh-CN" sz="1000" b="1">
                        <a:solidFill>
                          <a:srgbClr val="000000"/>
                        </a:solidFill>
                        <a:uFillTx/>
                        <a:latin typeface="Times New Roman" panose="02020603050405020304" charset="0"/>
                        <a:ea typeface="黑体" panose="02010609060101010101" pitchFamily="49" charset="-122"/>
                        <a:cs typeface="Cambria Math" panose="02040503050406030204" pitchFamily="18" charset="0"/>
                      </a:endParaRPr>
                    </a:p>
                  </a:txBody>
                  <a:tcPr marL="63500" marR="63500" marT="34925" marB="34925" anchor="ctr">
                    <a:lnL>
                      <a:noFill/>
                    </a:lnL>
                    <a:lnR>
                      <a:noFill/>
                    </a:lnR>
                    <a:lnT w="6350" cap="flat" cmpd="sng">
                      <a:solidFill>
                        <a:srgbClr val="000000"/>
                      </a:solidFill>
                      <a:prstDash val="solid"/>
                      <a:headEnd type="none" w="med" len="med"/>
                      <a:tailEnd type="none" w="med" len="med"/>
                    </a:lnT>
                    <a:lnB>
                      <a:noFill/>
                    </a:lnB>
                    <a:solidFill>
                      <a:srgbClr val="FFFFFF"/>
                    </a:solidFill>
                  </a:tcPr>
                </a:tc>
              </a:tr>
              <a:tr h="349885">
                <a:tc>
                  <a:txBody>
                    <a:bodyPr/>
                    <a:lstStyle/>
                    <a:p>
                      <a:pPr marL="5080" indent="0" algn="ctr" fontAlgn="auto">
                        <a:spcBef>
                          <a:spcPct val="0"/>
                        </a:spcBef>
                        <a:spcAft>
                          <a:spcPct val="0"/>
                        </a:spcAft>
                      </a:pPr>
                      <a:r>
                        <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基准情景（</a:t>
                      </a:r>
                      <a:r>
                        <a:rPr lang="en-US" alt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S₀</a:t>
                      </a:r>
                      <a:r>
                        <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a:t>
                      </a:r>
                      <a:endPar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endParaRPr>
                    </a:p>
                  </a:txBody>
                  <a:tcPr marL="63500" marR="63500" marT="34925" marB="34925" anchor="ctr">
                    <a:lnL>
                      <a:noFill/>
                    </a:lnL>
                    <a:lnR>
                      <a:noFill/>
                    </a:lnR>
                    <a:lnT>
                      <a:noFill/>
                    </a:lnT>
                    <a:lnB>
                      <a:noFill/>
                    </a:lnB>
                    <a:solidFill>
                      <a:srgbClr val="FFFFFF"/>
                    </a:solidFill>
                  </a:tcPr>
                </a:tc>
                <a:tc>
                  <a:txBody>
                    <a:bodyPr/>
                    <a:lstStyle/>
                    <a:p>
                      <a:pPr marL="5080" indent="0" algn="just" fontAlgn="auto">
                        <a:spcBef>
                          <a:spcPct val="0"/>
                        </a:spcBef>
                        <a:spcAft>
                          <a:spcPct val="0"/>
                        </a:spcAft>
                      </a:pPr>
                      <a:r>
                        <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容量电价</a:t>
                      </a:r>
                      <a:r>
                        <a:rPr lang="en-US" alt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a:t>
                      </a:r>
                      <a:r>
                        <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辅助服务机制正常运转</a:t>
                      </a:r>
                      <a:endPar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endParaRPr>
                    </a:p>
                  </a:txBody>
                  <a:tcPr marL="63500" marR="63500" marT="34925" marB="34925" anchor="ctr">
                    <a:lnL>
                      <a:noFill/>
                    </a:lnL>
                    <a:lnR>
                      <a:noFill/>
                    </a:lnR>
                    <a:lnT>
                      <a:noFill/>
                    </a:lnT>
                    <a:lnB>
                      <a:noFill/>
                    </a:lnB>
                    <a:solidFill>
                      <a:srgbClr val="FFFFFF"/>
                    </a:solidFill>
                  </a:tcPr>
                </a:tc>
                <a:tc>
                  <a:txBody>
                    <a:bodyPr/>
                    <a:lstStyle/>
                    <a:p>
                      <a:pPr marL="5080" indent="0" algn="ctr" fontAlgn="auto">
                        <a:spcBef>
                          <a:spcPct val="0"/>
                        </a:spcBef>
                        <a:spcAft>
                          <a:spcPct val="0"/>
                        </a:spcAft>
                      </a:pPr>
                      <a:r>
                        <a:rPr lang="en-US" altLang="zh-CN" sz="1000" b="1">
                          <a:solidFill>
                            <a:srgbClr val="000000"/>
                          </a:solidFill>
                          <a:uFillTx/>
                          <a:latin typeface="Times New Roman" panose="02020603050405020304" charset="0"/>
                          <a:ea typeface="黑体" panose="02010609060101010101" pitchFamily="49" charset="-122"/>
                          <a:cs typeface="黑体" panose="02010609060101010101" pitchFamily="49" charset="-122"/>
                        </a:rPr>
                        <a:t>280</a:t>
                      </a:r>
                      <a:r>
                        <a:rPr lang="zh-CN" sz="1000" b="1">
                          <a:solidFill>
                            <a:srgbClr val="000000"/>
                          </a:solidFill>
                          <a:uFillTx/>
                          <a:latin typeface="Times New Roman" panose="02020603050405020304" charset="0"/>
                          <a:ea typeface="黑体" panose="02010609060101010101" pitchFamily="49" charset="-122"/>
                          <a:cs typeface="黑体" panose="02010609060101010101" pitchFamily="49" charset="-122"/>
                        </a:rPr>
                        <a:t>次</a:t>
                      </a:r>
                      <a:endParaRPr lang="zh-CN" sz="1000" b="1">
                        <a:solidFill>
                          <a:srgbClr val="000000"/>
                        </a:solidFill>
                        <a:uFillTx/>
                        <a:latin typeface="Times New Roman" panose="02020603050405020304" charset="0"/>
                        <a:ea typeface="黑体" panose="02010609060101010101" pitchFamily="49" charset="-122"/>
                        <a:cs typeface="黑体" panose="02010609060101010101" pitchFamily="49" charset="-122"/>
                      </a:endParaRPr>
                    </a:p>
                  </a:txBody>
                  <a:tcPr marL="63500" marR="63500" marT="34925" marB="34925" anchor="ctr">
                    <a:lnL>
                      <a:noFill/>
                    </a:lnL>
                    <a:lnR>
                      <a:noFill/>
                    </a:lnR>
                    <a:lnT>
                      <a:noFill/>
                    </a:lnT>
                    <a:lnB>
                      <a:noFill/>
                    </a:lnB>
                    <a:solidFill>
                      <a:srgbClr val="FFFFFF"/>
                    </a:solidFill>
                  </a:tcPr>
                </a:tc>
                <a:tc>
                  <a:txBody>
                    <a:bodyPr/>
                    <a:lstStyle/>
                    <a:p>
                      <a:pPr marL="5080" indent="0" algn="ctr" fontAlgn="auto">
                        <a:spcBef>
                          <a:spcPct val="0"/>
                        </a:spcBef>
                        <a:spcAft>
                          <a:spcPct val="0"/>
                        </a:spcAft>
                      </a:pPr>
                      <a:r>
                        <a:rPr lang="en-US" altLang="zh-CN" sz="1000" b="1">
                          <a:solidFill>
                            <a:srgbClr val="000000"/>
                          </a:solidFill>
                          <a:uFillTx/>
                          <a:latin typeface="Times New Roman" panose="02020603050405020304" charset="0"/>
                          <a:ea typeface="黑体" panose="02010609060101010101" pitchFamily="49" charset="-122"/>
                          <a:cs typeface="Cambria Math" panose="02040503050406030204" pitchFamily="18" charset="0"/>
                        </a:rPr>
                        <a:t>0.08 ~ 0.12</a:t>
                      </a:r>
                      <a:endParaRPr lang="en-US" altLang="zh-CN" sz="1000" b="1">
                        <a:solidFill>
                          <a:srgbClr val="000000"/>
                        </a:solidFill>
                        <a:uFillTx/>
                        <a:latin typeface="Times New Roman" panose="02020603050405020304" charset="0"/>
                        <a:ea typeface="黑体" panose="02010609060101010101" pitchFamily="49" charset="-122"/>
                        <a:cs typeface="Cambria Math" panose="02040503050406030204" pitchFamily="18" charset="0"/>
                      </a:endParaRPr>
                    </a:p>
                  </a:txBody>
                  <a:tcPr marL="63500" marR="63500" marT="34925" marB="34925" anchor="ctr">
                    <a:lnL>
                      <a:noFill/>
                    </a:lnL>
                    <a:lnR>
                      <a:noFill/>
                    </a:lnR>
                    <a:lnT>
                      <a:noFill/>
                    </a:lnT>
                    <a:lnB>
                      <a:noFill/>
                    </a:lnB>
                    <a:solidFill>
                      <a:srgbClr val="FFFFFF"/>
                    </a:solidFill>
                  </a:tcPr>
                </a:tc>
                <a:tc>
                  <a:txBody>
                    <a:bodyPr/>
                    <a:lstStyle/>
                    <a:p>
                      <a:pPr marL="5080" indent="0" algn="ctr" fontAlgn="auto">
                        <a:spcBef>
                          <a:spcPct val="0"/>
                        </a:spcBef>
                        <a:spcAft>
                          <a:spcPct val="0"/>
                        </a:spcAft>
                      </a:pPr>
                      <a:r>
                        <a:rPr lang="en-US" altLang="zh-CN" sz="1000" b="1">
                          <a:solidFill>
                            <a:srgbClr val="000000"/>
                          </a:solidFill>
                          <a:uFillTx/>
                          <a:latin typeface="Times New Roman" panose="02020603050405020304" charset="0"/>
                          <a:ea typeface="黑体" panose="02010609060101010101" pitchFamily="49" charset="-122"/>
                          <a:cs typeface="Cambria Math" panose="02040503050406030204" pitchFamily="18" charset="0"/>
                        </a:rPr>
                        <a:t>0.5 ~ 0.7</a:t>
                      </a:r>
                      <a:endParaRPr lang="en-US" altLang="zh-CN" sz="1000" b="1">
                        <a:solidFill>
                          <a:srgbClr val="000000"/>
                        </a:solidFill>
                        <a:uFillTx/>
                        <a:latin typeface="Times New Roman" panose="02020603050405020304" charset="0"/>
                        <a:ea typeface="黑体" panose="02010609060101010101" pitchFamily="49" charset="-122"/>
                        <a:cs typeface="Cambria Math" panose="02040503050406030204" pitchFamily="18" charset="0"/>
                      </a:endParaRPr>
                    </a:p>
                  </a:txBody>
                  <a:tcPr marL="63500" marR="63500" marT="34925" marB="34925" anchor="ctr">
                    <a:lnL>
                      <a:noFill/>
                    </a:lnL>
                    <a:lnR>
                      <a:noFill/>
                    </a:lnR>
                    <a:lnT>
                      <a:noFill/>
                    </a:lnT>
                    <a:lnB>
                      <a:noFill/>
                    </a:lnB>
                    <a:solidFill>
                      <a:srgbClr val="FFFFFF"/>
                    </a:solidFill>
                  </a:tcPr>
                </a:tc>
                <a:tc>
                  <a:txBody>
                    <a:bodyPr/>
                    <a:lstStyle/>
                    <a:p>
                      <a:pPr marL="5080" indent="0" algn="ctr" fontAlgn="auto">
                        <a:spcBef>
                          <a:spcPct val="0"/>
                        </a:spcBef>
                        <a:spcAft>
                          <a:spcPct val="0"/>
                        </a:spcAft>
                      </a:pPr>
                      <a:r>
                        <a:rPr lang="en-US" altLang="zh-CN" sz="1000" b="1">
                          <a:solidFill>
                            <a:srgbClr val="000000"/>
                          </a:solidFill>
                          <a:uFillTx/>
                          <a:latin typeface="Times New Roman" panose="02020603050405020304" charset="0"/>
                          <a:ea typeface="黑体" panose="02010609060101010101" pitchFamily="49" charset="-122"/>
                          <a:cs typeface="Cambria Math" panose="02040503050406030204" pitchFamily="18" charset="0"/>
                        </a:rPr>
                        <a:t>4% ~ 7%</a:t>
                      </a:r>
                      <a:endParaRPr lang="en-US" altLang="zh-CN" sz="1000" b="1">
                        <a:solidFill>
                          <a:srgbClr val="000000"/>
                        </a:solidFill>
                        <a:uFillTx/>
                        <a:latin typeface="Times New Roman" panose="02020603050405020304" charset="0"/>
                        <a:ea typeface="黑体" panose="02010609060101010101" pitchFamily="49" charset="-122"/>
                        <a:cs typeface="Cambria Math" panose="02040503050406030204" pitchFamily="18" charset="0"/>
                      </a:endParaRPr>
                    </a:p>
                  </a:txBody>
                  <a:tcPr marL="63500" marR="63500" marT="34925" marB="34925" anchor="ctr">
                    <a:lnL>
                      <a:noFill/>
                    </a:lnL>
                    <a:lnR>
                      <a:noFill/>
                    </a:lnR>
                    <a:lnT>
                      <a:noFill/>
                    </a:lnT>
                    <a:lnB>
                      <a:noFill/>
                    </a:lnB>
                    <a:solidFill>
                      <a:srgbClr val="FFFFFF"/>
                    </a:solidFill>
                  </a:tcPr>
                </a:tc>
              </a:tr>
              <a:tr h="469900">
                <a:tc>
                  <a:txBody>
                    <a:bodyPr/>
                    <a:lstStyle/>
                    <a:p>
                      <a:pPr marL="5080" indent="0" algn="ctr" fontAlgn="auto">
                        <a:spcBef>
                          <a:spcPct val="0"/>
                        </a:spcBef>
                        <a:spcAft>
                          <a:spcPct val="0"/>
                        </a:spcAft>
                      </a:pPr>
                      <a:r>
                        <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压力情景（</a:t>
                      </a:r>
                      <a:r>
                        <a:rPr lang="en-US" alt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S−</a:t>
                      </a:r>
                      <a:r>
                        <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rPr>
                        <a:t>）</a:t>
                      </a:r>
                      <a:endParaRPr lang="zh-CN" sz="1000" b="0">
                        <a:solidFill>
                          <a:srgbClr val="000000"/>
                        </a:solidFill>
                        <a:uFillTx/>
                        <a:latin typeface="Times New Roman" panose="02020603050405020304" charset="0"/>
                        <a:ea typeface="黑体" panose="02010609060101010101" pitchFamily="49" charset="-122"/>
                        <a:cs typeface="黑体" panose="02010609060101010101" pitchFamily="49" charset="-122"/>
                      </a:endParaRPr>
                    </a:p>
                  </a:txBody>
                  <a:tcPr marL="63500" marR="63500" marT="34925" marB="34925" anchor="ctr">
                    <a:lnL>
                      <a:noFill/>
                    </a:lnL>
                    <a:lnR>
                      <a:noFill/>
                    </a:lnR>
                    <a:lnT>
                      <a:noFill/>
                    </a:lnT>
                    <a:lnB w="19050" cap="flat" cmpd="sng">
                      <a:solidFill>
                        <a:srgbClr val="000000"/>
                      </a:solidFill>
                      <a:prstDash val="solid"/>
                      <a:headEnd type="none" w="med" len="med"/>
                      <a:tailEnd type="none" w="med" len="med"/>
                    </a:lnB>
                    <a:solidFill>
                      <a:srgbClr val="FFFFFF"/>
                    </a:solidFill>
                  </a:tcPr>
                </a:tc>
                <a:tc>
                  <a:txBody>
                    <a:bodyPr/>
                    <a:lstStyle/>
                    <a:p>
                      <a:pPr marL="5080" indent="0" algn="just" fontAlgn="auto">
                        <a:spcBef>
                          <a:spcPct val="0"/>
                        </a:spcBef>
                        <a:spcAft>
                          <a:spcPct val="0"/>
                        </a:spcAft>
                      </a:pPr>
                      <a:r>
                        <a:rPr lang="zh-CN" sz="1000" b="0">
                          <a:solidFill>
                            <a:srgbClr val="000000"/>
                          </a:solidFill>
                          <a:uFillTx/>
                          <a:latin typeface="Times New Roman" panose="02020603050405020304" charset="0"/>
                          <a:ea typeface="黑体" panose="02010609060101010101" pitchFamily="49" charset="-122"/>
                        </a:rPr>
                        <a:t>辅助服务市场受限，强制配储退出过渡期</a:t>
                      </a:r>
                      <a:endParaRPr lang="zh-CN" sz="1000" b="0">
                        <a:solidFill>
                          <a:srgbClr val="000000"/>
                        </a:solidFill>
                        <a:uFillTx/>
                        <a:latin typeface="Times New Roman" panose="02020603050405020304" charset="0"/>
                        <a:ea typeface="黑体" panose="02010609060101010101" pitchFamily="49" charset="-122"/>
                      </a:endParaRPr>
                    </a:p>
                  </a:txBody>
                  <a:tcPr marL="63500" marR="63500" marT="34925" marB="34925" anchor="ctr">
                    <a:lnL>
                      <a:noFill/>
                    </a:lnL>
                    <a:lnR>
                      <a:noFill/>
                    </a:lnR>
                    <a:lnT>
                      <a:noFill/>
                    </a:lnT>
                    <a:lnB w="19050" cap="flat" cmpd="sng">
                      <a:solidFill>
                        <a:srgbClr val="000000"/>
                      </a:solidFill>
                      <a:prstDash val="solid"/>
                      <a:headEnd type="none" w="med" len="med"/>
                      <a:tailEnd type="none" w="med" len="med"/>
                    </a:lnB>
                    <a:solidFill>
                      <a:srgbClr val="FFFFFF"/>
                    </a:solidFill>
                  </a:tcPr>
                </a:tc>
                <a:tc>
                  <a:txBody>
                    <a:bodyPr/>
                    <a:lstStyle/>
                    <a:p>
                      <a:pPr marL="5080" indent="0" algn="ctr" fontAlgn="auto">
                        <a:spcBef>
                          <a:spcPct val="0"/>
                        </a:spcBef>
                        <a:spcAft>
                          <a:spcPct val="0"/>
                        </a:spcAft>
                      </a:pPr>
                      <a:r>
                        <a:rPr lang="en-US" altLang="zh-CN" sz="1000" b="1">
                          <a:solidFill>
                            <a:srgbClr val="000000"/>
                          </a:solidFill>
                          <a:uFillTx/>
                          <a:latin typeface="Times New Roman" panose="02020603050405020304" charset="0"/>
                          <a:ea typeface="黑体" panose="02010609060101010101" pitchFamily="49" charset="-122"/>
                          <a:cs typeface="黑体" panose="02010609060101010101" pitchFamily="49" charset="-122"/>
                        </a:rPr>
                        <a:t>200</a:t>
                      </a:r>
                      <a:r>
                        <a:rPr lang="zh-CN" sz="1000" b="1">
                          <a:solidFill>
                            <a:srgbClr val="000000"/>
                          </a:solidFill>
                          <a:uFillTx/>
                          <a:latin typeface="Times New Roman" panose="02020603050405020304" charset="0"/>
                          <a:ea typeface="黑体" panose="02010609060101010101" pitchFamily="49" charset="-122"/>
                          <a:cs typeface="黑体" panose="02010609060101010101" pitchFamily="49" charset="-122"/>
                        </a:rPr>
                        <a:t>次</a:t>
                      </a:r>
                      <a:endParaRPr lang="zh-CN" sz="1000" b="1">
                        <a:solidFill>
                          <a:srgbClr val="000000"/>
                        </a:solidFill>
                        <a:uFillTx/>
                        <a:latin typeface="Times New Roman" panose="02020603050405020304" charset="0"/>
                        <a:ea typeface="黑体" panose="02010609060101010101" pitchFamily="49" charset="-122"/>
                        <a:cs typeface="黑体" panose="02010609060101010101" pitchFamily="49" charset="-122"/>
                      </a:endParaRPr>
                    </a:p>
                  </a:txBody>
                  <a:tcPr marL="63500" marR="63500" marT="34925" marB="34925" anchor="ctr">
                    <a:lnL>
                      <a:noFill/>
                    </a:lnL>
                    <a:lnR>
                      <a:noFill/>
                    </a:lnR>
                    <a:lnT>
                      <a:noFill/>
                    </a:lnT>
                    <a:lnB w="19050" cap="flat" cmpd="sng">
                      <a:solidFill>
                        <a:srgbClr val="000000"/>
                      </a:solidFill>
                      <a:prstDash val="solid"/>
                      <a:headEnd type="none" w="med" len="med"/>
                      <a:tailEnd type="none" w="med" len="med"/>
                    </a:lnB>
                    <a:solidFill>
                      <a:srgbClr val="FFFFFF"/>
                    </a:solidFill>
                  </a:tcPr>
                </a:tc>
                <a:tc>
                  <a:txBody>
                    <a:bodyPr/>
                    <a:lstStyle/>
                    <a:p>
                      <a:pPr marL="5080" indent="0" algn="ctr" fontAlgn="auto">
                        <a:spcBef>
                          <a:spcPct val="0"/>
                        </a:spcBef>
                        <a:spcAft>
                          <a:spcPct val="0"/>
                        </a:spcAft>
                      </a:pPr>
                      <a:r>
                        <a:rPr lang="en-US" altLang="zh-CN" sz="1000" b="1">
                          <a:solidFill>
                            <a:srgbClr val="000000"/>
                          </a:solidFill>
                          <a:uFillTx/>
                          <a:latin typeface="Times New Roman" panose="02020603050405020304" charset="0"/>
                          <a:ea typeface="黑体" panose="02010609060101010101" pitchFamily="49" charset="-122"/>
                          <a:cs typeface="Cambria Math" panose="02040503050406030204" pitchFamily="18" charset="0"/>
                        </a:rPr>
                        <a:t>0.05 ~ 0.08</a:t>
                      </a:r>
                      <a:endParaRPr lang="en-US" altLang="zh-CN" sz="1000" b="1">
                        <a:solidFill>
                          <a:srgbClr val="000000"/>
                        </a:solidFill>
                        <a:uFillTx/>
                        <a:latin typeface="Times New Roman" panose="02020603050405020304" charset="0"/>
                        <a:ea typeface="黑体" panose="02010609060101010101" pitchFamily="49" charset="-122"/>
                        <a:cs typeface="Cambria Math" panose="02040503050406030204" pitchFamily="18" charset="0"/>
                      </a:endParaRPr>
                    </a:p>
                  </a:txBody>
                  <a:tcPr marL="63500" marR="63500" marT="34925" marB="34925" anchor="ctr">
                    <a:lnL>
                      <a:noFill/>
                    </a:lnL>
                    <a:lnR>
                      <a:noFill/>
                    </a:lnR>
                    <a:lnT>
                      <a:noFill/>
                    </a:lnT>
                    <a:lnB w="19050" cap="flat" cmpd="sng">
                      <a:solidFill>
                        <a:srgbClr val="000000"/>
                      </a:solidFill>
                      <a:prstDash val="solid"/>
                      <a:headEnd type="none" w="med" len="med"/>
                      <a:tailEnd type="none" w="med" len="med"/>
                    </a:lnB>
                    <a:solidFill>
                      <a:srgbClr val="FFFFFF"/>
                    </a:solidFill>
                  </a:tcPr>
                </a:tc>
                <a:tc>
                  <a:txBody>
                    <a:bodyPr/>
                    <a:lstStyle/>
                    <a:p>
                      <a:pPr marL="5080" indent="0" algn="ctr" fontAlgn="auto">
                        <a:spcBef>
                          <a:spcPct val="0"/>
                        </a:spcBef>
                        <a:spcAft>
                          <a:spcPct val="0"/>
                        </a:spcAft>
                      </a:pPr>
                      <a:r>
                        <a:rPr lang="en-US" altLang="zh-CN" sz="1000" b="1">
                          <a:solidFill>
                            <a:srgbClr val="000000"/>
                          </a:solidFill>
                          <a:uFillTx/>
                          <a:latin typeface="Times New Roman" panose="02020603050405020304" charset="0"/>
                          <a:ea typeface="黑体" panose="02010609060101010101" pitchFamily="49" charset="-122"/>
                          <a:cs typeface="Cambria Math" panose="02040503050406030204" pitchFamily="18" charset="0"/>
                        </a:rPr>
                        <a:t>0.3 ~ 0.5</a:t>
                      </a:r>
                      <a:endParaRPr lang="en-US" altLang="zh-CN" sz="1000" b="1">
                        <a:solidFill>
                          <a:srgbClr val="000000"/>
                        </a:solidFill>
                        <a:uFillTx/>
                        <a:latin typeface="Times New Roman" panose="02020603050405020304" charset="0"/>
                        <a:ea typeface="黑体" panose="02010609060101010101" pitchFamily="49" charset="-122"/>
                        <a:cs typeface="Cambria Math" panose="02040503050406030204" pitchFamily="18" charset="0"/>
                      </a:endParaRPr>
                    </a:p>
                  </a:txBody>
                  <a:tcPr marL="63500" marR="63500" marT="34925" marB="34925" anchor="ctr">
                    <a:lnL>
                      <a:noFill/>
                    </a:lnL>
                    <a:lnR>
                      <a:noFill/>
                    </a:lnR>
                    <a:lnT>
                      <a:noFill/>
                    </a:lnT>
                    <a:lnB w="19050" cap="flat" cmpd="sng">
                      <a:solidFill>
                        <a:srgbClr val="000000"/>
                      </a:solidFill>
                      <a:prstDash val="solid"/>
                      <a:headEnd type="none" w="med" len="med"/>
                      <a:tailEnd type="none" w="med" len="med"/>
                    </a:lnB>
                    <a:solidFill>
                      <a:srgbClr val="FFFFFF"/>
                    </a:solidFill>
                  </a:tcPr>
                </a:tc>
                <a:tc>
                  <a:txBody>
                    <a:bodyPr/>
                    <a:lstStyle/>
                    <a:p>
                      <a:pPr marL="5080" indent="0" algn="ctr" fontAlgn="auto">
                        <a:spcBef>
                          <a:spcPct val="0"/>
                        </a:spcBef>
                        <a:spcAft>
                          <a:spcPct val="0"/>
                        </a:spcAft>
                      </a:pPr>
                      <a:r>
                        <a:rPr lang="en-US" altLang="zh-CN" sz="1000" b="1">
                          <a:solidFill>
                            <a:srgbClr val="000000"/>
                          </a:solidFill>
                          <a:uFillTx/>
                          <a:latin typeface="Times New Roman" panose="02020603050405020304" charset="0"/>
                          <a:ea typeface="黑体" panose="02010609060101010101" pitchFamily="49" charset="-122"/>
                          <a:cs typeface="Cambria Math" panose="02040503050406030204" pitchFamily="18" charset="0"/>
                        </a:rPr>
                        <a:t>1% ~ 3%</a:t>
                      </a:r>
                      <a:endParaRPr lang="en-US" altLang="zh-CN" sz="1000" b="1">
                        <a:solidFill>
                          <a:srgbClr val="000000"/>
                        </a:solidFill>
                        <a:uFillTx/>
                        <a:latin typeface="Times New Roman" panose="02020603050405020304" charset="0"/>
                        <a:ea typeface="黑体" panose="02010609060101010101" pitchFamily="49" charset="-122"/>
                        <a:cs typeface="Cambria Math" panose="02040503050406030204" pitchFamily="18" charset="0"/>
                      </a:endParaRPr>
                    </a:p>
                  </a:txBody>
                  <a:tcPr marL="63500" marR="63500" marT="34925" marB="34925" anchor="ctr">
                    <a:lnL>
                      <a:noFill/>
                    </a:lnL>
                    <a:lnR>
                      <a:noFill/>
                    </a:lnR>
                    <a:lnT>
                      <a:noFill/>
                    </a:lnT>
                    <a:lnB w="19050" cap="flat" cmpd="sng">
                      <a:solidFill>
                        <a:srgbClr val="000000"/>
                      </a:solidFill>
                      <a:prstDash val="solid"/>
                      <a:headEnd type="none" w="med" len="med"/>
                      <a:tailEnd type="none" w="med" len="med"/>
                    </a:lnB>
                    <a:solidFill>
                      <a:srgbClr val="FFFFFF"/>
                    </a:solidFill>
                  </a:tcPr>
                </a:tc>
              </a:tr>
            </a:tbl>
          </a:graphicData>
        </a:graphic>
      </p:graphicFrame>
      <p:grpSp>
        <p:nvGrpSpPr>
          <p:cNvPr id="31" name="组合 30"/>
          <p:cNvGrpSpPr/>
          <p:nvPr/>
        </p:nvGrpSpPr>
        <p:grpSpPr>
          <a:xfrm>
            <a:off x="6694170" y="1681480"/>
            <a:ext cx="4868545" cy="1133475"/>
            <a:chOff x="10542" y="2578"/>
            <a:chExt cx="7667" cy="1785"/>
          </a:xfrm>
        </p:grpSpPr>
        <p:sp>
          <p:nvSpPr>
            <p:cNvPr id="715" name="矩形 714"/>
            <p:cNvSpPr/>
            <p:nvPr/>
          </p:nvSpPr>
          <p:spPr>
            <a:xfrm>
              <a:off x="10542" y="2578"/>
              <a:ext cx="946" cy="1785"/>
            </a:xfrm>
            <a:prstGeom prst="rect">
              <a:avLst/>
            </a:prstGeom>
            <a:solidFill>
              <a:srgbClr val="3F762B"/>
            </a:solidFill>
            <a:ln>
              <a:solidFill>
                <a:srgbClr val="3F76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0" algn="ctr" fontAlgn="auto">
                <a:lnSpc>
                  <a:spcPct val="120000"/>
                </a:lnSpc>
              </a:pPr>
              <a:r>
                <a:rPr lang="zh-CN" altLang="en-US" sz="1400" b="1" dirty="0">
                  <a:latin typeface="微软雅黑" panose="020B0503020204020204" pitchFamily="34" charset="-122"/>
                  <a:ea typeface="微软雅黑" panose="020B0503020204020204" pitchFamily="34" charset="-122"/>
                </a:rPr>
                <a:t>行业核心痛点</a:t>
              </a:r>
              <a:endParaRPr lang="zh-CN" altLang="en-US" sz="1400" dirty="0">
                <a:latin typeface="微软雅黑" panose="020B0503020204020204" pitchFamily="34" charset="-122"/>
                <a:ea typeface="微软雅黑" panose="020B0503020204020204" pitchFamily="34" charset="-122"/>
                <a:cs typeface="Calibri" panose="020F0502020204030204" charset="0"/>
              </a:endParaRPr>
            </a:p>
          </p:txBody>
        </p:sp>
        <p:sp>
          <p:nvSpPr>
            <p:cNvPr id="716" name="矩形 715"/>
            <p:cNvSpPr/>
            <p:nvPr/>
          </p:nvSpPr>
          <p:spPr>
            <a:xfrm>
              <a:off x="11776" y="2578"/>
              <a:ext cx="6433" cy="1785"/>
            </a:xfrm>
            <a:prstGeom prst="rect">
              <a:avLst/>
            </a:prstGeom>
            <a:solidFill>
              <a:srgbClr val="F3F9E9"/>
            </a:solidFill>
            <a:ln>
              <a:solidFill>
                <a:srgbClr val="F3F9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fontAlgn="auto">
                <a:lnSpc>
                  <a:spcPts val="2240"/>
                </a:lnSpc>
                <a:spcAft>
                  <a:spcPts val="0"/>
                </a:spcAft>
                <a:buFont typeface="Wingdings" panose="05000000000000000000" charset="0"/>
                <a:buChar char="p"/>
              </a:pPr>
              <a:r>
                <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rPr>
                <a:t>储能行业核心矛盾非缺资金，而是</a:t>
              </a:r>
              <a:r>
                <a:rPr lang="zh-CN" altLang="en-US" sz="1400" b="1" dirty="0">
                  <a:solidFill>
                    <a:schemeClr val="tx1"/>
                  </a:solidFill>
                  <a:latin typeface="微软雅黑" panose="020B0503020204020204" pitchFamily="34" charset="-122"/>
                  <a:ea typeface="微软雅黑" panose="020B0503020204020204" pitchFamily="34" charset="-122"/>
                  <a:cs typeface="华文宋体" panose="02010600040101010101" charset="-122"/>
                </a:rPr>
                <a:t>缺专业信用定价能力</a:t>
              </a:r>
              <a:r>
                <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rPr>
                <a:t>，传统评估体系与行业特征错配</a:t>
              </a:r>
              <a:endPar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endParaRPr>
            </a:p>
            <a:p>
              <a:pPr marL="285750" indent="-285750" algn="just" fontAlgn="auto">
                <a:lnSpc>
                  <a:spcPts val="2240"/>
                </a:lnSpc>
                <a:spcAft>
                  <a:spcPts val="0"/>
                </a:spcAft>
                <a:buFont typeface="Wingdings" panose="05000000000000000000" charset="0"/>
                <a:buChar char="p"/>
              </a:pPr>
              <a:r>
                <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rPr>
                <a:t>储能资产</a:t>
              </a:r>
              <a:r>
                <a:rPr lang="zh-CN" altLang="en-US" sz="1400" b="1" dirty="0">
                  <a:solidFill>
                    <a:schemeClr val="tx1"/>
                  </a:solidFill>
                  <a:latin typeface="微软雅黑" panose="020B0503020204020204" pitchFamily="34" charset="-122"/>
                  <a:ea typeface="微软雅黑" panose="020B0503020204020204" pitchFamily="34" charset="-122"/>
                  <a:cs typeface="华文宋体" panose="02010600040101010101" charset="-122"/>
                </a:rPr>
                <a:t>多维价值无法有效识别</a:t>
              </a:r>
              <a:r>
                <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rPr>
                <a:t>，金融资本信用识别不足，推高行业融资成本</a:t>
              </a:r>
              <a:endPar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endParaRPr>
            </a:p>
          </p:txBody>
        </p:sp>
      </p:grpSp>
      <p:grpSp>
        <p:nvGrpSpPr>
          <p:cNvPr id="43" name="组合 42"/>
          <p:cNvGrpSpPr/>
          <p:nvPr/>
        </p:nvGrpSpPr>
        <p:grpSpPr>
          <a:xfrm>
            <a:off x="6694170" y="3281680"/>
            <a:ext cx="4868545" cy="1133475"/>
            <a:chOff x="10542" y="2578"/>
            <a:chExt cx="7667" cy="1785"/>
          </a:xfrm>
        </p:grpSpPr>
        <p:sp>
          <p:nvSpPr>
            <p:cNvPr id="44" name="矩形 43"/>
            <p:cNvSpPr/>
            <p:nvPr/>
          </p:nvSpPr>
          <p:spPr>
            <a:xfrm>
              <a:off x="10542" y="2578"/>
              <a:ext cx="946" cy="1785"/>
            </a:xfrm>
            <a:prstGeom prst="rect">
              <a:avLst/>
            </a:prstGeom>
            <a:solidFill>
              <a:srgbClr val="3F762B"/>
            </a:solidFill>
            <a:ln>
              <a:solidFill>
                <a:srgbClr val="3F76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0" algn="ctr" fontAlgn="auto">
                <a:lnSpc>
                  <a:spcPct val="120000"/>
                </a:lnSpc>
              </a:pPr>
              <a:r>
                <a:rPr lang="zh-CN" altLang="en-US" sz="1400" b="1" dirty="0">
                  <a:latin typeface="微软雅黑" panose="020B0503020204020204" pitchFamily="34" charset="-122"/>
                  <a:ea typeface="微软雅黑" panose="020B0503020204020204" pitchFamily="34" charset="-122"/>
                </a:rPr>
                <a:t>模型核心解法</a:t>
              </a:r>
              <a:endParaRPr lang="zh-CN" altLang="en-US" sz="1400" dirty="0">
                <a:latin typeface="微软雅黑" panose="020B0503020204020204" pitchFamily="34" charset="-122"/>
                <a:ea typeface="微软雅黑" panose="020B0503020204020204" pitchFamily="34" charset="-122"/>
                <a:cs typeface="Calibri" panose="020F0502020204030204" charset="0"/>
              </a:endParaRPr>
            </a:p>
          </p:txBody>
        </p:sp>
        <p:sp>
          <p:nvSpPr>
            <p:cNvPr id="45" name="矩形 44"/>
            <p:cNvSpPr/>
            <p:nvPr/>
          </p:nvSpPr>
          <p:spPr>
            <a:xfrm>
              <a:off x="11776" y="2578"/>
              <a:ext cx="6433" cy="1785"/>
            </a:xfrm>
            <a:prstGeom prst="rect">
              <a:avLst/>
            </a:prstGeom>
            <a:solidFill>
              <a:srgbClr val="F3F9E9"/>
            </a:solidFill>
            <a:ln>
              <a:solidFill>
                <a:srgbClr val="F3F9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fontAlgn="auto">
                <a:lnSpc>
                  <a:spcPts val="2240"/>
                </a:lnSpc>
                <a:spcAft>
                  <a:spcPts val="0"/>
                </a:spcAft>
                <a:buFont typeface="Wingdings" panose="05000000000000000000" charset="0"/>
                <a:buChar char="p"/>
              </a:pPr>
              <a:r>
                <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rPr>
                <a:t>构建</a:t>
              </a:r>
              <a:r>
                <a:rPr lang="en-US" altLang="zh-CN" sz="1400" dirty="0">
                  <a:solidFill>
                    <a:schemeClr val="tx1"/>
                  </a:solidFill>
                  <a:latin typeface="微软雅黑" panose="020B0503020204020204" pitchFamily="34" charset="-122"/>
                  <a:ea typeface="微软雅黑" panose="020B0503020204020204" pitchFamily="34" charset="-122"/>
                  <a:cs typeface="华文宋体" panose="02010600040101010101" charset="-122"/>
                </a:rPr>
                <a:t> ESCS </a:t>
              </a:r>
              <a:r>
                <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rPr>
                <a:t>模型，以</a:t>
              </a:r>
              <a:r>
                <a:rPr lang="en-US" altLang="zh-CN" sz="1400" dirty="0">
                  <a:solidFill>
                    <a:schemeClr val="tx1"/>
                  </a:solidFill>
                  <a:latin typeface="微软雅黑" panose="020B0503020204020204" pitchFamily="34" charset="-122"/>
                  <a:ea typeface="微软雅黑" panose="020B0503020204020204" pitchFamily="34" charset="-122"/>
                  <a:cs typeface="华文宋体" panose="02010600040101010101" charset="-122"/>
                </a:rPr>
                <a:t> AHP </a:t>
              </a:r>
              <a:r>
                <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rPr>
                <a:t>定权重，从财务、技术、市场、环境四维量化评估资产信用</a:t>
              </a:r>
              <a:endPar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endParaRPr>
            </a:p>
            <a:p>
              <a:pPr marL="285750" indent="-285750" algn="just" fontAlgn="auto">
                <a:lnSpc>
                  <a:spcPts val="2240"/>
                </a:lnSpc>
                <a:spcAft>
                  <a:spcPts val="0"/>
                </a:spcAft>
                <a:buFont typeface="Wingdings" panose="05000000000000000000" charset="0"/>
                <a:buChar char="p"/>
              </a:pPr>
              <a:r>
                <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rPr>
                <a:t>创新三情景收益波动风控机制，动态修正评分，实现静态评估向动态风控的范式转变</a:t>
              </a:r>
              <a:endPar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endParaRPr>
            </a:p>
          </p:txBody>
        </p:sp>
      </p:grpSp>
      <p:grpSp>
        <p:nvGrpSpPr>
          <p:cNvPr id="46" name="组合 45"/>
          <p:cNvGrpSpPr/>
          <p:nvPr/>
        </p:nvGrpSpPr>
        <p:grpSpPr>
          <a:xfrm>
            <a:off x="6693535" y="4881880"/>
            <a:ext cx="4868545" cy="1133475"/>
            <a:chOff x="10542" y="2578"/>
            <a:chExt cx="7667" cy="1785"/>
          </a:xfrm>
        </p:grpSpPr>
        <p:sp>
          <p:nvSpPr>
            <p:cNvPr id="47" name="矩形 46"/>
            <p:cNvSpPr/>
            <p:nvPr/>
          </p:nvSpPr>
          <p:spPr>
            <a:xfrm>
              <a:off x="10542" y="2578"/>
              <a:ext cx="946" cy="1785"/>
            </a:xfrm>
            <a:prstGeom prst="rect">
              <a:avLst/>
            </a:prstGeom>
            <a:solidFill>
              <a:srgbClr val="3F762B"/>
            </a:solidFill>
            <a:ln>
              <a:solidFill>
                <a:srgbClr val="3F76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0" algn="ctr" fontAlgn="auto">
                <a:lnSpc>
                  <a:spcPct val="120000"/>
                </a:lnSpc>
              </a:pPr>
              <a:r>
                <a:rPr lang="zh-CN" altLang="en-US" sz="1400" b="1" dirty="0">
                  <a:latin typeface="微软雅黑" panose="020B0503020204020204" pitchFamily="34" charset="-122"/>
                  <a:ea typeface="微软雅黑" panose="020B0503020204020204" pitchFamily="34" charset="-122"/>
                </a:rPr>
                <a:t>研究核心成果</a:t>
              </a:r>
              <a:endParaRPr lang="zh-CN" altLang="en-US" sz="1400" b="1" dirty="0">
                <a:latin typeface="微软雅黑" panose="020B0503020204020204" pitchFamily="34" charset="-122"/>
                <a:ea typeface="微软雅黑" panose="020B0503020204020204" pitchFamily="34" charset="-122"/>
              </a:endParaRPr>
            </a:p>
          </p:txBody>
        </p:sp>
        <p:sp>
          <p:nvSpPr>
            <p:cNvPr id="50" name="矩形 49"/>
            <p:cNvSpPr/>
            <p:nvPr/>
          </p:nvSpPr>
          <p:spPr>
            <a:xfrm>
              <a:off x="11776" y="2578"/>
              <a:ext cx="6433" cy="1785"/>
            </a:xfrm>
            <a:prstGeom prst="rect">
              <a:avLst/>
            </a:prstGeom>
            <a:solidFill>
              <a:srgbClr val="F3F9E9"/>
            </a:solidFill>
            <a:ln>
              <a:solidFill>
                <a:srgbClr val="F3F9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fontAlgn="auto">
                <a:lnSpc>
                  <a:spcPts val="2240"/>
                </a:lnSpc>
                <a:spcAft>
                  <a:spcPts val="0"/>
                </a:spcAft>
                <a:buFont typeface="Wingdings" panose="05000000000000000000" charset="0"/>
                <a:buChar char="p"/>
              </a:pPr>
              <a:r>
                <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rPr>
                <a:t>实现信用可识别、融资可定价，打通</a:t>
              </a:r>
              <a:r>
                <a:rPr lang="zh-CN" altLang="en-US" sz="1400" b="1" dirty="0">
                  <a:solidFill>
                    <a:schemeClr val="tx1"/>
                  </a:solidFill>
                  <a:latin typeface="微软雅黑" panose="020B0503020204020204" pitchFamily="34" charset="-122"/>
                  <a:ea typeface="微软雅黑" panose="020B0503020204020204" pitchFamily="34" charset="-122"/>
                  <a:cs typeface="华文宋体" panose="02010600040101010101" charset="-122"/>
                </a:rPr>
                <a:t>资产→信用→融资→投资</a:t>
              </a:r>
              <a:r>
                <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rPr>
                <a:t>回报完整价值闭环</a:t>
              </a:r>
              <a:endPar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endParaRPr>
            </a:p>
            <a:p>
              <a:pPr marL="285750" indent="-285750" algn="just" fontAlgn="auto">
                <a:lnSpc>
                  <a:spcPts val="2240"/>
                </a:lnSpc>
                <a:spcAft>
                  <a:spcPts val="0"/>
                </a:spcAft>
                <a:buFont typeface="Wingdings" panose="05000000000000000000" charset="0"/>
                <a:buChar char="p"/>
              </a:pPr>
              <a:r>
                <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rPr>
                <a:t>实现储能资产</a:t>
              </a:r>
              <a:r>
                <a:rPr lang="zh-CN" altLang="en-US" sz="1400" b="1" dirty="0">
                  <a:solidFill>
                    <a:schemeClr val="tx1"/>
                  </a:solidFill>
                  <a:latin typeface="微软雅黑" panose="020B0503020204020204" pitchFamily="34" charset="-122"/>
                  <a:ea typeface="微软雅黑" panose="020B0503020204020204" pitchFamily="34" charset="-122"/>
                  <a:cs typeface="华文宋体" panose="02010600040101010101" charset="-122"/>
                </a:rPr>
                <a:t>信用可识别、融资可定价</a:t>
              </a:r>
              <a:r>
                <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rPr>
                <a:t>，将储能资产转化为金融市场认可的可投资资产</a:t>
              </a:r>
              <a:endParaRPr lang="zh-CN" altLang="en-US" sz="1400" dirty="0">
                <a:solidFill>
                  <a:schemeClr val="tx1"/>
                </a:solidFill>
                <a:latin typeface="微软雅黑" panose="020B0503020204020204" pitchFamily="34" charset="-122"/>
                <a:ea typeface="微软雅黑" panose="020B0503020204020204" pitchFamily="34" charset="-122"/>
                <a:cs typeface="华文宋体" panose="02010600040101010101" charset="-122"/>
              </a:endParaRPr>
            </a:p>
          </p:txBody>
        </p:sp>
      </p:grpSp>
      <p:sp>
        <p:nvSpPr>
          <p:cNvPr id="64" name="矩形 63"/>
          <p:cNvSpPr/>
          <p:nvPr/>
        </p:nvSpPr>
        <p:spPr>
          <a:xfrm>
            <a:off x="-12700" y="3501019"/>
            <a:ext cx="431321" cy="966158"/>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F7F7F"/>
              </a:solidFill>
            </a:endParaRPr>
          </a:p>
        </p:txBody>
      </p:sp>
      <p:sp>
        <p:nvSpPr>
          <p:cNvPr id="65" name="矩形 64"/>
          <p:cNvSpPr/>
          <p:nvPr/>
        </p:nvSpPr>
        <p:spPr>
          <a:xfrm>
            <a:off x="-6350" y="2338334"/>
            <a:ext cx="431321" cy="966158"/>
          </a:xfrm>
          <a:prstGeom prst="rect">
            <a:avLst/>
          </a:prstGeom>
          <a:solidFill>
            <a:srgbClr val="7F7F7F"/>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6350" y="1185174"/>
            <a:ext cx="431321" cy="966158"/>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noFill/>
              </a:ln>
              <a:solidFill>
                <a:srgbClr val="7F7F7F"/>
              </a:solidFill>
            </a:endParaRPr>
          </a:p>
        </p:txBody>
      </p:sp>
      <p:sp>
        <p:nvSpPr>
          <p:cNvPr id="67" name="文本框 66"/>
          <p:cNvSpPr txBox="1"/>
          <p:nvPr/>
        </p:nvSpPr>
        <p:spPr>
          <a:xfrm rot="16200000">
            <a:off x="-295536" y="3815604"/>
            <a:ext cx="996991" cy="306705"/>
          </a:xfrm>
          <a:prstGeom prst="rect">
            <a:avLst/>
          </a:prstGeom>
          <a:noFill/>
        </p:spPr>
        <p:txBody>
          <a:bodyPr wrap="square" rtlCol="0">
            <a:spAutoFit/>
          </a:bodyPr>
          <a:lstStyle/>
          <a:p>
            <a:pPr algn="ctr"/>
            <a:r>
              <a:rPr lang="en-US" altLang="zh-CN" sz="1400" b="1" dirty="0">
                <a:solidFill>
                  <a:schemeClr val="bg1"/>
                </a:solidFill>
                <a:latin typeface="微软雅黑" panose="020B0503020204020204" pitchFamily="34" charset="-122"/>
                <a:ea typeface="微软雅黑" panose="020B0503020204020204" pitchFamily="34" charset="-122"/>
              </a:rPr>
              <a:t>ESCS</a:t>
            </a:r>
            <a:r>
              <a:rPr lang="zh-CN" altLang="en-US" sz="1400" b="1" dirty="0">
                <a:solidFill>
                  <a:schemeClr val="bg1"/>
                </a:solidFill>
                <a:latin typeface="微软雅黑" panose="020B0503020204020204" pitchFamily="34" charset="-122"/>
                <a:ea typeface="微软雅黑" panose="020B0503020204020204" pitchFamily="34" charset="-122"/>
              </a:rPr>
              <a:t>模型</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68" name="文本框 67"/>
          <p:cNvSpPr txBox="1"/>
          <p:nvPr/>
        </p:nvSpPr>
        <p:spPr>
          <a:xfrm rot="16200000">
            <a:off x="-295536" y="2667524"/>
            <a:ext cx="996991" cy="306705"/>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行业机会</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69" name="文本框 68"/>
          <p:cNvSpPr txBox="1"/>
          <p:nvPr/>
        </p:nvSpPr>
        <p:spPr>
          <a:xfrm rot="16200000">
            <a:off x="-289187" y="1537224"/>
            <a:ext cx="996991" cy="306705"/>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行业</a:t>
            </a:r>
            <a:r>
              <a:rPr lang="zh-CN" altLang="en-US" sz="1400" b="1" dirty="0">
                <a:solidFill>
                  <a:schemeClr val="bg1"/>
                </a:solidFill>
                <a:latin typeface="微软雅黑" panose="020B0503020204020204" pitchFamily="34" charset="-122"/>
                <a:ea typeface="微软雅黑" panose="020B0503020204020204" pitchFamily="34" charset="-122"/>
              </a:rPr>
              <a:t>背景</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61" name="矩形 60"/>
          <p:cNvSpPr/>
          <p:nvPr/>
        </p:nvSpPr>
        <p:spPr>
          <a:xfrm>
            <a:off x="-6350" y="4655449"/>
            <a:ext cx="431321" cy="966158"/>
          </a:xfrm>
          <a:prstGeom prst="rect">
            <a:avLst/>
          </a:prstGeom>
          <a:solidFill>
            <a:srgbClr val="3059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F7F7F"/>
              </a:solidFill>
            </a:endParaRPr>
          </a:p>
        </p:txBody>
      </p:sp>
      <p:sp>
        <p:nvSpPr>
          <p:cNvPr id="62" name="文本框 61"/>
          <p:cNvSpPr txBox="1"/>
          <p:nvPr/>
        </p:nvSpPr>
        <p:spPr>
          <a:xfrm rot="16200000">
            <a:off x="-289186" y="4970034"/>
            <a:ext cx="996991" cy="306705"/>
          </a:xfrm>
          <a:prstGeom prst="rect">
            <a:avLst/>
          </a:prstGeom>
          <a:noFill/>
        </p:spPr>
        <p:txBody>
          <a:bodyPr wrap="square" rtlCol="0">
            <a:spAutoFit/>
          </a:bodyPr>
          <a:lstStyle/>
          <a:p>
            <a:pPr algn="ctr"/>
            <a:r>
              <a:rPr lang="en-US" altLang="zh-CN" sz="1400" b="1" dirty="0">
                <a:solidFill>
                  <a:schemeClr val="bg1"/>
                </a:solidFill>
                <a:latin typeface="微软雅黑" panose="020B0503020204020204" pitchFamily="34" charset="-122"/>
                <a:ea typeface="微软雅黑" panose="020B0503020204020204" pitchFamily="34" charset="-122"/>
              </a:rPr>
              <a:t>ESCS</a:t>
            </a:r>
            <a:r>
              <a:rPr lang="zh-CN" altLang="en-US" sz="1400" b="1" dirty="0">
                <a:solidFill>
                  <a:schemeClr val="bg1"/>
                </a:solidFill>
                <a:latin typeface="微软雅黑" panose="020B0503020204020204" pitchFamily="34" charset="-122"/>
                <a:ea typeface="微软雅黑" panose="020B0503020204020204" pitchFamily="34" charset="-122"/>
              </a:rPr>
              <a:t>应用</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THINKCELLSHAPEDONOTDELETE" val="thinkcellActiveDocDoNotDelete"/>
</p:tagLst>
</file>

<file path=ppt/tags/tag3.xml><?xml version="1.0" encoding="utf-8"?>
<p:tagLst xmlns:p="http://schemas.openxmlformats.org/presentationml/2006/main">
  <p:tag name="THINKCELLSHAPEDONOTDELETE" val="thinkcellActiveDocDoNotDelete"/>
</p:tagLst>
</file>

<file path=ppt/tags/tag4.xml><?xml version="1.0" encoding="utf-8"?>
<p:tagLst xmlns:p="http://schemas.openxmlformats.org/presentationml/2006/main">
  <p:tag name="THINKCELLSHAPEDONOTDELETE" val="thinkcellActiveDocDoNotDelete"/>
</p:tagLst>
</file>

<file path=ppt/tags/tag5.xml><?xml version="1.0" encoding="utf-8"?>
<p:tagLst xmlns:p="http://schemas.openxmlformats.org/presentationml/2006/main">
  <p:tag name="KSO_WM_DIAGRAM_VIRTUALLY_FRAME" val="{&quot;height&quot;:341.30530183727035,&quot;left&quot;:681.8899475065617,&quot;top&quot;:90.8628871391076,&quot;width&quot;:271.4502887139107}"/>
</p:tagLst>
</file>

<file path=ppt/tags/tag6.xml><?xml version="1.0" encoding="utf-8"?>
<p:tagLst xmlns:p="http://schemas.openxmlformats.org/presentationml/2006/main">
  <p:tag name="KSO_WM_DIAGRAM_VIRTUALLY_FRAME" val="{&quot;height&quot;:341.30530183727035,&quot;left&quot;:681.8899475065617,&quot;top&quot;:90.8628871391076,&quot;width&quot;:271.4502887139107}"/>
</p:tagLst>
</file>

<file path=ppt/tags/tag7.xml><?xml version="1.0" encoding="utf-8"?>
<p:tagLst xmlns:p="http://schemas.openxmlformats.org/presentationml/2006/main">
  <p:tag name="KSO_WM_DIAGRAM_VIRTUALLY_FRAME" val="{&quot;height&quot;:341.30530183727035,&quot;left&quot;:681.8899475065617,&quot;top&quot;:90.8628871391076,&quot;width&quot;:271.4502887139107}"/>
</p:tagLst>
</file>

<file path=ppt/tags/tag8.xml><?xml version="1.0" encoding="utf-8"?>
<p:tagLst xmlns:p="http://schemas.openxmlformats.org/presentationml/2006/main">
  <p:tag name="KSO_WM_DIAGRAM_VIRTUALLY_FRAME" val="{&quot;height&quot;:341.30530183727035,&quot;left&quot;:681.8899475065617,&quot;top&quot;:90.8628871391076,&quot;width&quot;:271.4502887139107}"/>
</p:tagLst>
</file>

<file path=ppt/tags/tag9.xml><?xml version="1.0" encoding="utf-8"?>
<p:tagLst xmlns:p="http://schemas.openxmlformats.org/presentationml/2006/main">
  <p:tag name="KSO_WM_DIAGRAM_VIRTUALLY_FRAME" val="{&quot;height&quot;:341.30530183727035,&quot;left&quot;:681.8899475065617,&quot;top&quot;:90.8628871391076,&quot;width&quot;:271.4502887139107}"/>
</p:tagLst>
</file>

<file path=ppt/tags/tag10.xml><?xml version="1.0" encoding="utf-8"?>
<p:tagLst xmlns:p="http://schemas.openxmlformats.org/presentationml/2006/main">
  <p:tag name="KSO_WM_DIAGRAM_VIRTUALLY_FRAME" val="{&quot;height&quot;:341.30530183727035,&quot;left&quot;:681.8899475065617,&quot;top&quot;:90.8628871391076,&quot;width&quot;:271.4502887139107}"/>
</p:tagLst>
</file>

<file path=ppt/tags/tag11.xml><?xml version="1.0" encoding="utf-8"?>
<p:tagLst xmlns:p="http://schemas.openxmlformats.org/presentationml/2006/main">
  <p:tag name="KSO_WM_DIAGRAM_VIRTUALLY_FRAME" val="{&quot;height&quot;:341.30530183727035,&quot;left&quot;:681.8899475065617,&quot;top&quot;:90.8628871391076,&quot;width&quot;:271.4502887139107}"/>
</p:tagLst>
</file>

<file path=ppt/tags/tag12.xml><?xml version="1.0" encoding="utf-8"?>
<p:tagLst xmlns:p="http://schemas.openxmlformats.org/presentationml/2006/main">
  <p:tag name="KSO_WM_DIAGRAM_VIRTUALLY_FRAME" val="{&quot;height&quot;:341.30530183727035,&quot;left&quot;:681.8899475065617,&quot;top&quot;:90.8628871391076,&quot;width&quot;:271.4502887139107}"/>
</p:tagLst>
</file>

<file path=ppt/tags/tag13.xml><?xml version="1.0" encoding="utf-8"?>
<p:tagLst xmlns:p="http://schemas.openxmlformats.org/presentationml/2006/main">
  <p:tag name="KSO_WM_DIAGRAM_VIRTUALLY_FRAME" val="{&quot;height&quot;:341.30530183727035,&quot;left&quot;:681.8899475065617,&quot;top&quot;:90.8628871391076,&quot;width&quot;:271.4502887139107}"/>
</p:tagLst>
</file>

<file path=ppt/tags/tag14.xml><?xml version="1.0" encoding="utf-8"?>
<p:tagLst xmlns:p="http://schemas.openxmlformats.org/presentationml/2006/main">
  <p:tag name="KSO_WM_DIAGRAM_VIRTUALLY_FRAME" val="{&quot;height&quot;:341.30530183727035,&quot;left&quot;:681.8899475065617,&quot;top&quot;:90.8628871391076,&quot;width&quot;:271.4502887139107}"/>
</p:tagLst>
</file>

<file path=ppt/tags/tag15.xml><?xml version="1.0" encoding="utf-8"?>
<p:tagLst xmlns:p="http://schemas.openxmlformats.org/presentationml/2006/main">
  <p:tag name="KSO_WM_DIAGRAM_VIRTUALLY_FRAME" val="{&quot;height&quot;:341.30530183727035,&quot;left&quot;:681.8899475065617,&quot;top&quot;:90.8628871391076,&quot;width&quot;:271.4502887139107}"/>
</p:tagLst>
</file>

<file path=ppt/tags/tag16.xml><?xml version="1.0" encoding="utf-8"?>
<p:tagLst xmlns:p="http://schemas.openxmlformats.org/presentationml/2006/main">
  <p:tag name="KSO_WM_DIAGRAM_VIRTUALLY_FRAME" val="{&quot;height&quot;:341.30530183727035,&quot;left&quot;:681.8899475065617,&quot;top&quot;:90.8628871391076,&quot;width&quot;:271.4502887139107}"/>
</p:tagLst>
</file>

<file path=ppt/tags/tag17.xml><?xml version="1.0" encoding="utf-8"?>
<p:tagLst xmlns:p="http://schemas.openxmlformats.org/presentationml/2006/main">
  <p:tag name="KSO_WM_DIAGRAM_VIRTUALLY_FRAME" val="{&quot;height&quot;:341.30530183727035,&quot;left&quot;:681.8899475065617,&quot;top&quot;:90.8628871391076,&quot;width&quot;:271.4502887139107}"/>
</p:tagLst>
</file>

<file path=ppt/tags/tag18.xml><?xml version="1.0" encoding="utf-8"?>
<p:tagLst xmlns:p="http://schemas.openxmlformats.org/presentationml/2006/main">
  <p:tag name="KSO_WM_DIAGRAM_VIRTUALLY_FRAME" val="{&quot;height&quot;:341.30530183727035,&quot;left&quot;:681.8899475065617,&quot;top&quot;:90.8628871391076,&quot;width&quot;:271.4502887139107}"/>
</p:tagLst>
</file>

<file path=ppt/tags/tag19.xml><?xml version="1.0" encoding="utf-8"?>
<p:tagLst xmlns:p="http://schemas.openxmlformats.org/presentationml/2006/main">
  <p:tag name="KSO_WM_DIAGRAM_VIRTUALLY_FRAME" val="{&quot;height&quot;:341.30530183727035,&quot;left&quot;:681.8899475065617,&quot;top&quot;:90.8628871391076,&quot;width&quot;:271.4502887139107}"/>
</p:tagLst>
</file>

<file path=ppt/tags/tag20.xml><?xml version="1.0" encoding="utf-8"?>
<p:tagLst xmlns:p="http://schemas.openxmlformats.org/presentationml/2006/main">
  <p:tag name="KSO_WM_DIAGRAM_VIRTUALLY_FRAME" val="{&quot;height&quot;:341.30530183727035,&quot;left&quot;:681.8899475065617,&quot;top&quot;:90.8628871391076,&quot;width&quot;:271.4502887139107}"/>
</p:tagLst>
</file>

<file path=ppt/tags/tag21.xml><?xml version="1.0" encoding="utf-8"?>
<p:tagLst xmlns:p="http://schemas.openxmlformats.org/presentationml/2006/main">
  <p:tag name="KSO_WM_DIAGRAM_VIRTUALLY_FRAME" val="{&quot;height&quot;:341.30530183727035,&quot;left&quot;:681.8899475065617,&quot;top&quot;:90.8628871391076,&quot;width&quot;:271.4502887139107}"/>
</p:tagLst>
</file>

<file path=ppt/tags/tag22.xml><?xml version="1.0" encoding="utf-8"?>
<p:tagLst xmlns:p="http://schemas.openxmlformats.org/presentationml/2006/main">
  <p:tag name="KSO_WM_DIAGRAM_VIRTUALLY_FRAME" val="{&quot;height&quot;:341.30530183727035,&quot;left&quot;:681.8899475065617,&quot;top&quot;:90.8628871391076,&quot;width&quot;:271.4502887139107}"/>
</p:tagLst>
</file>

<file path=ppt/tags/tag23.xml><?xml version="1.0" encoding="utf-8"?>
<p:tagLst xmlns:p="http://schemas.openxmlformats.org/presentationml/2006/main">
  <p:tag name="KSO_WM_DIAGRAM_VIRTUALLY_FRAME" val="{&quot;height&quot;:341.30530183727035,&quot;left&quot;:681.8899475065617,&quot;top&quot;:90.8628871391076,&quot;width&quot;:271.4502887139107}"/>
</p:tagLst>
</file>

<file path=ppt/tags/tag24.xml><?xml version="1.0" encoding="utf-8"?>
<p:tagLst xmlns:p="http://schemas.openxmlformats.org/presentationml/2006/main">
  <p:tag name="KSO_WM_DIAGRAM_VIRTUALLY_FRAME" val="{&quot;height&quot;:341.30530183727035,&quot;left&quot;:681.8899475065617,&quot;top&quot;:90.8628871391076,&quot;width&quot;:271.4502887139107}"/>
</p:tagLst>
</file>

<file path=ppt/tags/tag25.xml><?xml version="1.0" encoding="utf-8"?>
<p:tagLst xmlns:p="http://schemas.openxmlformats.org/presentationml/2006/main">
  <p:tag name="THINKCELLSHAPEDONOTDELETE" val="thinkcellActiveDocDoNotDelete"/>
</p:tagLst>
</file>

<file path=ppt/tags/tag26.xml><?xml version="1.0" encoding="utf-8"?>
<p:tagLst xmlns:p="http://schemas.openxmlformats.org/presentationml/2006/main">
  <p:tag name="TABLE_ENDDRAG_ORIGIN_RECT" val="339*340"/>
  <p:tag name="TABLE_ENDDRAG_RECT" val="610*180*339*340"/>
</p:tagLst>
</file>

<file path=ppt/tags/tag27.xml><?xml version="1.0" encoding="utf-8"?>
<p:tagLst xmlns:p="http://schemas.openxmlformats.org/presentationml/2006/main">
  <p:tag name="TABLE_ENDDRAG_ORIGIN_RECT" val="274*197"/>
  <p:tag name="TABLE_ENDDRAG_RECT" val="80*298*275*197"/>
</p:tagLst>
</file>

<file path=ppt/tags/tag28.xml><?xml version="1.0" encoding="utf-8"?>
<p:tagLst xmlns:p="http://schemas.openxmlformats.org/presentationml/2006/main">
  <p:tag name="KSO_WM_BEAUTIFY_FLAG" val="#wm#"/>
  <p:tag name="KSO_WM_TEMPLATE_CATEGORY" val="custom"/>
  <p:tag name="KSO_WM_TEMPLATE_INDEX" val="20205081"/>
  <p:tag name="resource_record_key" val="{&quot;10&quot;:[50001571],&quot;65&quot;:[20205081],&quot;70&quot;:[3332607]}"/>
</p:tagLst>
</file>

<file path=ppt/tags/tag29.xml><?xml version="1.0" encoding="utf-8"?>
<p:tagLst xmlns:p="http://schemas.openxmlformats.org/presentationml/2006/main">
  <p:tag name="THINKCELLSHAPEDONOTDELETE" val="thinkcellActiveDocDoNotDelete"/>
</p:tagLst>
</file>

<file path=ppt/tags/tag30.xml><?xml version="1.0" encoding="utf-8"?>
<p:tagLst xmlns:p="http://schemas.openxmlformats.org/presentationml/2006/main">
  <p:tag name="THINKCELLSHAPEDONOTDELETE" val="tPTErPpX3aO7EqesldkjEAg"/>
</p:tagLst>
</file>

<file path=ppt/tags/tag31.xml><?xml version="1.0" encoding="utf-8"?>
<p:tagLst xmlns:p="http://schemas.openxmlformats.org/presentationml/2006/main">
  <p:tag name="THINKCELLSHAPEDONOTDELETE" val="ti3HkiyQqLRyzQbtNm5S4xQ"/>
</p:tagLst>
</file>

<file path=ppt/tags/tag32.xml><?xml version="1.0" encoding="utf-8"?>
<p:tagLst xmlns:p="http://schemas.openxmlformats.org/presentationml/2006/main">
  <p:tag name="THINKCELLSHAPEDONOTDELETE" val="pHRlNm9pw_0gkwAO.cjGH2w"/>
</p:tagLst>
</file>

<file path=ppt/tags/tag33.xml><?xml version="1.0" encoding="utf-8"?>
<p:tagLst xmlns:p="http://schemas.openxmlformats.org/presentationml/2006/main">
  <p:tag name="THINKCELLSHAPEDONOTDELETE" val="tBBXRJ7ZITMMVS1FC.NDrhQ"/>
</p:tagLst>
</file>

<file path=ppt/tags/tag34.xml><?xml version="1.0" encoding="utf-8"?>
<p:tagLst xmlns:p="http://schemas.openxmlformats.org/presentationml/2006/main">
  <p:tag name="THINKCELLSHAPEDONOTDELETE" val="toRdgiPGhG3QGtNPLN4k8LQ"/>
</p:tagLst>
</file>

<file path=ppt/tags/tag35.xml><?xml version="1.0" encoding="utf-8"?>
<p:tagLst xmlns:p="http://schemas.openxmlformats.org/presentationml/2006/main">
  <p:tag name="THINKCELLSHAPEDONOTDELETE" val="tNuLY1UI1xz2yRw8lB1PWqw"/>
</p:tagLst>
</file>

<file path=ppt/tags/tag36.xml><?xml version="1.0" encoding="utf-8"?>
<p:tagLst xmlns:p="http://schemas.openxmlformats.org/presentationml/2006/main">
  <p:tag name="THINKCELLSHAPEDONOTDELETE" val="tkb5SRtT3qguj.jdQqNHjrQ"/>
</p:tagLst>
</file>

<file path=ppt/tags/tag37.xml><?xml version="1.0" encoding="utf-8"?>
<p:tagLst xmlns:p="http://schemas.openxmlformats.org/presentationml/2006/main">
  <p:tag name="THINKCELLSHAPEDONOTDELETE" val="ti1Q2C0SWILwI45HP7ZSCdg"/>
</p:tagLst>
</file>

<file path=ppt/tags/tag38.xml><?xml version="1.0" encoding="utf-8"?>
<p:tagLst xmlns:p="http://schemas.openxmlformats.org/presentationml/2006/main">
  <p:tag name="THINKCELLSHAPEDONOTDELETE" val="tPxRsM7TmAS6Bd5QlWS6LuA"/>
</p:tagLst>
</file>

<file path=ppt/tags/tag39.xml><?xml version="1.0" encoding="utf-8"?>
<p:tagLst xmlns:p="http://schemas.openxmlformats.org/presentationml/2006/main">
  <p:tag name="THINKCELLSHAPEDONOTDELETE" val="tFoHU_wiUKgdpVt.IO1MzcQ"/>
</p:tagLst>
</file>

<file path=ppt/tags/tag40.xml><?xml version="1.0" encoding="utf-8"?>
<p:tagLst xmlns:p="http://schemas.openxmlformats.org/presentationml/2006/main">
  <p:tag name="THINKCELLSHAPEDONOTDELETE" val="tpQiOdzzKeF1QsoU5UYEK5Q"/>
</p:tagLst>
</file>

<file path=ppt/tags/tag41.xml><?xml version="1.0" encoding="utf-8"?>
<p:tagLst xmlns:p="http://schemas.openxmlformats.org/presentationml/2006/main">
  <p:tag name="THINKCELLSHAPEDONOTDELETE" val="tDF4..sDWGVbDv6oLHSiBkg"/>
</p:tagLst>
</file>

<file path=ppt/tags/tag42.xml><?xml version="1.0" encoding="utf-8"?>
<p:tagLst xmlns:p="http://schemas.openxmlformats.org/presentationml/2006/main">
  <p:tag name="THINKCELLSHAPEDONOTDELETE" val="td.6cU565riDw_aT5TG_eRQ"/>
</p:tagLst>
</file>

<file path=ppt/tags/tag43.xml><?xml version="1.0" encoding="utf-8"?>
<p:tagLst xmlns:p="http://schemas.openxmlformats.org/presentationml/2006/main">
  <p:tag name="THINKCELLSHAPEDONOTDELETE" val="tPVdUv7IBtEv0xmF2sGk8fw"/>
</p:tagLst>
</file>

<file path=ppt/tags/tag44.xml><?xml version="1.0" encoding="utf-8"?>
<p:tagLst xmlns:p="http://schemas.openxmlformats.org/presentationml/2006/main">
  <p:tag name="THINKCELLSHAPEDONOTDELETE" val="tevQdf8sx05j9jSpZhy4Gkw"/>
</p:tagLst>
</file>

<file path=ppt/tags/tag45.xml><?xml version="1.0" encoding="utf-8"?>
<p:tagLst xmlns:p="http://schemas.openxmlformats.org/presentationml/2006/main">
  <p:tag name="THINKCELLSHAPEDONOTDELETE" val="tLTP1RfL2L8htTmQqp_.Dyg"/>
</p:tagLst>
</file>

<file path=ppt/tags/tag46.xml><?xml version="1.0" encoding="utf-8"?>
<p:tagLst xmlns:p="http://schemas.openxmlformats.org/presentationml/2006/main">
  <p:tag name="THINKCELLSHAPEDONOTDELETE" val="tA8I40GIjy5dv0O7G6EePoQ"/>
</p:tagLst>
</file>

<file path=ppt/tags/tag47.xml><?xml version="1.0" encoding="utf-8"?>
<p:tagLst xmlns:p="http://schemas.openxmlformats.org/presentationml/2006/main">
  <p:tag name="THINKCELLSHAPEDONOTDELETE" val="t0UpZJDeuW19GBEmN_34qrA"/>
</p:tagLst>
</file>

<file path=ppt/tags/tag48.xml><?xml version="1.0" encoding="utf-8"?>
<p:tagLst xmlns:p="http://schemas.openxmlformats.org/presentationml/2006/main">
  <p:tag name="THINKCELLSHAPEDONOTDELETE" val="thinkcellActiveDocDoNotDelete"/>
</p:tagLst>
</file>

<file path=ppt/tags/tag49.xml><?xml version="1.0" encoding="utf-8"?>
<p:tagLst xmlns:p="http://schemas.openxmlformats.org/presentationml/2006/main">
  <p:tag name="THINKCELLSHAPEDONOTDELETE" val="pHRlNm9pw_0gkwAO.cjGH2w"/>
</p:tagLst>
</file>

<file path=ppt/tags/tag50.xml><?xml version="1.0" encoding="utf-8"?>
<p:tagLst xmlns:p="http://schemas.openxmlformats.org/presentationml/2006/main">
  <p:tag name="THINKCELLSHAPEDONOTDELETE" val="pHRlNm9pw_0gkwAO.cjGH2w"/>
</p:tagLst>
</file>

<file path=ppt/tags/tag51.xml><?xml version="1.0" encoding="utf-8"?>
<p:tagLst xmlns:p="http://schemas.openxmlformats.org/presentationml/2006/main">
  <p:tag name="THINKCELLPRESENTATIONDONOTDELETE" val="&lt;?xml version=&quot;1.0&quot; encoding=&quot;UTF-16&quot; standalone=&quot;yes&quot;?&gt;&lt;root reqver=&quot;32687&quot;&gt;&lt;version val=&quot;1000198&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2&quot;&gt;&lt;elem m_fUsage=&quot;4.76978132684610489633E+00&quot;&gt;&lt;m_msothmcolidx val=&quot;0&quot;/&gt;&lt;m_rgb r=&quot;55&quot; g=&quot;9F&quot; b=&quot;3A&quot;/&gt;&lt;/elem&gt;&lt;elem m_fUsage=&quot;1.88860853952295415503E+00&quot;&gt;&lt;m_msothmcolidx val=&quot;0&quot;/&gt;&lt;m_rgb r=&quot;B5&quot; g=&quot;D5&quot; b=&quot;A9&quot;/&gt;&lt;/elem&gt;&lt;elem m_fUsage=&quot;1.02274777884686796092E+00&quot;&gt;&lt;m_msothmcolidx val=&quot;0&quot;/&gt;&lt;m_rgb r=&quot;9A&quot; g=&quot;A9&quot; b=&quot;86&quot;/&gt;&lt;/elem&gt;&lt;elem m_fUsage=&quot;8.48138474324622748668E-01&quot;&gt;&lt;m_msothmcolidx val=&quot;0&quot;/&gt;&lt;m_rgb r=&quot;C0&quot; g=&quot;CF&quot; b=&quot;3A&quot;/&gt;&lt;/elem&gt;&lt;elem m_fUsage=&quot;7.32722479138309124025E-01&quot;&gt;&lt;m_msothmcolidx val=&quot;0&quot;/&gt;&lt;m_rgb r=&quot;19&quot; g=&quot;AF&quot; b=&quot;76&quot;/&gt;&lt;/elem&gt;&lt;elem m_fUsage=&quot;3.96148452568087783288E-01&quot;&gt;&lt;m_msothmcolidx val=&quot;0&quot;/&gt;&lt;m_rgb r=&quot;C5&quot; g=&quot;E0&quot; b=&quot;B4&quot;/&gt;&lt;/elem&gt;&lt;elem m_fUsage=&quot;2.91583958819706445809E-01&quot;&gt;&lt;m_msothmcolidx val=&quot;0&quot;/&gt;&lt;m_rgb r=&quot;3F&quot; g=&quot;76&quot; b=&quot;2B&quot;/&gt;&lt;/elem&gt;&lt;elem m_fUsage=&quot;1.47808829414346112191E-02&quot;&gt;&lt;m_msothmcolidx val=&quot;0&quot;/&gt;&lt;m_rgb r=&quot;44&quot; g=&quot;3C&quot; b=&quot;29&quot;/&gt;&lt;/elem&gt;&lt;elem m_fUsage=&quot;1.33027946472911474951E-02&quot;&gt;&lt;m_msothmcolidx val=&quot;0&quot;/&gt;&lt;m_rgb r=&quot;88&quot; g=&quot;79&quot; b=&quot;52&quot;/&gt;&lt;/elem&gt;&lt;elem m_fUsage=&quot;2.21853123446226442247E-03&quot;&gt;&lt;m_msothmcolidx val=&quot;0&quot;/&gt;&lt;m_rgb r=&quot;00&quot; g=&quot;E6&quot; b=&quot;73&quot;/&gt;&lt;/elem&gt;&lt;elem m_fUsage=&quot;1.99667811101603793686E-03&quot;&gt;&lt;m_msothmcolidx val=&quot;0&quot;/&gt;&lt;m_rgb r=&quot;00&quot; g=&quot;FD&quot; b=&quot;74&quot;/&gt;&lt;/elem&gt;&lt;elem m_fUsage=&quot;1.79701029991443414317E-03&quot;&gt;&lt;m_msothmcolidx val=&quot;0&quot;/&gt;&lt;m_rgb r=&quot;60&quot; g=&quot;80&quot; b=&quot;4D&quot;/&gt;&lt;/elem&gt;&lt;/m_vecMRU&gt;&lt;/m_mruColor&gt;&lt;m_eweekdayFirstOfWeek val=&quot;2&quot;/&gt;&lt;m_eweekdayFirstOfWorkweek val=&quot;2&quot;/&gt;&lt;m_eweekdayFirstOfWeekend val=&quot;7&quot;/&gt;&lt;/CPresentation&gt;&lt;/root&gt;"/>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ont">
      <a:majorFont>
        <a:latin typeface="等线 Light"/>
        <a:ea typeface="等线 Light"/>
        <a:cs typeface=""/>
      </a:majorFont>
      <a:minorFont>
        <a:latin typeface="等线"/>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绿色">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绿色">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Office 主题​​">
  <a:themeElements>
    <a:clrScheme name="绿色">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webExtensions/_rels/webExtension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package" Target="../embeddings/Workbook1.xlsx"/></Relationships>
</file>

<file path=ppt/webExtensions/webExtension1.xml><?xml version="1.0" encoding="utf-8"?>
<wpswe:webExtension xmlns:wpswe="http://www.wps.cn/officeDocument/2018/webExtension" xmlns:webet="https://web.wps.cn/et/2018/main" webet:type="Normal" type="0" webet:id="">
  <wpswe:extSource id="webchart" version="3.0"/>
  <wpswe:properties>
    <wpswe:property key="demoData" value="{&quot;category&quot;:[&quot;系列1&quot;],&quot;data&quot;:[[&quot;&quot;,&quot;冰箱&quot;,&quot;洗衣机&quot;,&quot;空调&quot;,&quot;热水器&quot;,&quot;洗碗机&quot;],[&quot;系列1&quot;,35,25,17,13,10]],&quot;series&quot;:[&quot;&quot;,&quot;冰箱&quot;,&quot;洗衣机&quot;,&quot;空调&quot;,&quot;热水器&quot;,&quot;洗碗机&quot;]}"/>
    <wpswe:property key="extStyle" value="{&quot;series&quot;:[{&quot;emphasis&quot;:{&quot;itemStyle&quot;:{&quot;shadowBlur&quot;:0,&quot;shadowColor&quot;:&quot;rgba(0, 0, 0, 0.5)&quot;,&quot;shadowOffsetX&quot;:0}},&quot;itemStyle&quot;:{&quot;borderColor&quot;:&quot;#ffffff&quot;,&quot;borderRadius&quot;:&quot;12&quot;,&quot;borderWidth&quot;:1.8},&quot;labelLayout&quot;:{&quot;hideOverlap&quot;:false},&quot;padAngle&quot;:&quot;5&quot;,&quot;type&quot;:&quot;pie&quot;}],&quot;tooltip&quot;:{&quot;backgroundColor&quot;:{&quot;rgb&quot;:&quot;rgba(51,51,51,0.7)&quot;,&quot;row&quot;:-1,&quot;themeIndex&quot;:-1,&quot;type&quot;:0},&quot;borderWidth&quot;:0,&quot;confine&quot;:true,&quot;extraCssText&quot;:&quot;max-width: calc(100vw - 36px); overflow: hidden; white-space: nowrap; text-overflow: ellipsis; margin-left: 8px;&quot;}}"/>
    <wpswe:property key="isUseCommonErrorPage" value="false"/>
    <wpswe:property key="loadingImage" value="res:/icons/WebChartLoading_wpp.svg"/>
    <wpswe:property key="renderer" value="echarts"/>
    <wpswe:property key="resId" value="40000098"/>
    <wpswe:property key="sourceTheme" value="{&quot;colors&quot;:[&quot;#000000&quot;,&quot;#ffffff&quot;,&quot;#44546a&quot;,&quot;#e7e6e6&quot;,&quot;#4874cb&quot;,&quot;#ee822f&quot;,&quot;#f2ba02&quot;,&quot;#75bd42&quot;,&quot;#30c0b4&quot;,&quot;#e54c5e&quot;,&quot;#0026e5&quot;,&quot;#7e1fad&quot;,&quot;#000000&quot;,&quot;#ffffff&quot;,&quot;#44546a&quot;,&quot;#e7e6e6&quot;],&quot;fonts&quot;:[&quot;Arial&quot;,&quot;微软雅黑&quot;,&quot;Arial&quot;,&quot;微软雅黑&quot;]}"/>
    <wpswe:property key="style" value="{&quot;animation&quot;:true,&quot;backgroundColor&quot;:{&quot;type&quot;:0,&quot;rgb&quot;:&quot;transparent&quot;,&quot;themeIndex&quot;:-1,&quot;row&quot;:-1},&quot;borderColor&quot;:{&quot;type&quot;:0,&quot;rgb&quot;:&quot;transparent&quot;,&quot;themeIndex&quot;:-1,&quot;row&quot;:-1},&quot;global&quot;:{&quot;text&quot;:{&quot;bold&quot;:0,&quot;font&quot;:{&quot;name&quot;:&quot;等线&quot;,&quot;nameType&quot;:2,&quot;langType&quot;:3},&quot;fontSize&quot;:8,&quot;italic&quot;:0}},&quot;label&quot;:{&quot;formatter&quot;:[&quot;rate&quot;,&quot;seriesName&quot;],&quot;position&quot;:&quot;outside&quot;,&quot;separator&quot;:&quot;newline&quot;,&quot;show&quot;:true,&quot;textStyle&quot;:{&quot;fontFamily&quot;:{&quot;type&quot;:0,&quot;name&quot;:&quot;等线&quot;,&quot;themeIndex&quot;:&quot;-1&quot;},&quot;fontSize&quot;:8,&quot;fontStyle&quot;:&quot;normal&quot;,&quot;fontWeight&quot;:&quot;normal&quot;,&quot;color&quot;:{&quot;type&quot;:0,&quot;rgb&quot;:&quot;#404040&quot;,&quot;themeIndex&quot;:12,&quot;row&quot;:3}}},&quot;legend&quot;:{&quot;position&quot;:&quot;bottomCenter&quot;,&quot;show&quot;:true,&quot;textStyle&quot;:{&quot;fontFamily&quot;:{&quot;type&quot;:0,&quot;name&quot;:&quot;等线&quot;,&quot;themeIndex&quot;:&quot;-1&quot;},&quot;fontSize&quot;:8,&quot;fontStyle&quot;:&quot;normal&quot;,&quot;fontWeight&quot;:&quot;normal&quot;,&quot;color&quot;:{&quot;rgb&quot;:&quot;#595959&quot;,&quot;row&quot;:2,&quot;themeIndex&quot;:12,&quot;type&quot;:1}}},&quot;pieType&quot;:&quot;rounded-doughnut&quot;,&quot;propWin&quot;:{&quot;hide&quot;:[&quot;axis&quot;]},&quot;radius&quot;:[&quot;62%&quot;,&quot;100%&quot;],&quot;selectedOffset&quot;:0,&quot;seriesThemeColor&quot;:[&quot;#3F7BF9&quot;,&quot;#31BE61&quot;,&quot;#FFC800&quot;,&quot;#FF920C&quot;,&quot;#FF5F69&quot;,&quot;#B16EFB&quot;],&quot;startAngle&quot;:0,&quot;title&quot;:{&quot;position&quot;:&quot;center&quot;,&quot;show&quot;:true,&quot;text&quot;:&quot;AHP权重&quot;,&quot;textStyle&quot;:{&quot;fontFamily&quot;:{&quot;type&quot;:1,&quot;name&quot;:&quot;&quot;,&quot;themeIndex&quot;:&quot;3&quot;},&quot;fontSize&quot;:9.6,&quot;fontStyle&quot;:&quot;normal&quot;,&quot;fontWeight&quot;:&quot;bold&quot;,&quot;color&quot;:{&quot;rgb&quot;:&quot;#404040&quot;,&quot;row&quot;:3,&quot;themeIndex&quot;:12,&quot;type&quot;:1}}},&quot;tooltip&quot;:{&quot;show&quot;:true,&quot;textStyle&quot;:{&quot;color&quot;:{&quot;rgb&quot;:&quot;#FFFFFF&quot;,&quot;row&quot;:-1,&quot;themeIndex&quot;:-1,&quot;type&quot;:0},&quot;fontFamily&quot;:{&quot;name&quot;:&quot;宋体&quot;,&quot;themeIndex&quot;:3,&quot;type&quot;:1},&quot;fontSize&quot;:8,&quot;fontStyle&quot;:&quot;normal&quot;,&quot;fontWeight&quot;:&quot;normal&quot;}},&quot;animationLoop&quot;:false,&quot;animationDurationUpdate&quot;:1500,&quot;animationDuration&quot;:1500,&quot;divideType&quot;:&quot;leftTop&quot;,&quot;seriesDir&quot;:&quot;col&quot;,&quot;selectedSeriesData&quot;:[0,1,2,3],&quot;selectedCategoryData&quot;:[0],&quot;seriesColor&quot;:{&quot;0&quot;:{&quot;type&quot;:0,&quot;rgb&quot;:&quot;#70ad47&quot;,&quot;themeIndex&quot;:-1,&quot;row&quot;:-1},&quot;1&quot;:{&quot;type&quot;:0,&quot;rgb&quot;:&quot;#c3d23a&quot;,&quot;themeIndex&quot;:-1,&quot;row&quot;:-1},&quot;2&quot;:{&quot;type&quot;:0,&quot;rgb&quot;:&quot;#19af76&quot;,&quot;themeIndex&quot;:-1,&quot;row&quot;:-1},&quot;3&quot;:{&quot;type&quot;:0,&quot;rgb&quot;:&quot;#007770&quot;,&quot;themeIndex&quot;:-1,&quot;row&quot;:-1}},&quot;orderSeriesData&quot;:[0,1,2,3,4],&quot;deletedSeriesData&quot;:[]}"/>
    <wpswe:property key="themeOverride" value="false"/>
    <wpswe:property key="type" value="2d-pie"/>
  </wpswe:properties>
  <wpswe:watchingCache>
    <wpswe:linkPath>C:/Users/19195/AppData/Local/Temp/wps.kQmOxj/Workbook1.xlsx</wpswe:linkPath>
    <wpswe:demoRange>
      <wpswe:key/>
      <wpswe:context/>
      <wpswe:count>2</wpswe:count>
      <wpswe:cells wpswe:idx="0">
        <wpswe:count>6</wpswe:count>
        <wpswe:formatCode>General</wpswe:formatCode>
        <wpswe:cell wpswe:idx="1" wpswe:formatCode="General">
          <wpswe:value>冰箱</wpswe:value>
        </wpswe:cell>
        <wpswe:cell wpswe:idx="2" wpswe:formatCode="General">
          <wpswe:value>洗衣机</wpswe:value>
        </wpswe:cell>
        <wpswe:cell wpswe:idx="3" wpswe:formatCode="General">
          <wpswe:value>空调</wpswe:value>
        </wpswe:cell>
        <wpswe:cell wpswe:idx="4" wpswe:formatCode="General">
          <wpswe:value>热水器</wpswe:value>
        </wpswe:cell>
        <wpswe:cell wpswe:idx="5" wpswe:formatCode="General">
          <wpswe:value>洗碗机</wpswe:value>
        </wpswe:cell>
      </wpswe:cells>
      <wpswe:cells wpswe:idx="1">
        <wpswe:count>6</wpswe:count>
        <wpswe:formatCode>General</wpswe:formatCode>
        <wpswe:cell wpswe:idx="0">
          <wpswe:value>系列1</wpswe:value>
        </wpswe:cell>
        <wpswe:cell wpswe:idx="1">
          <wpswe:value>35</wpswe:value>
        </wpswe:cell>
        <wpswe:cell wpswe:idx="2">
          <wpswe:value>25</wpswe:value>
        </wpswe:cell>
        <wpswe:cell wpswe:idx="3">
          <wpswe:value>17</wpswe:value>
        </wpswe:cell>
        <wpswe:cell wpswe:idx="4">
          <wpswe:value>13</wpswe:value>
        </wpswe:cell>
        <wpswe:cell wpswe:idx="5">
          <wpswe:value>10</wpswe:value>
        </wpswe:cell>
      </wpswe:cells>
    </wpswe:demoRange>
    <wpswe:dataRange>
      <wpswe:key>webchart</wpswe:key>
      <wpswe:context>Sheet1!$A$1:$F$2</wpswe:context>
      <wpswe:count>2</wpswe:count>
      <wpswe:cells wpswe:idx="0">
        <wpswe:count>6</wpswe:count>
        <wpswe:formatCode>General</wpswe:formatCode>
        <wpswe:cell wpswe:idx="1" wpswe:formatCode="General">
          <wpswe:value>F 财务</wpswe:value>
        </wpswe:cell>
        <wpswe:cell wpswe:idx="2" wpswe:formatCode="General">
          <wpswe:value>T 技术</wpswe:value>
        </wpswe:cell>
        <wpswe:cell wpswe:idx="3" wpswe:formatCode="General">
          <wpswe:value>M 市场</wpswe:value>
        </wpswe:cell>
        <wpswe:cell wpswe:idx="4" wpswe:formatCode="General">
          <wpswe:value>E 环境</wpswe:value>
        </wpswe:cell>
      </wpswe:cells>
      <wpswe:cells wpswe:idx="1">
        <wpswe:count>6</wpswe:count>
        <wpswe:formatCode>General</wpswe:formatCode>
        <wpswe:cell wpswe:idx="0">
          <wpswe:value>系列1</wpswe:value>
        </wpswe:cell>
        <wpswe:cell wpswe:idx="1">
          <wpswe:value>0.3</wpswe:value>
        </wpswe:cell>
        <wpswe:cell wpswe:idx="2">
          <wpswe:value>0.25</wpswe:value>
        </wpswe:cell>
        <wpswe:cell wpswe:idx="3">
          <wpswe:value>0.25</wpswe:value>
        </wpswe:cell>
        <wpswe:cell wpswe:idx="4">
          <wpswe:value>0.2</wpswe:value>
        </wpswe:cell>
      </wpswe:cells>
    </wpswe:dataRange>
  </wpswe:watchingCache>
  <wpswe:snapshot xmlns:r="http://schemas.openxmlformats.org/officeDocument/2006/relationships" r:embed="rId2"/>
  <wpswe:externalData xmlns:r="http://schemas.openxmlformats.org/officeDocument/2006/relationships" r:id="rId1"/>
  <wpswe:url>https://clientweb.docer.wps.cn/web-chart/v1/web-shape.html#/home</wpswe:url>
  <wpswe:constantSnapshot>false</wpswe:constantSnapshot>
</wpswe:webExtension>
</file>

<file path=docProps/app.xml><?xml version="1.0" encoding="utf-8"?>
<Properties xmlns="http://schemas.openxmlformats.org/officeDocument/2006/extended-properties" xmlns:vt="http://schemas.openxmlformats.org/officeDocument/2006/docPropsVTypes">
  <TotalTime>0</TotalTime>
  <Words>3155</Words>
  <Application>WPS 演示</Application>
  <PresentationFormat>宽屏</PresentationFormat>
  <Paragraphs>371</Paragraphs>
  <Slides>5</Slides>
  <Notes>2</Notes>
  <HiddenSlides>0</HiddenSlides>
  <MMClips>0</MMClips>
  <ScaleCrop>false</ScaleCrop>
  <HeadingPairs>
    <vt:vector size="8" baseType="variant">
      <vt:variant>
        <vt:lpstr>已用的字体</vt:lpstr>
      </vt:variant>
      <vt:variant>
        <vt:i4>23</vt:i4>
      </vt:variant>
      <vt:variant>
        <vt:lpstr>主题</vt:lpstr>
      </vt:variant>
      <vt:variant>
        <vt:i4>4</vt:i4>
      </vt:variant>
      <vt:variant>
        <vt:lpstr>嵌入 OLE 服务器</vt:lpstr>
      </vt:variant>
      <vt:variant>
        <vt:i4>7</vt:i4>
      </vt:variant>
      <vt:variant>
        <vt:lpstr>幻灯片标题</vt:lpstr>
      </vt:variant>
      <vt:variant>
        <vt:i4>5</vt:i4>
      </vt:variant>
    </vt:vector>
  </HeadingPairs>
  <TitlesOfParts>
    <vt:vector size="39" baseType="lpstr">
      <vt:lpstr>Arial</vt:lpstr>
      <vt:lpstr>宋体</vt:lpstr>
      <vt:lpstr>Wingdings</vt:lpstr>
      <vt:lpstr>Roboto</vt:lpstr>
      <vt:lpstr>Times New Roman</vt:lpstr>
      <vt:lpstr>Arial</vt:lpstr>
      <vt:lpstr>Tahoma</vt:lpstr>
      <vt:lpstr>华文楷体</vt:lpstr>
      <vt:lpstr>Calibri (MS)</vt:lpstr>
      <vt:lpstr>Calibri</vt:lpstr>
      <vt:lpstr>黑体</vt:lpstr>
      <vt:lpstr>微软雅黑</vt:lpstr>
      <vt:lpstr>Arimo Bold</vt:lpstr>
      <vt:lpstr>Arimo</vt:lpstr>
      <vt:lpstr>华文宋体</vt:lpstr>
      <vt:lpstr>Wingdings</vt:lpstr>
      <vt:lpstr>Cambria Math</vt:lpstr>
      <vt:lpstr>等线</vt:lpstr>
      <vt:lpstr>Segoe Print</vt:lpstr>
      <vt:lpstr>字由点字典黑 Bold</vt:lpstr>
      <vt:lpstr>Arial Unicode MS</vt:lpstr>
      <vt:lpstr>等线 Light</vt:lpstr>
      <vt:lpstr>Yu Gothic UI Semibold</vt:lpstr>
      <vt:lpstr>Office 主题​​</vt:lpstr>
      <vt:lpstr>2_Office 主题​​</vt:lpstr>
      <vt:lpstr>3_Office 主题​​</vt:lpstr>
      <vt:lpstr>4_Office 主题​​</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1312064195@qq.com</dc:creator>
  <cp:lastModifiedBy>WPS_1695702600</cp:lastModifiedBy>
  <cp:revision>137</cp:revision>
  <dcterms:created xsi:type="dcterms:W3CDTF">2025-05-14T06:37:00Z</dcterms:created>
  <dcterms:modified xsi:type="dcterms:W3CDTF">2026-03-31T16:13:13Z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08FE89AEFF8647738343AFF16848E122_13</vt:lpwstr>
  </property>
  <property fmtid="{D5CDD505-2E9C-101B-9397-08002B2CF9AE}" pid="3" name="KSOProductBuildVer">
    <vt:lpwstr>2052-12.1.0.25225</vt:lpwstr>
  </property>
</Properties>
</file>